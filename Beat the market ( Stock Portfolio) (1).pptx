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6858000" cy="9144000"/>
  <p:embeddedFontLst>
    <p:embeddedFont>
      <p:font typeface="Average" panose="020B0604020202020204" charset="0"/>
      <p:regular r:id="rId41"/>
    </p:embeddedFont>
    <p:embeddedFont>
      <p:font typeface="Nunito" pitchFamily="2" charset="0"/>
      <p:regular r:id="rId42"/>
      <p:bold r:id="rId43"/>
      <p:italic r:id="rId44"/>
      <p:boldItalic r:id="rId45"/>
    </p:embeddedFont>
    <p:embeddedFont>
      <p:font typeface="Roboto" panose="02000000000000000000" pitchFamily="2" charset="0"/>
      <p:regular r:id="rId46"/>
      <p:bold r:id="rId47"/>
      <p:italic r:id="rId48"/>
      <p:boldItalic r:id="rId49"/>
    </p:embeddedFont>
    <p:embeddedFont>
      <p:font typeface="Verdana" panose="020B0604030504040204" pitchFamily="3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666" y="52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c6f9e470d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c6f9e470d_0_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c6f9e470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c6f9e470d_0_2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c6f9e470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c6f9e470d_0_3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c6f9e470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3b548be635_0_64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3b548be635_0_6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3b548be635_6_1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3b548be635_6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3b548be635_6_5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33b548be635_6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3b548be635_6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3b548be635_6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c6f9e470d_0_8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c6f9e470d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3b548be635_6_8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3b548be635_6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3b548be635_6_10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3b548be635_6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c6f9e470d_0_4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c6f9e470d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3b548be635_6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3b548be635_6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3b548be635_6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33b548be635_6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3b548be635_6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3b548be635_6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33b548be635_6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33b548be635_6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3b548be635_6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33b548be635_6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3b548be635_6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33b548be635_6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33b548be635_6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33b548be635_6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3b548be635_6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33b548be635_6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3b548be635_6_15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33b548be635_6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3b548be635_6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33b548be635_6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3b548be635_6_20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33b548be635_6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3b548be635_6_23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33b548be635_6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3b548be635_6_21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33b548be635_6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3b548be635_6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33b548be635_6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3b548be635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33b548be635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3b548be635_6_3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33b548be635_6_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33b548be635_6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33b548be635_6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33b548be635_6_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33b548be635_6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33b548be635_6_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33b548be635_6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33b548be635_6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33b548be635_6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33b548be635_6_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33b548be635_6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33b548be635_6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33b548be635_6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3b548be635_6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33b548be635_6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33b548be635_6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6" name="Google Shape;576;g33b548be635_6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33b548be635_6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 name="Google Shape;586;g33b548be635_6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33b6b928fb6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33b6b928fb6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393925" y="109969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Beat the Market</a:t>
            </a:r>
            <a:endParaRPr/>
          </a:p>
        </p:txBody>
      </p:sp>
      <p:sp>
        <p:nvSpPr>
          <p:cNvPr id="129" name="Google Shape;129;p13"/>
          <p:cNvSpPr txBox="1"/>
          <p:nvPr/>
        </p:nvSpPr>
        <p:spPr>
          <a:xfrm>
            <a:off x="393925" y="1766775"/>
            <a:ext cx="6598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lt1"/>
                </a:solidFill>
                <a:latin typeface="Roboto"/>
                <a:ea typeface="Roboto"/>
                <a:cs typeface="Roboto"/>
                <a:sym typeface="Roboto"/>
              </a:rPr>
              <a:t>(Stock Portfolio Analysis)</a:t>
            </a:r>
            <a:endParaRPr sz="1800">
              <a:solidFill>
                <a:schemeClr val="lt1"/>
              </a:solidFill>
              <a:latin typeface="Roboto"/>
              <a:ea typeface="Roboto"/>
              <a:cs typeface="Roboto"/>
              <a:sym typeface="Roboto"/>
            </a:endParaRPr>
          </a:p>
        </p:txBody>
      </p:sp>
      <p:grpSp>
        <p:nvGrpSpPr>
          <p:cNvPr id="130" name="Google Shape;130;p13"/>
          <p:cNvGrpSpPr/>
          <p:nvPr/>
        </p:nvGrpSpPr>
        <p:grpSpPr>
          <a:xfrm>
            <a:off x="4630200" y="1379986"/>
            <a:ext cx="3837000" cy="2704200"/>
            <a:chOff x="4939500" y="1219611"/>
            <a:chExt cx="3837000" cy="2704200"/>
          </a:xfrm>
        </p:grpSpPr>
        <p:cxnSp>
          <p:nvCxnSpPr>
            <p:cNvPr id="131" name="Google Shape;131;p13"/>
            <p:cNvCxnSpPr/>
            <p:nvPr/>
          </p:nvCxnSpPr>
          <p:spPr>
            <a:xfrm>
              <a:off x="4939500"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132" name="Google Shape;132;p13"/>
            <p:cNvCxnSpPr/>
            <p:nvPr/>
          </p:nvCxnSpPr>
          <p:spPr>
            <a:xfrm>
              <a:off x="5365833"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133" name="Google Shape;133;p13"/>
            <p:cNvCxnSpPr/>
            <p:nvPr/>
          </p:nvCxnSpPr>
          <p:spPr>
            <a:xfrm>
              <a:off x="5792167"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134" name="Google Shape;134;p13"/>
            <p:cNvCxnSpPr/>
            <p:nvPr/>
          </p:nvCxnSpPr>
          <p:spPr>
            <a:xfrm>
              <a:off x="6218500"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135" name="Google Shape;135;p13"/>
            <p:cNvCxnSpPr/>
            <p:nvPr/>
          </p:nvCxnSpPr>
          <p:spPr>
            <a:xfrm>
              <a:off x="6644834"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136" name="Google Shape;136;p13"/>
            <p:cNvCxnSpPr/>
            <p:nvPr/>
          </p:nvCxnSpPr>
          <p:spPr>
            <a:xfrm>
              <a:off x="7071166"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137" name="Google Shape;137;p13"/>
            <p:cNvCxnSpPr/>
            <p:nvPr/>
          </p:nvCxnSpPr>
          <p:spPr>
            <a:xfrm>
              <a:off x="7497500"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138" name="Google Shape;138;p13"/>
            <p:cNvCxnSpPr/>
            <p:nvPr/>
          </p:nvCxnSpPr>
          <p:spPr>
            <a:xfrm>
              <a:off x="7923834"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139" name="Google Shape;139;p13"/>
            <p:cNvCxnSpPr/>
            <p:nvPr/>
          </p:nvCxnSpPr>
          <p:spPr>
            <a:xfrm>
              <a:off x="8350166"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140" name="Google Shape;140;p13"/>
            <p:cNvCxnSpPr/>
            <p:nvPr/>
          </p:nvCxnSpPr>
          <p:spPr>
            <a:xfrm>
              <a:off x="8776500" y="1219611"/>
              <a:ext cx="0" cy="2704200"/>
            </a:xfrm>
            <a:prstGeom prst="straightConnector1">
              <a:avLst/>
            </a:prstGeom>
            <a:noFill/>
            <a:ln w="9525" cap="flat" cmpd="sng">
              <a:solidFill>
                <a:schemeClr val="lt1"/>
              </a:solidFill>
              <a:prstDash val="dash"/>
              <a:round/>
              <a:headEnd type="none" w="sm" len="sm"/>
              <a:tailEnd type="none" w="sm" len="sm"/>
            </a:ln>
          </p:spPr>
        </p:cxnSp>
      </p:grpSp>
      <p:sp>
        <p:nvSpPr>
          <p:cNvPr id="141" name="Google Shape;141;p13"/>
          <p:cNvSpPr/>
          <p:nvPr/>
        </p:nvSpPr>
        <p:spPr>
          <a:xfrm>
            <a:off x="6705620" y="2293494"/>
            <a:ext cx="286500" cy="286500"/>
          </a:xfrm>
          <a:prstGeom prst="ellipse">
            <a:avLst/>
          </a:prstGeom>
          <a:no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 name="Google Shape;142;p13"/>
          <p:cNvGrpSpPr/>
          <p:nvPr/>
        </p:nvGrpSpPr>
        <p:grpSpPr>
          <a:xfrm>
            <a:off x="4630234" y="2177421"/>
            <a:ext cx="3825543" cy="1573620"/>
            <a:chOff x="1000000" y="2393988"/>
            <a:chExt cx="4144235" cy="1704713"/>
          </a:xfrm>
        </p:grpSpPr>
        <p:sp>
          <p:nvSpPr>
            <p:cNvPr id="143" name="Google Shape;143;p13"/>
            <p:cNvSpPr/>
            <p:nvPr/>
          </p:nvSpPr>
          <p:spPr>
            <a:xfrm>
              <a:off x="1000000" y="2440003"/>
              <a:ext cx="4144235" cy="1631268"/>
            </a:xfrm>
            <a:custGeom>
              <a:avLst/>
              <a:gdLst/>
              <a:ahLst/>
              <a:cxnLst/>
              <a:rect l="l" t="t" r="r" b="b"/>
              <a:pathLst>
                <a:path w="165422" h="90088" extrusionOk="0">
                  <a:moveTo>
                    <a:pt x="0" y="65550"/>
                  </a:moveTo>
                  <a:cubicBezTo>
                    <a:pt x="3559" y="56002"/>
                    <a:pt x="14632" y="11595"/>
                    <a:pt x="21355" y="8262"/>
                  </a:cubicBezTo>
                  <a:cubicBezTo>
                    <a:pt x="28078" y="4929"/>
                    <a:pt x="34067" y="46906"/>
                    <a:pt x="40338" y="45550"/>
                  </a:cubicBezTo>
                  <a:cubicBezTo>
                    <a:pt x="46609" y="44194"/>
                    <a:pt x="52711" y="2161"/>
                    <a:pt x="58982" y="127"/>
                  </a:cubicBezTo>
                  <a:cubicBezTo>
                    <a:pt x="65253" y="-1907"/>
                    <a:pt x="71807" y="30974"/>
                    <a:pt x="77965" y="33347"/>
                  </a:cubicBezTo>
                  <a:cubicBezTo>
                    <a:pt x="84123" y="35720"/>
                    <a:pt x="90055" y="6285"/>
                    <a:pt x="95931" y="14364"/>
                  </a:cubicBezTo>
                  <a:cubicBezTo>
                    <a:pt x="101807" y="22443"/>
                    <a:pt x="107626" y="77414"/>
                    <a:pt x="113219" y="81821"/>
                  </a:cubicBezTo>
                  <a:cubicBezTo>
                    <a:pt x="118812" y="86228"/>
                    <a:pt x="123671" y="39448"/>
                    <a:pt x="129490" y="40804"/>
                  </a:cubicBezTo>
                  <a:cubicBezTo>
                    <a:pt x="135309" y="42160"/>
                    <a:pt x="142145" y="92047"/>
                    <a:pt x="148134" y="89957"/>
                  </a:cubicBezTo>
                  <a:cubicBezTo>
                    <a:pt x="154123" y="87867"/>
                    <a:pt x="162541" y="38545"/>
                    <a:pt x="165422" y="28262"/>
                  </a:cubicBezTo>
                </a:path>
              </a:pathLst>
            </a:custGeom>
            <a:noFill/>
            <a:ln w="19050" cap="flat" cmpd="sng">
              <a:solidFill>
                <a:schemeClr val="lt1"/>
              </a:solidFill>
              <a:prstDash val="solid"/>
              <a:round/>
              <a:headEnd type="oval" w="med" len="med"/>
              <a:tailEnd type="oval" w="med" len="med"/>
            </a:ln>
          </p:spPr>
        </p:sp>
        <p:sp>
          <p:nvSpPr>
            <p:cNvPr id="144" name="Google Shape;144;p13"/>
            <p:cNvSpPr/>
            <p:nvPr/>
          </p:nvSpPr>
          <p:spPr>
            <a:xfrm>
              <a:off x="4658400" y="4014100"/>
              <a:ext cx="84600" cy="846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3"/>
            <p:cNvSpPr/>
            <p:nvPr/>
          </p:nvSpPr>
          <p:spPr>
            <a:xfrm>
              <a:off x="4195525" y="3147350"/>
              <a:ext cx="84600" cy="846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3"/>
            <p:cNvSpPr/>
            <p:nvPr/>
          </p:nvSpPr>
          <p:spPr>
            <a:xfrm>
              <a:off x="3800700" y="3868900"/>
              <a:ext cx="84600" cy="846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3"/>
            <p:cNvSpPr/>
            <p:nvPr/>
          </p:nvSpPr>
          <p:spPr>
            <a:xfrm>
              <a:off x="3358650" y="2637813"/>
              <a:ext cx="84600" cy="846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3"/>
            <p:cNvSpPr/>
            <p:nvPr/>
          </p:nvSpPr>
          <p:spPr>
            <a:xfrm>
              <a:off x="2909400" y="2993013"/>
              <a:ext cx="84600" cy="846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3"/>
            <p:cNvSpPr/>
            <p:nvPr/>
          </p:nvSpPr>
          <p:spPr>
            <a:xfrm>
              <a:off x="2437450" y="2393988"/>
              <a:ext cx="84600" cy="846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3"/>
            <p:cNvSpPr/>
            <p:nvPr/>
          </p:nvSpPr>
          <p:spPr>
            <a:xfrm>
              <a:off x="1974575" y="3213325"/>
              <a:ext cx="84600" cy="846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3"/>
            <p:cNvSpPr/>
            <p:nvPr/>
          </p:nvSpPr>
          <p:spPr>
            <a:xfrm>
              <a:off x="1500000" y="2553225"/>
              <a:ext cx="84600" cy="846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 name="Google Shape;152;p13"/>
          <p:cNvSpPr/>
          <p:nvPr/>
        </p:nvSpPr>
        <p:spPr>
          <a:xfrm>
            <a:off x="6537850" y="1738120"/>
            <a:ext cx="1179600" cy="343800"/>
          </a:xfrm>
          <a:prstGeom prst="wedgeRoundRectCallout">
            <a:avLst>
              <a:gd name="adj1" fmla="val -21432"/>
              <a:gd name="adj2" fmla="val 84969"/>
              <a:gd name="adj3"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 name="Google Shape;153;p13"/>
          <p:cNvGrpSpPr/>
          <p:nvPr/>
        </p:nvGrpSpPr>
        <p:grpSpPr>
          <a:xfrm>
            <a:off x="4630257" y="1938511"/>
            <a:ext cx="3836911" cy="1503799"/>
            <a:chOff x="1000025" y="2059300"/>
            <a:chExt cx="4156550" cy="1629075"/>
          </a:xfrm>
        </p:grpSpPr>
        <p:sp>
          <p:nvSpPr>
            <p:cNvPr id="154" name="Google Shape;154;p13"/>
            <p:cNvSpPr/>
            <p:nvPr/>
          </p:nvSpPr>
          <p:spPr>
            <a:xfrm>
              <a:off x="1000025" y="2083952"/>
              <a:ext cx="4156550" cy="1576975"/>
            </a:xfrm>
            <a:custGeom>
              <a:avLst/>
              <a:gdLst/>
              <a:ahLst/>
              <a:cxnLst/>
              <a:rect l="l" t="t" r="r" b="b"/>
              <a:pathLst>
                <a:path w="166262" h="63079" extrusionOk="0">
                  <a:moveTo>
                    <a:pt x="0" y="34952"/>
                  </a:moveTo>
                  <a:cubicBezTo>
                    <a:pt x="3623" y="29133"/>
                    <a:pt x="14946" y="1167"/>
                    <a:pt x="21740" y="37"/>
                  </a:cubicBezTo>
                  <a:cubicBezTo>
                    <a:pt x="28534" y="-1093"/>
                    <a:pt x="34478" y="24048"/>
                    <a:pt x="40762" y="28172"/>
                  </a:cubicBezTo>
                  <a:cubicBezTo>
                    <a:pt x="47046" y="32296"/>
                    <a:pt x="53256" y="18986"/>
                    <a:pt x="59446" y="24782"/>
                  </a:cubicBezTo>
                  <a:cubicBezTo>
                    <a:pt x="65636" y="30578"/>
                    <a:pt x="71730" y="60803"/>
                    <a:pt x="77901" y="62950"/>
                  </a:cubicBezTo>
                  <a:cubicBezTo>
                    <a:pt x="84072" y="65097"/>
                    <a:pt x="90490" y="39675"/>
                    <a:pt x="96472" y="37664"/>
                  </a:cubicBezTo>
                  <a:cubicBezTo>
                    <a:pt x="102455" y="35653"/>
                    <a:pt x="108078" y="54726"/>
                    <a:pt x="113796" y="50884"/>
                  </a:cubicBezTo>
                  <a:cubicBezTo>
                    <a:pt x="119514" y="47042"/>
                    <a:pt x="125063" y="18059"/>
                    <a:pt x="130781" y="14613"/>
                  </a:cubicBezTo>
                  <a:cubicBezTo>
                    <a:pt x="136499" y="11167"/>
                    <a:pt x="142192" y="30515"/>
                    <a:pt x="148105" y="30206"/>
                  </a:cubicBezTo>
                  <a:cubicBezTo>
                    <a:pt x="154019" y="29897"/>
                    <a:pt x="163236" y="15665"/>
                    <a:pt x="166262" y="12757"/>
                  </a:cubicBezTo>
                </a:path>
              </a:pathLst>
            </a:custGeom>
            <a:noFill/>
            <a:ln w="19050" cap="flat" cmpd="sng">
              <a:solidFill>
                <a:schemeClr val="accent4"/>
              </a:solidFill>
              <a:prstDash val="solid"/>
              <a:round/>
              <a:headEnd type="oval" w="med" len="med"/>
              <a:tailEnd type="oval" w="med" len="med"/>
            </a:ln>
          </p:spPr>
        </p:sp>
        <p:sp>
          <p:nvSpPr>
            <p:cNvPr id="155" name="Google Shape;155;p13"/>
            <p:cNvSpPr/>
            <p:nvPr/>
          </p:nvSpPr>
          <p:spPr>
            <a:xfrm>
              <a:off x="1500000" y="2059300"/>
              <a:ext cx="84600" cy="84600"/>
            </a:xfrm>
            <a:prstGeom prst="ellipse">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3"/>
            <p:cNvSpPr/>
            <p:nvPr/>
          </p:nvSpPr>
          <p:spPr>
            <a:xfrm>
              <a:off x="1974575" y="2737275"/>
              <a:ext cx="84600" cy="84600"/>
            </a:xfrm>
            <a:prstGeom prst="ellipse">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3"/>
            <p:cNvSpPr/>
            <p:nvPr/>
          </p:nvSpPr>
          <p:spPr>
            <a:xfrm>
              <a:off x="2437450" y="2652675"/>
              <a:ext cx="84600" cy="84600"/>
            </a:xfrm>
            <a:prstGeom prst="ellipse">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3"/>
            <p:cNvSpPr/>
            <p:nvPr/>
          </p:nvSpPr>
          <p:spPr>
            <a:xfrm>
              <a:off x="2909400" y="3603775"/>
              <a:ext cx="84600" cy="84600"/>
            </a:xfrm>
            <a:prstGeom prst="ellipse">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3"/>
            <p:cNvSpPr/>
            <p:nvPr/>
          </p:nvSpPr>
          <p:spPr>
            <a:xfrm>
              <a:off x="3358650" y="2993025"/>
              <a:ext cx="84600" cy="84600"/>
            </a:xfrm>
            <a:prstGeom prst="ellipse">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3"/>
            <p:cNvSpPr/>
            <p:nvPr/>
          </p:nvSpPr>
          <p:spPr>
            <a:xfrm>
              <a:off x="3780700" y="3315225"/>
              <a:ext cx="84600" cy="84600"/>
            </a:xfrm>
            <a:prstGeom prst="ellipse">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3"/>
            <p:cNvSpPr/>
            <p:nvPr/>
          </p:nvSpPr>
          <p:spPr>
            <a:xfrm>
              <a:off x="4216350" y="2412175"/>
              <a:ext cx="84600" cy="84600"/>
            </a:xfrm>
            <a:prstGeom prst="ellipse">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3"/>
            <p:cNvSpPr/>
            <p:nvPr/>
          </p:nvSpPr>
          <p:spPr>
            <a:xfrm>
              <a:off x="4658400" y="2802450"/>
              <a:ext cx="84600" cy="84600"/>
            </a:xfrm>
            <a:prstGeom prst="ellipse">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3" name="Google Shape;163;p13"/>
          <p:cNvSpPr txBox="1">
            <a:spLocks noGrp="1"/>
          </p:cNvSpPr>
          <p:nvPr>
            <p:ph type="body" idx="4294967295"/>
          </p:nvPr>
        </p:nvSpPr>
        <p:spPr>
          <a:xfrm>
            <a:off x="6537850" y="1766770"/>
            <a:ext cx="1179600" cy="286500"/>
          </a:xfrm>
          <a:prstGeom prst="rect">
            <a:avLst/>
          </a:prstGeom>
        </p:spPr>
        <p:txBody>
          <a:bodyPr spcFirstLastPara="1" wrap="square" lIns="91425" tIns="91425" rIns="91425" bIns="91425" anchor="t" anchorCtr="0">
            <a:normAutofit fontScale="55000" lnSpcReduction="20000"/>
          </a:bodyPr>
          <a:lstStyle/>
          <a:p>
            <a:pPr marL="0" lvl="0" indent="0" algn="ctr" rtl="0">
              <a:spcBef>
                <a:spcPts val="0"/>
              </a:spcBef>
              <a:spcAft>
                <a:spcPts val="0"/>
              </a:spcAft>
              <a:buNone/>
            </a:pPr>
            <a:r>
              <a:rPr lang="en" sz="1300">
                <a:solidFill>
                  <a:schemeClr val="dk1"/>
                </a:solidFill>
              </a:rPr>
              <a:t>max growth</a:t>
            </a:r>
            <a:endParaRPr sz="1300">
              <a:solidFill>
                <a:schemeClr val="dk1"/>
              </a:solidFill>
            </a:endParaRPr>
          </a:p>
        </p:txBody>
      </p:sp>
      <p:sp>
        <p:nvSpPr>
          <p:cNvPr id="164" name="Google Shape;164;p13"/>
          <p:cNvSpPr txBox="1"/>
          <p:nvPr/>
        </p:nvSpPr>
        <p:spPr>
          <a:xfrm>
            <a:off x="506325" y="2293500"/>
            <a:ext cx="65982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solidFill>
                  <a:srgbClr val="38761D"/>
                </a:solidFill>
                <a:highlight>
                  <a:schemeClr val="dk1"/>
                </a:highlight>
                <a:latin typeface="Verdana"/>
                <a:ea typeface="Verdana"/>
                <a:cs typeface="Verdana"/>
                <a:sym typeface="Verdana"/>
              </a:rPr>
              <a:t>Team Members : </a:t>
            </a:r>
            <a:endParaRPr sz="1600" b="1">
              <a:solidFill>
                <a:srgbClr val="38761D"/>
              </a:solidFill>
              <a:highlight>
                <a:schemeClr val="dk1"/>
              </a:highlight>
              <a:latin typeface="Verdana"/>
              <a:ea typeface="Verdana"/>
              <a:cs typeface="Verdana"/>
              <a:sym typeface="Verdana"/>
            </a:endParaRPr>
          </a:p>
          <a:p>
            <a:pPr marL="0" lvl="0" indent="0" algn="l" rtl="0">
              <a:spcBef>
                <a:spcPts val="0"/>
              </a:spcBef>
              <a:spcAft>
                <a:spcPts val="0"/>
              </a:spcAft>
              <a:buNone/>
            </a:pPr>
            <a:endParaRPr sz="1600" b="1">
              <a:solidFill>
                <a:srgbClr val="38761D"/>
              </a:solidFill>
              <a:highlight>
                <a:schemeClr val="dk1"/>
              </a:highlight>
              <a:latin typeface="Verdana"/>
              <a:ea typeface="Verdana"/>
              <a:cs typeface="Verdana"/>
              <a:sym typeface="Verdana"/>
            </a:endParaRPr>
          </a:p>
          <a:p>
            <a:pPr marL="0" lvl="0" indent="0" algn="l" rtl="0">
              <a:spcBef>
                <a:spcPts val="0"/>
              </a:spcBef>
              <a:spcAft>
                <a:spcPts val="0"/>
              </a:spcAft>
              <a:buNone/>
            </a:pPr>
            <a:r>
              <a:rPr lang="en" sz="1600" b="1">
                <a:solidFill>
                  <a:srgbClr val="38761D"/>
                </a:solidFill>
                <a:highlight>
                  <a:schemeClr val="dk1"/>
                </a:highlight>
                <a:latin typeface="Verdana"/>
                <a:ea typeface="Verdana"/>
                <a:cs typeface="Verdana"/>
                <a:sym typeface="Verdana"/>
              </a:rPr>
              <a:t>Abhinav Anand</a:t>
            </a:r>
            <a:endParaRPr sz="1600" b="1">
              <a:solidFill>
                <a:srgbClr val="38761D"/>
              </a:solidFill>
              <a:highlight>
                <a:schemeClr val="dk1"/>
              </a:highlight>
              <a:latin typeface="Verdana"/>
              <a:ea typeface="Verdana"/>
              <a:cs typeface="Verdana"/>
              <a:sym typeface="Verdana"/>
            </a:endParaRPr>
          </a:p>
          <a:p>
            <a:pPr marL="0" lvl="0" indent="0" algn="l" rtl="0">
              <a:spcBef>
                <a:spcPts val="0"/>
              </a:spcBef>
              <a:spcAft>
                <a:spcPts val="0"/>
              </a:spcAft>
              <a:buNone/>
            </a:pPr>
            <a:r>
              <a:rPr lang="en" sz="1600" b="1">
                <a:solidFill>
                  <a:srgbClr val="38761D"/>
                </a:solidFill>
                <a:highlight>
                  <a:schemeClr val="dk1"/>
                </a:highlight>
                <a:latin typeface="Verdana"/>
                <a:ea typeface="Verdana"/>
                <a:cs typeface="Verdana"/>
                <a:sym typeface="Verdana"/>
              </a:rPr>
              <a:t>Siddham Bagrecha</a:t>
            </a:r>
            <a:endParaRPr sz="1600" b="1">
              <a:solidFill>
                <a:srgbClr val="38761D"/>
              </a:solidFill>
              <a:highlight>
                <a:schemeClr val="dk1"/>
              </a:highlight>
              <a:latin typeface="Verdana"/>
              <a:ea typeface="Verdana"/>
              <a:cs typeface="Verdana"/>
              <a:sym typeface="Verdana"/>
            </a:endParaRPr>
          </a:p>
          <a:p>
            <a:pPr marL="0" lvl="0" indent="0" algn="l" rtl="0">
              <a:spcBef>
                <a:spcPts val="0"/>
              </a:spcBef>
              <a:spcAft>
                <a:spcPts val="0"/>
              </a:spcAft>
              <a:buNone/>
            </a:pPr>
            <a:r>
              <a:rPr lang="en" sz="1600" b="1">
                <a:solidFill>
                  <a:srgbClr val="38761D"/>
                </a:solidFill>
                <a:highlight>
                  <a:schemeClr val="dk1"/>
                </a:highlight>
                <a:latin typeface="Verdana"/>
                <a:ea typeface="Verdana"/>
                <a:cs typeface="Verdana"/>
                <a:sym typeface="Verdana"/>
              </a:rPr>
              <a:t>Anurag Ranjan</a:t>
            </a:r>
            <a:endParaRPr sz="1600" b="1">
              <a:solidFill>
                <a:srgbClr val="38761D"/>
              </a:solidFill>
              <a:highlight>
                <a:schemeClr val="dk1"/>
              </a:highlight>
              <a:latin typeface="Verdana"/>
              <a:ea typeface="Verdana"/>
              <a:cs typeface="Verdana"/>
              <a:sym typeface="Verdana"/>
            </a:endParaRPr>
          </a:p>
          <a:p>
            <a:pPr marL="0" lvl="0" indent="0" algn="l" rtl="0">
              <a:spcBef>
                <a:spcPts val="0"/>
              </a:spcBef>
              <a:spcAft>
                <a:spcPts val="0"/>
              </a:spcAft>
              <a:buNone/>
            </a:pPr>
            <a:r>
              <a:rPr lang="en" sz="1600" b="1">
                <a:solidFill>
                  <a:srgbClr val="38761D"/>
                </a:solidFill>
                <a:highlight>
                  <a:schemeClr val="dk1"/>
                </a:highlight>
                <a:latin typeface="Verdana"/>
                <a:ea typeface="Verdana"/>
                <a:cs typeface="Verdana"/>
                <a:sym typeface="Verdana"/>
              </a:rPr>
              <a:t>Ayush</a:t>
            </a:r>
            <a:endParaRPr sz="1600" b="1">
              <a:solidFill>
                <a:srgbClr val="38761D"/>
              </a:solidFill>
              <a:highlight>
                <a:schemeClr val="dk1"/>
              </a:highlight>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Abstract </a:t>
            </a:r>
            <a:endParaRPr/>
          </a:p>
        </p:txBody>
      </p:sp>
      <p:sp>
        <p:nvSpPr>
          <p:cNvPr id="170" name="Google Shape;170;p14"/>
          <p:cNvSpPr txBox="1">
            <a:spLocks noGrp="1"/>
          </p:cNvSpPr>
          <p:nvPr>
            <p:ph type="body" idx="4294967295"/>
          </p:nvPr>
        </p:nvSpPr>
        <p:spPr>
          <a:xfrm>
            <a:off x="915900" y="1536700"/>
            <a:ext cx="7323000" cy="31875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sz="1700"/>
              <a:t>A data driven approach for making a portfolio comprising of top 8 performing virtual stocks out of given 20 stocks providing the rationale and logic behind the selection by citing the relevant data such as financial statements, articles etc.</a:t>
            </a:r>
            <a:endParaRPr sz="1700"/>
          </a:p>
          <a:p>
            <a:pPr marL="0" lvl="0" indent="0" algn="just" rtl="0">
              <a:spcBef>
                <a:spcPts val="1200"/>
              </a:spcBef>
              <a:spcAft>
                <a:spcPts val="0"/>
              </a:spcAft>
              <a:buNone/>
            </a:pPr>
            <a:r>
              <a:rPr lang="en" sz="1700"/>
              <a:t>Each team will have a virtual fund of ₹20 lakh to build their portfolio.</a:t>
            </a:r>
            <a:endParaRPr sz="1700"/>
          </a:p>
          <a:p>
            <a:pPr marL="0" lvl="0" indent="0" algn="just" rtl="0">
              <a:spcBef>
                <a:spcPts val="1200"/>
              </a:spcBef>
              <a:spcAft>
                <a:spcPts val="0"/>
              </a:spcAft>
              <a:buNone/>
            </a:pPr>
            <a:r>
              <a:rPr lang="en" sz="1700"/>
              <a:t>Providing a detailed explanation of why the remaining 12 stocks were not included in your portfolio.</a:t>
            </a:r>
            <a:endParaRPr sz="1700"/>
          </a:p>
          <a:p>
            <a:pPr marL="0" lvl="0" indent="0" algn="just" rtl="0">
              <a:spcBef>
                <a:spcPts val="1200"/>
              </a:spcBef>
              <a:spcAft>
                <a:spcPts val="0"/>
              </a:spcAft>
              <a:buNone/>
            </a:pPr>
            <a:r>
              <a:rPr lang="en" sz="1700"/>
              <a:t>Optimization of portfolio by incorporating </a:t>
            </a:r>
            <a:r>
              <a:rPr lang="en" sz="1700" b="1"/>
              <a:t>ESG (Environmental, Social, Governance)</a:t>
            </a:r>
            <a:r>
              <a:rPr lang="en" sz="1700"/>
              <a:t> criteria into the decision-making.</a:t>
            </a:r>
            <a:endParaRPr sz="1700"/>
          </a:p>
          <a:p>
            <a:pPr marL="0" lvl="0" indent="0" algn="just" rtl="0">
              <a:spcBef>
                <a:spcPts val="1200"/>
              </a:spcBef>
              <a:spcAft>
                <a:spcPts val="0"/>
              </a:spcAft>
              <a:buNone/>
            </a:pPr>
            <a:endParaRPr sz="1600"/>
          </a:p>
          <a:p>
            <a:pPr marL="0" lvl="0" indent="0" algn="l" rtl="0">
              <a:spcBef>
                <a:spcPts val="1200"/>
              </a:spcBef>
              <a:spcAft>
                <a:spcPts val="1200"/>
              </a:spcAft>
              <a:buNone/>
            </a:pPr>
            <a:endParaRPr sz="140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5"/>
          <p:cNvSpPr txBox="1">
            <a:spLocks noGrp="1"/>
          </p:cNvSpPr>
          <p:nvPr>
            <p:ph type="title"/>
          </p:nvPr>
        </p:nvSpPr>
        <p:spPr>
          <a:xfrm>
            <a:off x="819150" y="364475"/>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Analysis Criteria</a:t>
            </a:r>
            <a:endParaRPr/>
          </a:p>
        </p:txBody>
      </p:sp>
      <p:sp>
        <p:nvSpPr>
          <p:cNvPr id="176" name="Google Shape;176;p15"/>
          <p:cNvSpPr txBox="1">
            <a:spLocks noGrp="1"/>
          </p:cNvSpPr>
          <p:nvPr>
            <p:ph type="body" idx="4294967295"/>
          </p:nvPr>
        </p:nvSpPr>
        <p:spPr>
          <a:xfrm>
            <a:off x="501000" y="1091450"/>
            <a:ext cx="8190600" cy="714900"/>
          </a:xfrm>
          <a:prstGeom prst="rect">
            <a:avLst/>
          </a:prstGeom>
        </p:spPr>
        <p:txBody>
          <a:bodyPr spcFirstLastPara="1" wrap="square" lIns="91425" tIns="91425" rIns="91425" bIns="91425" anchor="t" anchorCtr="0">
            <a:noAutofit/>
          </a:bodyPr>
          <a:lstStyle/>
          <a:p>
            <a:pPr marL="0" lvl="0" indent="0" algn="l" rtl="0">
              <a:spcBef>
                <a:spcPts val="800"/>
              </a:spcBef>
              <a:spcAft>
                <a:spcPts val="0"/>
              </a:spcAft>
              <a:buNone/>
            </a:pPr>
            <a:r>
              <a:rPr lang="en" sz="1600">
                <a:solidFill>
                  <a:srgbClr val="000000"/>
                </a:solidFill>
              </a:rPr>
              <a:t>This analysis identifies the best stocks for long-term investment based on key financial and valuation metrics. It evaluates profitability, growth potential, and financial stability. We have formulated four levels of studies for the analysis.</a:t>
            </a:r>
            <a:endParaRPr sz="1600">
              <a:solidFill>
                <a:srgbClr val="000000"/>
              </a:solidFill>
            </a:endParaRPr>
          </a:p>
          <a:p>
            <a:pPr marL="0" lvl="0" indent="0" algn="l" rtl="0">
              <a:spcBef>
                <a:spcPts val="0"/>
              </a:spcBef>
              <a:spcAft>
                <a:spcPts val="800"/>
              </a:spcAft>
              <a:buNone/>
            </a:pPr>
            <a:endParaRPr sz="1600" b="1"/>
          </a:p>
        </p:txBody>
      </p:sp>
      <p:grpSp>
        <p:nvGrpSpPr>
          <p:cNvPr id="177" name="Google Shape;177;p15"/>
          <p:cNvGrpSpPr/>
          <p:nvPr/>
        </p:nvGrpSpPr>
        <p:grpSpPr>
          <a:xfrm flipH="1">
            <a:off x="5524131" y="2972013"/>
            <a:ext cx="2535228" cy="863813"/>
            <a:chOff x="918735" y="1687347"/>
            <a:chExt cx="2880614" cy="1047300"/>
          </a:xfrm>
        </p:grpSpPr>
        <p:sp>
          <p:nvSpPr>
            <p:cNvPr id="178" name="Google Shape;178;p15"/>
            <p:cNvSpPr txBox="1"/>
            <p:nvPr/>
          </p:nvSpPr>
          <p:spPr>
            <a:xfrm>
              <a:off x="918735" y="1687347"/>
              <a:ext cx="2077200" cy="1047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latin typeface="Roboto"/>
                  <a:ea typeface="Roboto"/>
                  <a:cs typeface="Roboto"/>
                  <a:sym typeface="Roboto"/>
                </a:rPr>
                <a:t>Return on Investment Metrics (To measure efficiency)</a:t>
              </a:r>
              <a:endParaRPr sz="900" b="1">
                <a:latin typeface="Roboto"/>
                <a:ea typeface="Roboto"/>
                <a:cs typeface="Roboto"/>
                <a:sym typeface="Roboto"/>
              </a:endParaRPr>
            </a:p>
          </p:txBody>
        </p:sp>
        <p:cxnSp>
          <p:nvCxnSpPr>
            <p:cNvPr id="179" name="Google Shape;179;p15"/>
            <p:cNvCxnSpPr/>
            <p:nvPr/>
          </p:nvCxnSpPr>
          <p:spPr>
            <a:xfrm rot="10800000">
              <a:off x="3046949" y="2215320"/>
              <a:ext cx="752400" cy="0"/>
            </a:xfrm>
            <a:prstGeom prst="straightConnector1">
              <a:avLst/>
            </a:prstGeom>
            <a:noFill/>
            <a:ln w="9525" cap="flat" cmpd="sng">
              <a:solidFill>
                <a:srgbClr val="C2C2C2"/>
              </a:solidFill>
              <a:prstDash val="solid"/>
              <a:round/>
              <a:headEnd type="none" w="sm" len="sm"/>
              <a:tailEnd type="none" w="sm" len="sm"/>
            </a:ln>
          </p:spPr>
        </p:cxnSp>
        <p:sp>
          <p:nvSpPr>
            <p:cNvPr id="180" name="Google Shape;180;p15"/>
            <p:cNvSpPr/>
            <p:nvPr/>
          </p:nvSpPr>
          <p:spPr>
            <a:xfrm>
              <a:off x="3020371" y="2111851"/>
              <a:ext cx="198600" cy="198300"/>
            </a:xfrm>
            <a:prstGeom prst="ellipse">
              <a:avLst/>
            </a:prstGeom>
            <a:solidFill>
              <a:srgbClr val="802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5"/>
            <p:cNvSpPr txBox="1"/>
            <p:nvPr/>
          </p:nvSpPr>
          <p:spPr>
            <a:xfrm>
              <a:off x="2995924" y="2033993"/>
              <a:ext cx="247500" cy="37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1600"/>
                </a:spcAft>
                <a:buNone/>
              </a:pPr>
              <a:r>
                <a:rPr lang="en" sz="800">
                  <a:solidFill>
                    <a:srgbClr val="FFFFFF"/>
                  </a:solidFill>
                  <a:latin typeface="Roboto"/>
                  <a:ea typeface="Roboto"/>
                  <a:cs typeface="Roboto"/>
                  <a:sym typeface="Roboto"/>
                </a:rPr>
                <a:t>3</a:t>
              </a:r>
              <a:endParaRPr>
                <a:solidFill>
                  <a:srgbClr val="FFFFFF"/>
                </a:solidFill>
              </a:endParaRPr>
            </a:p>
          </p:txBody>
        </p:sp>
      </p:grpSp>
      <p:grpSp>
        <p:nvGrpSpPr>
          <p:cNvPr id="182" name="Google Shape;182;p15"/>
          <p:cNvGrpSpPr/>
          <p:nvPr/>
        </p:nvGrpSpPr>
        <p:grpSpPr>
          <a:xfrm>
            <a:off x="819148" y="3552152"/>
            <a:ext cx="2921680" cy="863813"/>
            <a:chOff x="857520" y="1684225"/>
            <a:chExt cx="3319714" cy="1047300"/>
          </a:xfrm>
        </p:grpSpPr>
        <p:sp>
          <p:nvSpPr>
            <p:cNvPr id="183" name="Google Shape;183;p15"/>
            <p:cNvSpPr txBox="1"/>
            <p:nvPr/>
          </p:nvSpPr>
          <p:spPr>
            <a:xfrm>
              <a:off x="857520" y="1684225"/>
              <a:ext cx="2077200" cy="1047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b="1">
                  <a:latin typeface="Roboto"/>
                  <a:ea typeface="Roboto"/>
                  <a:cs typeface="Roboto"/>
                  <a:sym typeface="Roboto"/>
                </a:rPr>
                <a:t>Dividend Analysis (For Passive Income &amp; Stability)</a:t>
              </a:r>
              <a:endParaRPr sz="800" b="1">
                <a:latin typeface="Roboto"/>
                <a:ea typeface="Roboto"/>
                <a:cs typeface="Roboto"/>
                <a:sym typeface="Roboto"/>
              </a:endParaRPr>
            </a:p>
          </p:txBody>
        </p:sp>
        <p:cxnSp>
          <p:nvCxnSpPr>
            <p:cNvPr id="184" name="Google Shape;184;p15"/>
            <p:cNvCxnSpPr/>
            <p:nvPr/>
          </p:nvCxnSpPr>
          <p:spPr>
            <a:xfrm rot="10800000">
              <a:off x="3046834" y="2215329"/>
              <a:ext cx="1130400" cy="0"/>
            </a:xfrm>
            <a:prstGeom prst="straightConnector1">
              <a:avLst/>
            </a:prstGeom>
            <a:noFill/>
            <a:ln w="9525" cap="flat" cmpd="sng">
              <a:solidFill>
                <a:srgbClr val="C2C2C2"/>
              </a:solidFill>
              <a:prstDash val="solid"/>
              <a:round/>
              <a:headEnd type="none" w="sm" len="sm"/>
              <a:tailEnd type="none" w="sm" len="sm"/>
            </a:ln>
          </p:spPr>
        </p:cxnSp>
        <p:sp>
          <p:nvSpPr>
            <p:cNvPr id="185" name="Google Shape;185;p15"/>
            <p:cNvSpPr/>
            <p:nvPr/>
          </p:nvSpPr>
          <p:spPr>
            <a:xfrm>
              <a:off x="3020371" y="2111851"/>
              <a:ext cx="198600" cy="198300"/>
            </a:xfrm>
            <a:prstGeom prst="ellipse">
              <a:avLst/>
            </a:prstGeom>
            <a:solidFill>
              <a:srgbClr val="9325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5"/>
            <p:cNvSpPr txBox="1"/>
            <p:nvPr/>
          </p:nvSpPr>
          <p:spPr>
            <a:xfrm>
              <a:off x="2995916" y="2049006"/>
              <a:ext cx="247500" cy="3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800">
                  <a:solidFill>
                    <a:srgbClr val="FFFFFF"/>
                  </a:solidFill>
                  <a:latin typeface="Roboto"/>
                  <a:ea typeface="Roboto"/>
                  <a:cs typeface="Roboto"/>
                  <a:sym typeface="Roboto"/>
                </a:rPr>
                <a:t>4</a:t>
              </a:r>
              <a:endParaRPr>
                <a:solidFill>
                  <a:srgbClr val="FFFFFF"/>
                </a:solidFill>
              </a:endParaRPr>
            </a:p>
          </p:txBody>
        </p:sp>
      </p:grpSp>
      <p:grpSp>
        <p:nvGrpSpPr>
          <p:cNvPr id="187" name="Google Shape;187;p15"/>
          <p:cNvGrpSpPr/>
          <p:nvPr/>
        </p:nvGrpSpPr>
        <p:grpSpPr>
          <a:xfrm flipH="1">
            <a:off x="4830084" y="1984613"/>
            <a:ext cx="3283150" cy="863813"/>
            <a:chOff x="857520" y="1684225"/>
            <a:chExt cx="3730429" cy="1047300"/>
          </a:xfrm>
        </p:grpSpPr>
        <p:sp>
          <p:nvSpPr>
            <p:cNvPr id="188" name="Google Shape;188;p15"/>
            <p:cNvSpPr txBox="1"/>
            <p:nvPr/>
          </p:nvSpPr>
          <p:spPr>
            <a:xfrm>
              <a:off x="857520" y="1684225"/>
              <a:ext cx="2077200" cy="1047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t>Comprehensive Ranking Criteria</a:t>
              </a:r>
              <a:endParaRPr sz="800" b="1">
                <a:latin typeface="Roboto"/>
                <a:ea typeface="Roboto"/>
                <a:cs typeface="Roboto"/>
                <a:sym typeface="Roboto"/>
              </a:endParaRPr>
            </a:p>
          </p:txBody>
        </p:sp>
        <p:cxnSp>
          <p:nvCxnSpPr>
            <p:cNvPr id="189" name="Google Shape;189;p15"/>
            <p:cNvCxnSpPr/>
            <p:nvPr/>
          </p:nvCxnSpPr>
          <p:spPr>
            <a:xfrm rot="10800000">
              <a:off x="3046849" y="2215320"/>
              <a:ext cx="1541100" cy="0"/>
            </a:xfrm>
            <a:prstGeom prst="straightConnector1">
              <a:avLst/>
            </a:prstGeom>
            <a:noFill/>
            <a:ln w="9525" cap="flat" cmpd="sng">
              <a:solidFill>
                <a:srgbClr val="C2C2C2"/>
              </a:solidFill>
              <a:prstDash val="solid"/>
              <a:round/>
              <a:headEnd type="none" w="sm" len="sm"/>
              <a:tailEnd type="none" w="sm" len="sm"/>
            </a:ln>
          </p:spPr>
        </p:cxnSp>
        <p:sp>
          <p:nvSpPr>
            <p:cNvPr id="190" name="Google Shape;190;p15"/>
            <p:cNvSpPr/>
            <p:nvPr/>
          </p:nvSpPr>
          <p:spPr>
            <a:xfrm>
              <a:off x="3020371" y="2111851"/>
              <a:ext cx="198600" cy="198300"/>
            </a:xfrm>
            <a:prstGeom prst="ellipse">
              <a:avLst/>
            </a:prstGeom>
            <a:solidFill>
              <a:srgbClr val="701C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5"/>
            <p:cNvSpPr txBox="1"/>
            <p:nvPr/>
          </p:nvSpPr>
          <p:spPr>
            <a:xfrm>
              <a:off x="2995924" y="2005804"/>
              <a:ext cx="247500" cy="358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800">
                  <a:solidFill>
                    <a:srgbClr val="FFFFFF"/>
                  </a:solidFill>
                  <a:latin typeface="Roboto"/>
                  <a:ea typeface="Roboto"/>
                  <a:cs typeface="Roboto"/>
                  <a:sym typeface="Roboto"/>
                </a:rPr>
                <a:t>1</a:t>
              </a:r>
              <a:endParaRPr>
                <a:solidFill>
                  <a:srgbClr val="FFFFFF"/>
                </a:solidFill>
              </a:endParaRPr>
            </a:p>
          </p:txBody>
        </p:sp>
      </p:grpSp>
      <p:grpSp>
        <p:nvGrpSpPr>
          <p:cNvPr id="192" name="Google Shape;192;p15"/>
          <p:cNvGrpSpPr/>
          <p:nvPr/>
        </p:nvGrpSpPr>
        <p:grpSpPr>
          <a:xfrm>
            <a:off x="3052209" y="2110831"/>
            <a:ext cx="3088216" cy="2682292"/>
            <a:chOff x="3217473" y="1225350"/>
            <a:chExt cx="3118150" cy="3159727"/>
          </a:xfrm>
        </p:grpSpPr>
        <p:sp>
          <p:nvSpPr>
            <p:cNvPr id="193" name="Google Shape;193;p15"/>
            <p:cNvSpPr/>
            <p:nvPr/>
          </p:nvSpPr>
          <p:spPr>
            <a:xfrm>
              <a:off x="3579175" y="2711400"/>
              <a:ext cx="2396410" cy="971161"/>
            </a:xfrm>
            <a:custGeom>
              <a:avLst/>
              <a:gdLst/>
              <a:ahLst/>
              <a:cxnLst/>
              <a:rect l="l" t="t" r="r" b="b"/>
              <a:pathLst>
                <a:path w="39012" h="12970" extrusionOk="0">
                  <a:moveTo>
                    <a:pt x="0" y="5914"/>
                  </a:moveTo>
                  <a:lnTo>
                    <a:pt x="19531" y="12970"/>
                  </a:lnTo>
                  <a:lnTo>
                    <a:pt x="39012" y="5914"/>
                  </a:lnTo>
                  <a:lnTo>
                    <a:pt x="19581" y="0"/>
                  </a:lnTo>
                  <a:close/>
                </a:path>
              </a:pathLst>
            </a:custGeom>
            <a:solidFill>
              <a:srgbClr val="D9D9D9"/>
            </a:solidFill>
            <a:ln>
              <a:noFill/>
            </a:ln>
          </p:spPr>
        </p:sp>
        <p:sp>
          <p:nvSpPr>
            <p:cNvPr id="194" name="Google Shape;194;p15"/>
            <p:cNvSpPr/>
            <p:nvPr/>
          </p:nvSpPr>
          <p:spPr>
            <a:xfrm>
              <a:off x="3730755" y="2527208"/>
              <a:ext cx="2079127" cy="837209"/>
            </a:xfrm>
            <a:custGeom>
              <a:avLst/>
              <a:gdLst/>
              <a:ahLst/>
              <a:cxnLst/>
              <a:rect l="l" t="t" r="r" b="b"/>
              <a:pathLst>
                <a:path w="49248" h="16300" extrusionOk="0">
                  <a:moveTo>
                    <a:pt x="0" y="7554"/>
                  </a:moveTo>
                  <a:lnTo>
                    <a:pt x="24649" y="16300"/>
                  </a:lnTo>
                  <a:lnTo>
                    <a:pt x="49248" y="7604"/>
                  </a:lnTo>
                  <a:lnTo>
                    <a:pt x="24599" y="0"/>
                  </a:lnTo>
                  <a:close/>
                </a:path>
              </a:pathLst>
            </a:custGeom>
            <a:solidFill>
              <a:srgbClr val="D9D9D9"/>
            </a:solidFill>
            <a:ln>
              <a:noFill/>
            </a:ln>
          </p:spPr>
        </p:sp>
        <p:sp>
          <p:nvSpPr>
            <p:cNvPr id="195" name="Google Shape;195;p15"/>
            <p:cNvSpPr/>
            <p:nvPr/>
          </p:nvSpPr>
          <p:spPr>
            <a:xfrm>
              <a:off x="3946479" y="2252239"/>
              <a:ext cx="1647477" cy="663383"/>
            </a:xfrm>
            <a:custGeom>
              <a:avLst/>
              <a:gdLst/>
              <a:ahLst/>
              <a:cxnLst/>
              <a:rect l="l" t="t" r="r" b="b"/>
              <a:pathLst>
                <a:path w="39012" h="12970" extrusionOk="0">
                  <a:moveTo>
                    <a:pt x="0" y="5914"/>
                  </a:moveTo>
                  <a:lnTo>
                    <a:pt x="19531" y="12970"/>
                  </a:lnTo>
                  <a:lnTo>
                    <a:pt x="39012" y="5914"/>
                  </a:lnTo>
                  <a:lnTo>
                    <a:pt x="19581" y="0"/>
                  </a:lnTo>
                  <a:close/>
                </a:path>
              </a:pathLst>
            </a:custGeom>
            <a:solidFill>
              <a:srgbClr val="D9D9D9"/>
            </a:solidFill>
            <a:ln>
              <a:noFill/>
            </a:ln>
          </p:spPr>
        </p:sp>
        <p:sp>
          <p:nvSpPr>
            <p:cNvPr id="196" name="Google Shape;196;p15"/>
            <p:cNvSpPr/>
            <p:nvPr/>
          </p:nvSpPr>
          <p:spPr>
            <a:xfrm>
              <a:off x="4265445" y="1828277"/>
              <a:ext cx="1014014" cy="416547"/>
            </a:xfrm>
            <a:custGeom>
              <a:avLst/>
              <a:gdLst/>
              <a:ahLst/>
              <a:cxnLst/>
              <a:rect l="l" t="t" r="r" b="b"/>
              <a:pathLst>
                <a:path w="24053" h="8150" extrusionOk="0">
                  <a:moveTo>
                    <a:pt x="0" y="3827"/>
                  </a:moveTo>
                  <a:lnTo>
                    <a:pt x="11976" y="8150"/>
                  </a:lnTo>
                  <a:lnTo>
                    <a:pt x="24053" y="3827"/>
                  </a:lnTo>
                  <a:lnTo>
                    <a:pt x="12126" y="0"/>
                  </a:lnTo>
                  <a:close/>
                </a:path>
              </a:pathLst>
            </a:custGeom>
            <a:solidFill>
              <a:srgbClr val="D9D9D9"/>
            </a:solidFill>
            <a:ln>
              <a:noFill/>
            </a:ln>
          </p:spPr>
        </p:sp>
        <p:sp>
          <p:nvSpPr>
            <p:cNvPr id="197" name="Google Shape;197;p15"/>
            <p:cNvSpPr/>
            <p:nvPr/>
          </p:nvSpPr>
          <p:spPr>
            <a:xfrm>
              <a:off x="3217473" y="3154705"/>
              <a:ext cx="1559116" cy="1230372"/>
            </a:xfrm>
            <a:custGeom>
              <a:avLst/>
              <a:gdLst/>
              <a:ahLst/>
              <a:cxnLst/>
              <a:rect l="l" t="t" r="r" b="b"/>
              <a:pathLst>
                <a:path w="31954" h="20822" extrusionOk="0">
                  <a:moveTo>
                    <a:pt x="7355" y="0"/>
                  </a:moveTo>
                  <a:lnTo>
                    <a:pt x="31954" y="8796"/>
                  </a:lnTo>
                  <a:lnTo>
                    <a:pt x="31954" y="20822"/>
                  </a:lnTo>
                  <a:lnTo>
                    <a:pt x="0" y="8895"/>
                  </a:lnTo>
                  <a:close/>
                </a:path>
              </a:pathLst>
            </a:custGeom>
            <a:solidFill>
              <a:srgbClr val="561561"/>
            </a:solidFill>
            <a:ln>
              <a:noFill/>
            </a:ln>
          </p:spPr>
        </p:sp>
        <p:sp>
          <p:nvSpPr>
            <p:cNvPr id="198" name="Google Shape;198;p15"/>
            <p:cNvSpPr/>
            <p:nvPr/>
          </p:nvSpPr>
          <p:spPr>
            <a:xfrm>
              <a:off x="3790596" y="2554725"/>
              <a:ext cx="982143" cy="653205"/>
            </a:xfrm>
            <a:custGeom>
              <a:avLst/>
              <a:gdLst/>
              <a:ahLst/>
              <a:cxnLst/>
              <a:rect l="l" t="t" r="r" b="b"/>
              <a:pathLst>
                <a:path w="23257" h="12771" extrusionOk="0">
                  <a:moveTo>
                    <a:pt x="3727" y="0"/>
                  </a:moveTo>
                  <a:lnTo>
                    <a:pt x="0" y="4522"/>
                  </a:lnTo>
                  <a:lnTo>
                    <a:pt x="23257" y="12771"/>
                  </a:lnTo>
                  <a:lnTo>
                    <a:pt x="23257" y="7056"/>
                  </a:lnTo>
                  <a:close/>
                </a:path>
              </a:pathLst>
            </a:custGeom>
            <a:gradFill>
              <a:gsLst>
                <a:gs pos="0">
                  <a:srgbClr val="FFCA37"/>
                </a:gs>
                <a:gs pos="100000">
                  <a:srgbClr val="AD8107"/>
                </a:gs>
              </a:gsLst>
              <a:lin ang="5400012" scaled="0"/>
            </a:gradFill>
            <a:ln>
              <a:noFill/>
            </a:ln>
          </p:spPr>
        </p:sp>
        <p:sp>
          <p:nvSpPr>
            <p:cNvPr id="199" name="Google Shape;199;p15"/>
            <p:cNvSpPr/>
            <p:nvPr/>
          </p:nvSpPr>
          <p:spPr>
            <a:xfrm flipH="1">
              <a:off x="4770690" y="2554725"/>
              <a:ext cx="982143" cy="653205"/>
            </a:xfrm>
            <a:custGeom>
              <a:avLst/>
              <a:gdLst/>
              <a:ahLst/>
              <a:cxnLst/>
              <a:rect l="l" t="t" r="r" b="b"/>
              <a:pathLst>
                <a:path w="23257" h="12771" extrusionOk="0">
                  <a:moveTo>
                    <a:pt x="3727" y="0"/>
                  </a:moveTo>
                  <a:lnTo>
                    <a:pt x="0" y="4522"/>
                  </a:lnTo>
                  <a:lnTo>
                    <a:pt x="23257" y="12771"/>
                  </a:lnTo>
                  <a:lnTo>
                    <a:pt x="23257" y="7056"/>
                  </a:lnTo>
                  <a:close/>
                </a:path>
              </a:pathLst>
            </a:custGeom>
            <a:solidFill>
              <a:srgbClr val="F4B400"/>
            </a:solidFill>
            <a:ln>
              <a:noFill/>
            </a:ln>
          </p:spPr>
        </p:sp>
        <p:sp>
          <p:nvSpPr>
            <p:cNvPr id="200" name="Google Shape;200;p15"/>
            <p:cNvSpPr/>
            <p:nvPr/>
          </p:nvSpPr>
          <p:spPr>
            <a:xfrm>
              <a:off x="4002555" y="2023456"/>
              <a:ext cx="770191" cy="721896"/>
            </a:xfrm>
            <a:custGeom>
              <a:avLst/>
              <a:gdLst/>
              <a:ahLst/>
              <a:cxnLst/>
              <a:rect l="l" t="t" r="r" b="b"/>
              <a:pathLst>
                <a:path w="18238" h="14114" extrusionOk="0">
                  <a:moveTo>
                    <a:pt x="6262" y="0"/>
                  </a:moveTo>
                  <a:lnTo>
                    <a:pt x="18238" y="4324"/>
                  </a:lnTo>
                  <a:lnTo>
                    <a:pt x="18238" y="14114"/>
                  </a:lnTo>
                  <a:lnTo>
                    <a:pt x="0" y="7554"/>
                  </a:lnTo>
                  <a:close/>
                </a:path>
              </a:pathLst>
            </a:custGeom>
            <a:solidFill>
              <a:srgbClr val="561561"/>
            </a:solidFill>
            <a:ln>
              <a:noFill/>
            </a:ln>
          </p:spPr>
        </p:sp>
        <p:sp>
          <p:nvSpPr>
            <p:cNvPr id="201" name="Google Shape;201;p15"/>
            <p:cNvSpPr/>
            <p:nvPr/>
          </p:nvSpPr>
          <p:spPr>
            <a:xfrm flipH="1">
              <a:off x="4770683" y="2023456"/>
              <a:ext cx="770191" cy="721896"/>
            </a:xfrm>
            <a:custGeom>
              <a:avLst/>
              <a:gdLst/>
              <a:ahLst/>
              <a:cxnLst/>
              <a:rect l="l" t="t" r="r" b="b"/>
              <a:pathLst>
                <a:path w="18238" h="14114" extrusionOk="0">
                  <a:moveTo>
                    <a:pt x="6262" y="0"/>
                  </a:moveTo>
                  <a:lnTo>
                    <a:pt x="18238" y="4324"/>
                  </a:lnTo>
                  <a:lnTo>
                    <a:pt x="18238" y="14114"/>
                  </a:lnTo>
                  <a:lnTo>
                    <a:pt x="0" y="7554"/>
                  </a:lnTo>
                  <a:close/>
                </a:path>
              </a:pathLst>
            </a:custGeom>
            <a:solidFill>
              <a:srgbClr val="771E86"/>
            </a:solidFill>
            <a:ln>
              <a:noFill/>
            </a:ln>
          </p:spPr>
        </p:sp>
        <p:sp>
          <p:nvSpPr>
            <p:cNvPr id="202" name="Google Shape;202;p15"/>
            <p:cNvSpPr/>
            <p:nvPr/>
          </p:nvSpPr>
          <p:spPr>
            <a:xfrm>
              <a:off x="4323640" y="1225350"/>
              <a:ext cx="449116" cy="854010"/>
            </a:xfrm>
            <a:custGeom>
              <a:avLst/>
              <a:gdLst/>
              <a:ahLst/>
              <a:cxnLst/>
              <a:rect l="l" t="t" r="r" b="b"/>
              <a:pathLst>
                <a:path w="10635" h="16697" extrusionOk="0">
                  <a:moveTo>
                    <a:pt x="10635" y="0"/>
                  </a:moveTo>
                  <a:lnTo>
                    <a:pt x="0" y="12722"/>
                  </a:lnTo>
                  <a:lnTo>
                    <a:pt x="10635" y="16697"/>
                  </a:lnTo>
                  <a:close/>
                </a:path>
              </a:pathLst>
            </a:custGeom>
            <a:solidFill>
              <a:srgbClr val="561561"/>
            </a:solidFill>
            <a:ln>
              <a:noFill/>
            </a:ln>
          </p:spPr>
        </p:sp>
        <p:sp>
          <p:nvSpPr>
            <p:cNvPr id="203" name="Google Shape;203;p15"/>
            <p:cNvSpPr/>
            <p:nvPr/>
          </p:nvSpPr>
          <p:spPr>
            <a:xfrm flipH="1">
              <a:off x="4770673" y="1225350"/>
              <a:ext cx="449116" cy="854010"/>
            </a:xfrm>
            <a:custGeom>
              <a:avLst/>
              <a:gdLst/>
              <a:ahLst/>
              <a:cxnLst/>
              <a:rect l="l" t="t" r="r" b="b"/>
              <a:pathLst>
                <a:path w="10635" h="16697" extrusionOk="0">
                  <a:moveTo>
                    <a:pt x="10635" y="0"/>
                  </a:moveTo>
                  <a:lnTo>
                    <a:pt x="0" y="12722"/>
                  </a:lnTo>
                  <a:lnTo>
                    <a:pt x="10635" y="16697"/>
                  </a:lnTo>
                  <a:close/>
                </a:path>
              </a:pathLst>
            </a:custGeom>
            <a:solidFill>
              <a:srgbClr val="701C7F"/>
            </a:solidFill>
            <a:ln>
              <a:noFill/>
            </a:ln>
          </p:spPr>
        </p:sp>
        <p:sp>
          <p:nvSpPr>
            <p:cNvPr id="204" name="Google Shape;204;p15"/>
            <p:cNvSpPr/>
            <p:nvPr/>
          </p:nvSpPr>
          <p:spPr>
            <a:xfrm>
              <a:off x="3636034" y="2553603"/>
              <a:ext cx="1136642" cy="946913"/>
            </a:xfrm>
            <a:custGeom>
              <a:avLst/>
              <a:gdLst/>
              <a:ahLst/>
              <a:cxnLst/>
              <a:rect l="l" t="t" r="r" b="b"/>
              <a:pathLst>
                <a:path w="65016" h="46623" extrusionOk="0">
                  <a:moveTo>
                    <a:pt x="17858" y="0"/>
                  </a:moveTo>
                  <a:lnTo>
                    <a:pt x="0" y="22135"/>
                  </a:lnTo>
                  <a:lnTo>
                    <a:pt x="65016" y="46623"/>
                  </a:lnTo>
                  <a:lnTo>
                    <a:pt x="65016" y="17537"/>
                  </a:lnTo>
                  <a:close/>
                </a:path>
              </a:pathLst>
            </a:custGeom>
            <a:solidFill>
              <a:srgbClr val="561561"/>
            </a:solidFill>
            <a:ln>
              <a:noFill/>
            </a:ln>
          </p:spPr>
        </p:sp>
        <p:sp>
          <p:nvSpPr>
            <p:cNvPr id="205" name="Google Shape;205;p15"/>
            <p:cNvSpPr/>
            <p:nvPr/>
          </p:nvSpPr>
          <p:spPr>
            <a:xfrm flipH="1">
              <a:off x="4770657" y="2555106"/>
              <a:ext cx="1136642" cy="946913"/>
            </a:xfrm>
            <a:custGeom>
              <a:avLst/>
              <a:gdLst/>
              <a:ahLst/>
              <a:cxnLst/>
              <a:rect l="l" t="t" r="r" b="b"/>
              <a:pathLst>
                <a:path w="65016" h="46623" extrusionOk="0">
                  <a:moveTo>
                    <a:pt x="17858" y="0"/>
                  </a:moveTo>
                  <a:lnTo>
                    <a:pt x="0" y="22135"/>
                  </a:lnTo>
                  <a:lnTo>
                    <a:pt x="65016" y="46623"/>
                  </a:lnTo>
                  <a:lnTo>
                    <a:pt x="65016" y="17537"/>
                  </a:lnTo>
                  <a:close/>
                </a:path>
              </a:pathLst>
            </a:custGeom>
            <a:solidFill>
              <a:srgbClr val="802090"/>
            </a:solidFill>
            <a:ln>
              <a:noFill/>
            </a:ln>
          </p:spPr>
        </p:sp>
        <p:sp>
          <p:nvSpPr>
            <p:cNvPr id="206" name="Google Shape;206;p15"/>
            <p:cNvSpPr/>
            <p:nvPr/>
          </p:nvSpPr>
          <p:spPr>
            <a:xfrm flipH="1">
              <a:off x="4776508" y="3154705"/>
              <a:ext cx="1559116" cy="1230372"/>
            </a:xfrm>
            <a:custGeom>
              <a:avLst/>
              <a:gdLst/>
              <a:ahLst/>
              <a:cxnLst/>
              <a:rect l="l" t="t" r="r" b="b"/>
              <a:pathLst>
                <a:path w="31954" h="20822" extrusionOk="0">
                  <a:moveTo>
                    <a:pt x="7355" y="0"/>
                  </a:moveTo>
                  <a:lnTo>
                    <a:pt x="31954" y="8796"/>
                  </a:lnTo>
                  <a:lnTo>
                    <a:pt x="31954" y="20822"/>
                  </a:lnTo>
                  <a:lnTo>
                    <a:pt x="0" y="8895"/>
                  </a:lnTo>
                  <a:close/>
                </a:path>
              </a:pathLst>
            </a:custGeom>
            <a:solidFill>
              <a:srgbClr val="9325A5"/>
            </a:solidFill>
            <a:ln>
              <a:noFill/>
            </a:ln>
          </p:spPr>
        </p:sp>
      </p:grpSp>
      <p:grpSp>
        <p:nvGrpSpPr>
          <p:cNvPr id="207" name="Google Shape;207;p15"/>
          <p:cNvGrpSpPr/>
          <p:nvPr/>
        </p:nvGrpSpPr>
        <p:grpSpPr>
          <a:xfrm>
            <a:off x="1044123" y="2506916"/>
            <a:ext cx="2921680" cy="863813"/>
            <a:chOff x="857520" y="1684225"/>
            <a:chExt cx="3319714" cy="1047300"/>
          </a:xfrm>
        </p:grpSpPr>
        <p:sp>
          <p:nvSpPr>
            <p:cNvPr id="208" name="Google Shape;208;p15"/>
            <p:cNvSpPr txBox="1"/>
            <p:nvPr/>
          </p:nvSpPr>
          <p:spPr>
            <a:xfrm>
              <a:off x="857520" y="1684225"/>
              <a:ext cx="2077200" cy="1047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b="1">
                  <a:latin typeface="Roboto"/>
                  <a:ea typeface="Roboto"/>
                  <a:cs typeface="Roboto"/>
                  <a:sym typeface="Roboto"/>
                </a:rPr>
                <a:t>Valuation Metrics (To Check If a Stock Is Overpriced or Undervalued</a:t>
              </a:r>
              <a:r>
                <a:rPr lang="en" b="1">
                  <a:latin typeface="Roboto"/>
                  <a:ea typeface="Roboto"/>
                  <a:cs typeface="Roboto"/>
                  <a:sym typeface="Roboto"/>
                </a:rPr>
                <a:t>)</a:t>
              </a:r>
              <a:endParaRPr sz="1000" b="1">
                <a:latin typeface="Roboto"/>
                <a:ea typeface="Roboto"/>
                <a:cs typeface="Roboto"/>
                <a:sym typeface="Roboto"/>
              </a:endParaRPr>
            </a:p>
          </p:txBody>
        </p:sp>
        <p:cxnSp>
          <p:nvCxnSpPr>
            <p:cNvPr id="209" name="Google Shape;209;p15"/>
            <p:cNvCxnSpPr/>
            <p:nvPr/>
          </p:nvCxnSpPr>
          <p:spPr>
            <a:xfrm rot="10800000">
              <a:off x="3046834" y="2215329"/>
              <a:ext cx="1130400" cy="0"/>
            </a:xfrm>
            <a:prstGeom prst="straightConnector1">
              <a:avLst/>
            </a:prstGeom>
            <a:noFill/>
            <a:ln w="9525" cap="flat" cmpd="sng">
              <a:solidFill>
                <a:srgbClr val="C2C2C2"/>
              </a:solidFill>
              <a:prstDash val="solid"/>
              <a:round/>
              <a:headEnd type="none" w="sm" len="sm"/>
              <a:tailEnd type="none" w="sm" len="sm"/>
            </a:ln>
          </p:spPr>
        </p:cxnSp>
        <p:sp>
          <p:nvSpPr>
            <p:cNvPr id="210" name="Google Shape;210;p15"/>
            <p:cNvSpPr/>
            <p:nvPr/>
          </p:nvSpPr>
          <p:spPr>
            <a:xfrm>
              <a:off x="3020371" y="2111851"/>
              <a:ext cx="198600" cy="198300"/>
            </a:xfrm>
            <a:prstGeom prst="ellipse">
              <a:avLst/>
            </a:prstGeom>
            <a:solidFill>
              <a:srgbClr val="771E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5"/>
            <p:cNvSpPr txBox="1"/>
            <p:nvPr/>
          </p:nvSpPr>
          <p:spPr>
            <a:xfrm>
              <a:off x="2995916" y="2039231"/>
              <a:ext cx="2475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800">
                  <a:solidFill>
                    <a:srgbClr val="FFFFFF"/>
                  </a:solidFill>
                  <a:latin typeface="Roboto"/>
                  <a:ea typeface="Roboto"/>
                  <a:cs typeface="Roboto"/>
                  <a:sym typeface="Roboto"/>
                </a:rPr>
                <a:t>2</a:t>
              </a:r>
              <a:endParaRPr>
                <a:solidFill>
                  <a:srgbClr val="FFFFFF"/>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6"/>
          <p:cNvSpPr txBox="1">
            <a:spLocks noGrp="1"/>
          </p:cNvSpPr>
          <p:nvPr>
            <p:ph type="title"/>
          </p:nvPr>
        </p:nvSpPr>
        <p:spPr>
          <a:xfrm>
            <a:off x="807700" y="398825"/>
            <a:ext cx="6424200" cy="705000"/>
          </a:xfrm>
          <a:prstGeom prst="rect">
            <a:avLst/>
          </a:prstGeom>
        </p:spPr>
        <p:txBody>
          <a:bodyPr spcFirstLastPara="1" wrap="square" lIns="91425" tIns="91425" rIns="91425" bIns="91425" anchor="t" anchorCtr="0">
            <a:normAutofit/>
          </a:bodyPr>
          <a:lstStyle/>
          <a:p>
            <a:pPr marL="457200" lvl="0" indent="-387350" algn="l" rtl="0">
              <a:spcBef>
                <a:spcPts val="0"/>
              </a:spcBef>
              <a:spcAft>
                <a:spcPts val="0"/>
              </a:spcAft>
              <a:buSzPts val="2500"/>
              <a:buChar char="●"/>
            </a:pPr>
            <a:r>
              <a:rPr lang="en" sz="2500"/>
              <a:t>Comprehensive Ranking Criteria</a:t>
            </a:r>
            <a:endParaRPr sz="2500"/>
          </a:p>
        </p:txBody>
      </p:sp>
      <p:grpSp>
        <p:nvGrpSpPr>
          <p:cNvPr id="217" name="Google Shape;217;p16"/>
          <p:cNvGrpSpPr/>
          <p:nvPr/>
        </p:nvGrpSpPr>
        <p:grpSpPr>
          <a:xfrm>
            <a:off x="424825" y="1253973"/>
            <a:ext cx="8294371" cy="799416"/>
            <a:chOff x="424813" y="1177875"/>
            <a:chExt cx="8294371" cy="849900"/>
          </a:xfrm>
        </p:grpSpPr>
        <p:sp>
          <p:nvSpPr>
            <p:cNvPr id="218" name="Google Shape;218;p16"/>
            <p:cNvSpPr/>
            <p:nvPr/>
          </p:nvSpPr>
          <p:spPr>
            <a:xfrm>
              <a:off x="2927684" y="1177875"/>
              <a:ext cx="5791500" cy="849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6"/>
            <p:cNvSpPr/>
            <p:nvPr/>
          </p:nvSpPr>
          <p:spPr>
            <a:xfrm>
              <a:off x="424813" y="1177875"/>
              <a:ext cx="3055800" cy="849900"/>
            </a:xfrm>
            <a:prstGeom prst="homePlate">
              <a:avLst>
                <a:gd name="adj" fmla="val 26719"/>
              </a:avLst>
            </a:pr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0" name="Google Shape;220;p16"/>
          <p:cNvSpPr txBox="1"/>
          <p:nvPr/>
        </p:nvSpPr>
        <p:spPr>
          <a:xfrm>
            <a:off x="539675" y="1254200"/>
            <a:ext cx="2422500" cy="79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37474F"/>
                </a:solidFill>
                <a:latin typeface="Average"/>
                <a:ea typeface="Average"/>
                <a:cs typeface="Average"/>
                <a:sym typeface="Average"/>
              </a:rPr>
              <a:t>Profitability</a:t>
            </a:r>
            <a:endParaRPr sz="1800">
              <a:solidFill>
                <a:srgbClr val="37474F"/>
              </a:solidFill>
              <a:latin typeface="Average"/>
              <a:ea typeface="Average"/>
              <a:cs typeface="Average"/>
              <a:sym typeface="Average"/>
            </a:endParaRPr>
          </a:p>
        </p:txBody>
      </p:sp>
      <p:sp>
        <p:nvSpPr>
          <p:cNvPr id="221" name="Google Shape;221;p16"/>
          <p:cNvSpPr txBox="1"/>
          <p:nvPr/>
        </p:nvSpPr>
        <p:spPr>
          <a:xfrm>
            <a:off x="3480453" y="1254158"/>
            <a:ext cx="5111700" cy="799200"/>
          </a:xfrm>
          <a:prstGeom prst="rect">
            <a:avLst/>
          </a:prstGeom>
          <a:noFill/>
          <a:ln>
            <a:noFill/>
          </a:ln>
        </p:spPr>
        <p:txBody>
          <a:bodyPr spcFirstLastPara="1" wrap="square" lIns="91425" tIns="91425" rIns="91425" bIns="91425" anchor="ctr" anchorCtr="0">
            <a:noAutofit/>
          </a:bodyPr>
          <a:lstStyle/>
          <a:p>
            <a:pPr marL="457200" lvl="0" indent="-298450" algn="l" rtl="0">
              <a:lnSpc>
                <a:spcPct val="115000"/>
              </a:lnSpc>
              <a:spcBef>
                <a:spcPts val="0"/>
              </a:spcBef>
              <a:spcAft>
                <a:spcPts val="0"/>
              </a:spcAft>
              <a:buClr>
                <a:srgbClr val="37474F"/>
              </a:buClr>
              <a:buSzPts val="1100"/>
              <a:buFont typeface="Average"/>
              <a:buChar char="●"/>
            </a:pPr>
            <a:r>
              <a:rPr lang="en" sz="1100" b="1">
                <a:solidFill>
                  <a:srgbClr val="37474F"/>
                </a:solidFill>
                <a:latin typeface="Nunito"/>
                <a:ea typeface="Nunito"/>
                <a:cs typeface="Nunito"/>
                <a:sym typeface="Nunito"/>
              </a:rPr>
              <a:t>Net Profit Margin</a:t>
            </a:r>
            <a:r>
              <a:rPr lang="en" sz="1100">
                <a:solidFill>
                  <a:srgbClr val="37474F"/>
                </a:solidFill>
                <a:latin typeface="Nunito"/>
                <a:ea typeface="Nunito"/>
                <a:cs typeface="Nunito"/>
                <a:sym typeface="Nunito"/>
              </a:rPr>
              <a:t> = Net Income/Total Revenue</a:t>
            </a:r>
            <a:endParaRPr sz="1100">
              <a:solidFill>
                <a:srgbClr val="37474F"/>
              </a:solidFill>
              <a:latin typeface="Nunito"/>
              <a:ea typeface="Nunito"/>
              <a:cs typeface="Nunito"/>
              <a:sym typeface="Nunito"/>
            </a:endParaRPr>
          </a:p>
          <a:p>
            <a:pPr marL="457200" lvl="0" indent="-298450" algn="l" rtl="0">
              <a:lnSpc>
                <a:spcPct val="115000"/>
              </a:lnSpc>
              <a:spcBef>
                <a:spcPts val="0"/>
              </a:spcBef>
              <a:spcAft>
                <a:spcPts val="0"/>
              </a:spcAft>
              <a:buClr>
                <a:srgbClr val="37474F"/>
              </a:buClr>
              <a:buSzPts val="1100"/>
              <a:buFont typeface="Average"/>
              <a:buChar char="●"/>
            </a:pPr>
            <a:r>
              <a:rPr lang="en" sz="1000" b="1">
                <a:latin typeface="Nunito"/>
                <a:ea typeface="Nunito"/>
                <a:cs typeface="Nunito"/>
                <a:sym typeface="Nunito"/>
              </a:rPr>
              <a:t>EBITDA Margin</a:t>
            </a:r>
            <a:r>
              <a:rPr lang="en" sz="1000">
                <a:latin typeface="Nunito"/>
                <a:ea typeface="Nunito"/>
                <a:cs typeface="Nunito"/>
                <a:sym typeface="Nunito"/>
              </a:rPr>
              <a:t> = EBITDA / Total Revenue</a:t>
            </a:r>
            <a:endParaRPr sz="1000">
              <a:latin typeface="Nunito"/>
              <a:ea typeface="Nunito"/>
              <a:cs typeface="Nunito"/>
              <a:sym typeface="Nunito"/>
            </a:endParaRPr>
          </a:p>
          <a:p>
            <a:pPr marL="457200" lvl="0" indent="-298450" algn="l" rtl="0">
              <a:lnSpc>
                <a:spcPct val="115000"/>
              </a:lnSpc>
              <a:spcBef>
                <a:spcPts val="0"/>
              </a:spcBef>
              <a:spcAft>
                <a:spcPts val="0"/>
              </a:spcAft>
              <a:buClr>
                <a:srgbClr val="37474F"/>
              </a:buClr>
              <a:buSzPts val="1100"/>
              <a:buFont typeface="Average"/>
              <a:buChar char="●"/>
            </a:pPr>
            <a:r>
              <a:rPr lang="en" sz="1000" b="1">
                <a:latin typeface="Nunito"/>
                <a:ea typeface="Nunito"/>
                <a:cs typeface="Nunito"/>
                <a:sym typeface="Nunito"/>
              </a:rPr>
              <a:t>EPS Growth</a:t>
            </a:r>
            <a:r>
              <a:rPr lang="en" sz="1000">
                <a:latin typeface="Nunito"/>
                <a:ea typeface="Nunito"/>
                <a:cs typeface="Nunito"/>
                <a:sym typeface="Nunito"/>
              </a:rPr>
              <a:t> = (Current Year EPS - Previous Year EPS) / Previous Year EPS</a:t>
            </a:r>
            <a:endParaRPr sz="1000">
              <a:latin typeface="Nunito"/>
              <a:ea typeface="Nunito"/>
              <a:cs typeface="Nunito"/>
              <a:sym typeface="Nunito"/>
            </a:endParaRPr>
          </a:p>
        </p:txBody>
      </p:sp>
      <p:grpSp>
        <p:nvGrpSpPr>
          <p:cNvPr id="222" name="Google Shape;222;p16"/>
          <p:cNvGrpSpPr/>
          <p:nvPr/>
        </p:nvGrpSpPr>
        <p:grpSpPr>
          <a:xfrm>
            <a:off x="424825" y="2127339"/>
            <a:ext cx="8294360" cy="799416"/>
            <a:chOff x="424813" y="2075689"/>
            <a:chExt cx="8294360" cy="849900"/>
          </a:xfrm>
        </p:grpSpPr>
        <p:sp>
          <p:nvSpPr>
            <p:cNvPr id="223" name="Google Shape;223;p16"/>
            <p:cNvSpPr/>
            <p:nvPr/>
          </p:nvSpPr>
          <p:spPr>
            <a:xfrm>
              <a:off x="2927672" y="2075689"/>
              <a:ext cx="5791500" cy="849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6"/>
            <p:cNvSpPr/>
            <p:nvPr/>
          </p:nvSpPr>
          <p:spPr>
            <a:xfrm>
              <a:off x="424813" y="2075689"/>
              <a:ext cx="3055800" cy="849900"/>
            </a:xfrm>
            <a:prstGeom prst="homePlate">
              <a:avLst>
                <a:gd name="adj" fmla="val 26719"/>
              </a:avLst>
            </a:pr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 name="Google Shape;225;p16"/>
          <p:cNvSpPr txBox="1"/>
          <p:nvPr/>
        </p:nvSpPr>
        <p:spPr>
          <a:xfrm>
            <a:off x="539675" y="2127450"/>
            <a:ext cx="2422500" cy="79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37474F"/>
                </a:solidFill>
                <a:latin typeface="Average"/>
                <a:ea typeface="Average"/>
                <a:cs typeface="Average"/>
                <a:sym typeface="Average"/>
              </a:rPr>
              <a:t>Growth Potential</a:t>
            </a:r>
            <a:endParaRPr sz="1800">
              <a:solidFill>
                <a:srgbClr val="37474F"/>
              </a:solidFill>
              <a:latin typeface="Average"/>
              <a:ea typeface="Average"/>
              <a:cs typeface="Average"/>
              <a:sym typeface="Average"/>
            </a:endParaRPr>
          </a:p>
        </p:txBody>
      </p:sp>
      <p:sp>
        <p:nvSpPr>
          <p:cNvPr id="226" name="Google Shape;226;p16"/>
          <p:cNvSpPr txBox="1"/>
          <p:nvPr/>
        </p:nvSpPr>
        <p:spPr>
          <a:xfrm>
            <a:off x="3480450" y="2221673"/>
            <a:ext cx="5111700" cy="705000"/>
          </a:xfrm>
          <a:prstGeom prst="rect">
            <a:avLst/>
          </a:prstGeom>
          <a:noFill/>
          <a:ln>
            <a:noFill/>
          </a:ln>
        </p:spPr>
        <p:txBody>
          <a:bodyPr spcFirstLastPara="1" wrap="square" lIns="91425" tIns="91425" rIns="91425" bIns="91425" anchor="ctr" anchorCtr="0">
            <a:noAutofit/>
          </a:bodyPr>
          <a:lstStyle/>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Revenue Growth</a:t>
            </a:r>
            <a:r>
              <a:rPr lang="en" sz="1100">
                <a:latin typeface="Nunito"/>
                <a:ea typeface="Nunito"/>
                <a:cs typeface="Nunito"/>
                <a:sym typeface="Nunito"/>
              </a:rPr>
              <a:t> = (Current Year Revenue - Previous Year Revenue) / Previous Year Revenue</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Growth</a:t>
            </a:r>
            <a:r>
              <a:rPr lang="en" sz="1100">
                <a:latin typeface="Nunito"/>
                <a:ea typeface="Nunito"/>
                <a:cs typeface="Nunito"/>
                <a:sym typeface="Nunito"/>
              </a:rPr>
              <a:t> = (Current Year EBITDA - Previous Year EBITDA) / Previous Year EBITDA</a:t>
            </a:r>
            <a:endParaRPr sz="1900">
              <a:solidFill>
                <a:srgbClr val="37474F"/>
              </a:solidFill>
              <a:latin typeface="Nunito"/>
              <a:ea typeface="Nunito"/>
              <a:cs typeface="Nunito"/>
              <a:sym typeface="Nunito"/>
            </a:endParaRPr>
          </a:p>
        </p:txBody>
      </p:sp>
      <p:grpSp>
        <p:nvGrpSpPr>
          <p:cNvPr id="227" name="Google Shape;227;p16"/>
          <p:cNvGrpSpPr/>
          <p:nvPr/>
        </p:nvGrpSpPr>
        <p:grpSpPr>
          <a:xfrm>
            <a:off x="424825" y="3000705"/>
            <a:ext cx="8294360" cy="799447"/>
            <a:chOff x="424813" y="2974405"/>
            <a:chExt cx="8294360" cy="849933"/>
          </a:xfrm>
        </p:grpSpPr>
        <p:sp>
          <p:nvSpPr>
            <p:cNvPr id="228" name="Google Shape;228;p16"/>
            <p:cNvSpPr/>
            <p:nvPr/>
          </p:nvSpPr>
          <p:spPr>
            <a:xfrm>
              <a:off x="2927672" y="2974438"/>
              <a:ext cx="5791500" cy="849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6"/>
            <p:cNvSpPr/>
            <p:nvPr/>
          </p:nvSpPr>
          <p:spPr>
            <a:xfrm>
              <a:off x="424813" y="2974405"/>
              <a:ext cx="3055800" cy="849900"/>
            </a:xfrm>
            <a:prstGeom prst="homePlate">
              <a:avLst>
                <a:gd name="adj" fmla="val 26719"/>
              </a:avLst>
            </a:pr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0" name="Google Shape;230;p16"/>
          <p:cNvSpPr txBox="1"/>
          <p:nvPr/>
        </p:nvSpPr>
        <p:spPr>
          <a:xfrm>
            <a:off x="539675" y="3000775"/>
            <a:ext cx="2422500" cy="79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37474F"/>
                </a:solidFill>
                <a:latin typeface="Average"/>
                <a:ea typeface="Average"/>
                <a:cs typeface="Average"/>
                <a:sym typeface="Average"/>
              </a:rPr>
              <a:t>Financial Stability</a:t>
            </a:r>
            <a:endParaRPr sz="1800">
              <a:solidFill>
                <a:srgbClr val="37474F"/>
              </a:solidFill>
              <a:latin typeface="Average"/>
              <a:ea typeface="Average"/>
              <a:cs typeface="Average"/>
              <a:sym typeface="Average"/>
            </a:endParaRPr>
          </a:p>
        </p:txBody>
      </p:sp>
      <p:sp>
        <p:nvSpPr>
          <p:cNvPr id="231" name="Google Shape;231;p16"/>
          <p:cNvSpPr txBox="1"/>
          <p:nvPr/>
        </p:nvSpPr>
        <p:spPr>
          <a:xfrm>
            <a:off x="3480453" y="3004317"/>
            <a:ext cx="5111700" cy="799200"/>
          </a:xfrm>
          <a:prstGeom prst="rect">
            <a:avLst/>
          </a:prstGeom>
          <a:noFill/>
          <a:ln>
            <a:noFill/>
          </a:ln>
        </p:spPr>
        <p:txBody>
          <a:bodyPr spcFirstLastPara="1" wrap="square" lIns="91425" tIns="91425" rIns="91425" bIns="91425" anchor="ctr" anchorCtr="0">
            <a:noAutofit/>
          </a:bodyPr>
          <a:lstStyle/>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Interest Coverage Ratio</a:t>
            </a:r>
            <a:r>
              <a:rPr lang="en" sz="1100">
                <a:latin typeface="Nunito"/>
                <a:ea typeface="Nunito"/>
                <a:cs typeface="Nunito"/>
                <a:sym typeface="Nunito"/>
              </a:rPr>
              <a:t> = EBIT / Interest Expense</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Debt-to-EBITDA Ratio</a:t>
            </a:r>
            <a:r>
              <a:rPr lang="en" sz="1100">
                <a:latin typeface="Nunito"/>
                <a:ea typeface="Nunito"/>
                <a:cs typeface="Nunito"/>
                <a:sym typeface="Nunito"/>
              </a:rPr>
              <a:t> = Total Expenses / EBITDA</a:t>
            </a:r>
            <a:endParaRPr sz="1100">
              <a:solidFill>
                <a:srgbClr val="37474F"/>
              </a:solidFill>
              <a:latin typeface="Nunito"/>
              <a:ea typeface="Nunito"/>
              <a:cs typeface="Nunito"/>
              <a:sym typeface="Nunito"/>
            </a:endParaRPr>
          </a:p>
        </p:txBody>
      </p:sp>
      <p:grpSp>
        <p:nvGrpSpPr>
          <p:cNvPr id="232" name="Google Shape;232;p16"/>
          <p:cNvGrpSpPr/>
          <p:nvPr/>
        </p:nvGrpSpPr>
        <p:grpSpPr>
          <a:xfrm>
            <a:off x="424825" y="3874103"/>
            <a:ext cx="8294360" cy="799447"/>
            <a:chOff x="424813" y="3871259"/>
            <a:chExt cx="8294360" cy="849933"/>
          </a:xfrm>
        </p:grpSpPr>
        <p:sp>
          <p:nvSpPr>
            <p:cNvPr id="233" name="Google Shape;233;p16"/>
            <p:cNvSpPr/>
            <p:nvPr/>
          </p:nvSpPr>
          <p:spPr>
            <a:xfrm>
              <a:off x="2927672" y="3871292"/>
              <a:ext cx="5791500" cy="849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6"/>
            <p:cNvSpPr/>
            <p:nvPr/>
          </p:nvSpPr>
          <p:spPr>
            <a:xfrm>
              <a:off x="424813" y="3871259"/>
              <a:ext cx="3055800" cy="849900"/>
            </a:xfrm>
            <a:prstGeom prst="homePlate">
              <a:avLst>
                <a:gd name="adj" fmla="val 26719"/>
              </a:avLst>
            </a:pr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5" name="Google Shape;235;p16"/>
          <p:cNvSpPr txBox="1"/>
          <p:nvPr/>
        </p:nvSpPr>
        <p:spPr>
          <a:xfrm>
            <a:off x="539675" y="3874100"/>
            <a:ext cx="2422500" cy="79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37474F"/>
                </a:solidFill>
                <a:latin typeface="Average"/>
                <a:ea typeface="Average"/>
                <a:cs typeface="Average"/>
                <a:sym typeface="Average"/>
              </a:rPr>
              <a:t>Investment Quality</a:t>
            </a:r>
            <a:endParaRPr sz="1800">
              <a:solidFill>
                <a:srgbClr val="37474F"/>
              </a:solidFill>
              <a:latin typeface="Average"/>
              <a:ea typeface="Average"/>
              <a:cs typeface="Average"/>
              <a:sym typeface="Average"/>
            </a:endParaRPr>
          </a:p>
        </p:txBody>
      </p:sp>
      <p:sp>
        <p:nvSpPr>
          <p:cNvPr id="236" name="Google Shape;236;p16"/>
          <p:cNvSpPr txBox="1"/>
          <p:nvPr/>
        </p:nvSpPr>
        <p:spPr>
          <a:xfrm>
            <a:off x="3480453" y="3876311"/>
            <a:ext cx="5111700" cy="799200"/>
          </a:xfrm>
          <a:prstGeom prst="rect">
            <a:avLst/>
          </a:prstGeom>
          <a:noFill/>
          <a:ln>
            <a:noFill/>
          </a:ln>
        </p:spPr>
        <p:txBody>
          <a:bodyPr spcFirstLastPara="1" wrap="square" lIns="91425" tIns="91425" rIns="91425" bIns="91425" anchor="ctr" anchorCtr="0">
            <a:noAutofit/>
          </a:bodyPr>
          <a:lstStyle/>
          <a:p>
            <a:pPr marL="457200" lvl="0" indent="-298450" algn="l" rtl="0">
              <a:lnSpc>
                <a:spcPct val="115000"/>
              </a:lnSpc>
              <a:spcBef>
                <a:spcPts val="0"/>
              </a:spcBef>
              <a:spcAft>
                <a:spcPts val="0"/>
              </a:spcAft>
              <a:buClr>
                <a:srgbClr val="37474F"/>
              </a:buClr>
              <a:buSzPts val="1100"/>
              <a:buFont typeface="Nunito"/>
              <a:buChar char="●"/>
            </a:pPr>
            <a:r>
              <a:rPr lang="en" sz="1100">
                <a:solidFill>
                  <a:srgbClr val="37474F"/>
                </a:solidFill>
                <a:latin typeface="Nunito"/>
                <a:ea typeface="Nunito"/>
                <a:cs typeface="Nunito"/>
                <a:sym typeface="Nunito"/>
              </a:rPr>
              <a:t>Weighted ranking and assigning Quality score based on all factors</a:t>
            </a:r>
            <a:endParaRPr sz="1100">
              <a:solidFill>
                <a:srgbClr val="37474F"/>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7"/>
          <p:cNvSpPr txBox="1">
            <a:spLocks noGrp="1"/>
          </p:cNvSpPr>
          <p:nvPr>
            <p:ph type="title"/>
          </p:nvPr>
        </p:nvSpPr>
        <p:spPr>
          <a:xfrm>
            <a:off x="807700" y="398825"/>
            <a:ext cx="6424200" cy="705000"/>
          </a:xfrm>
          <a:prstGeom prst="rect">
            <a:avLst/>
          </a:prstGeom>
        </p:spPr>
        <p:txBody>
          <a:bodyPr spcFirstLastPara="1" wrap="square" lIns="91425" tIns="91425" rIns="91425" bIns="91425" anchor="t" anchorCtr="0">
            <a:normAutofit/>
          </a:bodyPr>
          <a:lstStyle/>
          <a:p>
            <a:pPr marL="457200" lvl="0" indent="-387350" algn="l" rtl="0">
              <a:spcBef>
                <a:spcPts val="0"/>
              </a:spcBef>
              <a:spcAft>
                <a:spcPts val="0"/>
              </a:spcAft>
              <a:buSzPts val="2500"/>
              <a:buChar char="●"/>
            </a:pPr>
            <a:r>
              <a:rPr lang="en" sz="2500"/>
              <a:t>Valuation Metrics</a:t>
            </a:r>
            <a:endParaRPr sz="2500"/>
          </a:p>
        </p:txBody>
      </p:sp>
      <p:grpSp>
        <p:nvGrpSpPr>
          <p:cNvPr id="242" name="Google Shape;242;p17"/>
          <p:cNvGrpSpPr/>
          <p:nvPr/>
        </p:nvGrpSpPr>
        <p:grpSpPr>
          <a:xfrm>
            <a:off x="424825" y="1253973"/>
            <a:ext cx="8294371" cy="799416"/>
            <a:chOff x="424813" y="1177875"/>
            <a:chExt cx="8294371" cy="849900"/>
          </a:xfrm>
        </p:grpSpPr>
        <p:sp>
          <p:nvSpPr>
            <p:cNvPr id="243" name="Google Shape;243;p17"/>
            <p:cNvSpPr/>
            <p:nvPr/>
          </p:nvSpPr>
          <p:spPr>
            <a:xfrm>
              <a:off x="2927684" y="1177875"/>
              <a:ext cx="5791500" cy="849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7"/>
            <p:cNvSpPr/>
            <p:nvPr/>
          </p:nvSpPr>
          <p:spPr>
            <a:xfrm>
              <a:off x="424813" y="1177875"/>
              <a:ext cx="3055800" cy="849900"/>
            </a:xfrm>
            <a:prstGeom prst="homePlate">
              <a:avLst>
                <a:gd name="adj" fmla="val 26719"/>
              </a:avLst>
            </a:pr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5" name="Google Shape;245;p17"/>
          <p:cNvSpPr txBox="1"/>
          <p:nvPr/>
        </p:nvSpPr>
        <p:spPr>
          <a:xfrm>
            <a:off x="539675" y="1254200"/>
            <a:ext cx="2422500" cy="79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chemeClr val="dk2"/>
                </a:solidFill>
                <a:latin typeface="Average"/>
                <a:ea typeface="Average"/>
                <a:cs typeface="Average"/>
                <a:sym typeface="Average"/>
              </a:rPr>
              <a:t>P/E Ratio (Price-to-Earnings Ratio)</a:t>
            </a:r>
            <a:endParaRPr sz="1600">
              <a:solidFill>
                <a:schemeClr val="dk2"/>
              </a:solidFill>
              <a:latin typeface="Average"/>
              <a:ea typeface="Average"/>
              <a:cs typeface="Average"/>
              <a:sym typeface="Average"/>
            </a:endParaRPr>
          </a:p>
        </p:txBody>
      </p:sp>
      <p:sp>
        <p:nvSpPr>
          <p:cNvPr id="246" name="Google Shape;246;p17"/>
          <p:cNvSpPr txBox="1"/>
          <p:nvPr/>
        </p:nvSpPr>
        <p:spPr>
          <a:xfrm>
            <a:off x="3480453" y="1254158"/>
            <a:ext cx="5111700" cy="799200"/>
          </a:xfrm>
          <a:prstGeom prst="rect">
            <a:avLst/>
          </a:prstGeom>
          <a:noFill/>
          <a:ln>
            <a:noFill/>
          </a:ln>
        </p:spPr>
        <p:txBody>
          <a:bodyPr spcFirstLastPara="1" wrap="square" lIns="91425" tIns="91425" rIns="91425" bIns="91425" anchor="ctr" anchorCtr="0">
            <a:noAutofit/>
          </a:bodyPr>
          <a:lstStyle/>
          <a:p>
            <a:pPr marL="457200" lvl="0" indent="-317500" algn="l" rtl="0">
              <a:lnSpc>
                <a:spcPct val="115000"/>
              </a:lnSpc>
              <a:spcBef>
                <a:spcPts val="0"/>
              </a:spcBef>
              <a:spcAft>
                <a:spcPts val="0"/>
              </a:spcAft>
              <a:buClr>
                <a:schemeClr val="dk2"/>
              </a:buClr>
              <a:buSzPts val="1400"/>
              <a:buFont typeface="Average"/>
              <a:buChar char="●"/>
            </a:pPr>
            <a:r>
              <a:rPr lang="en" b="1">
                <a:solidFill>
                  <a:schemeClr val="dk2"/>
                </a:solidFill>
                <a:latin typeface="Nunito"/>
                <a:ea typeface="Nunito"/>
                <a:cs typeface="Nunito"/>
                <a:sym typeface="Nunito"/>
              </a:rPr>
              <a:t>Lower means undervalued, higher means expensive.</a:t>
            </a:r>
            <a:endParaRPr>
              <a:solidFill>
                <a:schemeClr val="dk2"/>
              </a:solidFill>
              <a:latin typeface="Nunito"/>
              <a:ea typeface="Nunito"/>
              <a:cs typeface="Nunito"/>
              <a:sym typeface="Nunito"/>
            </a:endParaRPr>
          </a:p>
        </p:txBody>
      </p:sp>
      <p:grpSp>
        <p:nvGrpSpPr>
          <p:cNvPr id="247" name="Google Shape;247;p17"/>
          <p:cNvGrpSpPr/>
          <p:nvPr/>
        </p:nvGrpSpPr>
        <p:grpSpPr>
          <a:xfrm>
            <a:off x="424825" y="2127339"/>
            <a:ext cx="8294360" cy="799416"/>
            <a:chOff x="424813" y="2075689"/>
            <a:chExt cx="8294360" cy="849900"/>
          </a:xfrm>
        </p:grpSpPr>
        <p:sp>
          <p:nvSpPr>
            <p:cNvPr id="248" name="Google Shape;248;p17"/>
            <p:cNvSpPr/>
            <p:nvPr/>
          </p:nvSpPr>
          <p:spPr>
            <a:xfrm>
              <a:off x="2927672" y="2075689"/>
              <a:ext cx="5791500" cy="849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7"/>
            <p:cNvSpPr/>
            <p:nvPr/>
          </p:nvSpPr>
          <p:spPr>
            <a:xfrm>
              <a:off x="424813" y="2075689"/>
              <a:ext cx="3055800" cy="849900"/>
            </a:xfrm>
            <a:prstGeom prst="homePlate">
              <a:avLst>
                <a:gd name="adj" fmla="val 26719"/>
              </a:avLst>
            </a:pr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0" name="Google Shape;250;p17"/>
          <p:cNvSpPr txBox="1"/>
          <p:nvPr/>
        </p:nvSpPr>
        <p:spPr>
          <a:xfrm>
            <a:off x="539675" y="2127450"/>
            <a:ext cx="2422500" cy="79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chemeClr val="dk2"/>
                </a:solidFill>
                <a:latin typeface="Average"/>
                <a:ea typeface="Average"/>
                <a:cs typeface="Average"/>
                <a:sym typeface="Average"/>
              </a:rPr>
              <a:t>P/B Ratio (Price-to-Book Ratio)</a:t>
            </a:r>
            <a:endParaRPr sz="1600">
              <a:solidFill>
                <a:schemeClr val="dk2"/>
              </a:solidFill>
              <a:latin typeface="Average"/>
              <a:ea typeface="Average"/>
              <a:cs typeface="Average"/>
              <a:sym typeface="Average"/>
            </a:endParaRPr>
          </a:p>
        </p:txBody>
      </p:sp>
      <p:sp>
        <p:nvSpPr>
          <p:cNvPr id="251" name="Google Shape;251;p17"/>
          <p:cNvSpPr txBox="1"/>
          <p:nvPr/>
        </p:nvSpPr>
        <p:spPr>
          <a:xfrm>
            <a:off x="3480450" y="2221673"/>
            <a:ext cx="5111700" cy="705000"/>
          </a:xfrm>
          <a:prstGeom prst="rect">
            <a:avLst/>
          </a:prstGeom>
          <a:noFill/>
          <a:ln>
            <a:noFill/>
          </a:ln>
        </p:spPr>
        <p:txBody>
          <a:bodyPr spcFirstLastPara="1" wrap="square" lIns="91425" tIns="91425" rIns="91425" bIns="91425" anchor="ctr" anchorCtr="0">
            <a:noAutofit/>
          </a:bodyPr>
          <a:lstStyle/>
          <a:p>
            <a:pPr marL="457200" lvl="0" indent="-317500" algn="l" rtl="0">
              <a:lnSpc>
                <a:spcPct val="115000"/>
              </a:lnSpc>
              <a:spcBef>
                <a:spcPts val="0"/>
              </a:spcBef>
              <a:spcAft>
                <a:spcPts val="0"/>
              </a:spcAft>
              <a:buClr>
                <a:schemeClr val="dk2"/>
              </a:buClr>
              <a:buSzPts val="1400"/>
              <a:buChar char="●"/>
            </a:pPr>
            <a:r>
              <a:rPr lang="en" b="1">
                <a:solidFill>
                  <a:schemeClr val="dk2"/>
                </a:solidFill>
                <a:latin typeface="Nunito"/>
                <a:ea typeface="Nunito"/>
                <a:cs typeface="Nunito"/>
                <a:sym typeface="Nunito"/>
              </a:rPr>
              <a:t> Measures how much investors are paying relative to the company's assets.</a:t>
            </a:r>
            <a:endParaRPr>
              <a:solidFill>
                <a:schemeClr val="dk2"/>
              </a:solidFill>
              <a:latin typeface="Nunito"/>
              <a:ea typeface="Nunito"/>
              <a:cs typeface="Nunito"/>
              <a:sym typeface="Nunito"/>
            </a:endParaRPr>
          </a:p>
        </p:txBody>
      </p:sp>
      <p:grpSp>
        <p:nvGrpSpPr>
          <p:cNvPr id="252" name="Google Shape;252;p17"/>
          <p:cNvGrpSpPr/>
          <p:nvPr/>
        </p:nvGrpSpPr>
        <p:grpSpPr>
          <a:xfrm>
            <a:off x="424825" y="3000705"/>
            <a:ext cx="8294360" cy="799447"/>
            <a:chOff x="424813" y="2974405"/>
            <a:chExt cx="8294360" cy="849933"/>
          </a:xfrm>
        </p:grpSpPr>
        <p:sp>
          <p:nvSpPr>
            <p:cNvPr id="253" name="Google Shape;253;p17"/>
            <p:cNvSpPr/>
            <p:nvPr/>
          </p:nvSpPr>
          <p:spPr>
            <a:xfrm>
              <a:off x="2927672" y="2974438"/>
              <a:ext cx="5791500" cy="849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7"/>
            <p:cNvSpPr/>
            <p:nvPr/>
          </p:nvSpPr>
          <p:spPr>
            <a:xfrm>
              <a:off x="424813" y="2974405"/>
              <a:ext cx="3055800" cy="849900"/>
            </a:xfrm>
            <a:prstGeom prst="homePlate">
              <a:avLst>
                <a:gd name="adj" fmla="val 26719"/>
              </a:avLst>
            </a:pr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5" name="Google Shape;255;p17"/>
          <p:cNvSpPr txBox="1"/>
          <p:nvPr/>
        </p:nvSpPr>
        <p:spPr>
          <a:xfrm>
            <a:off x="539675" y="3000775"/>
            <a:ext cx="2422500" cy="79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chemeClr val="dk2"/>
                </a:solidFill>
                <a:latin typeface="Average"/>
                <a:ea typeface="Average"/>
                <a:cs typeface="Average"/>
                <a:sym typeface="Average"/>
              </a:rPr>
              <a:t>EV/EBITDA (Enterprise Value to EBITDA)</a:t>
            </a:r>
            <a:endParaRPr sz="1600">
              <a:solidFill>
                <a:schemeClr val="dk2"/>
              </a:solidFill>
              <a:latin typeface="Average"/>
              <a:ea typeface="Average"/>
              <a:cs typeface="Average"/>
              <a:sym typeface="Average"/>
            </a:endParaRPr>
          </a:p>
        </p:txBody>
      </p:sp>
      <p:sp>
        <p:nvSpPr>
          <p:cNvPr id="256" name="Google Shape;256;p17"/>
          <p:cNvSpPr txBox="1"/>
          <p:nvPr/>
        </p:nvSpPr>
        <p:spPr>
          <a:xfrm>
            <a:off x="3480453" y="3004317"/>
            <a:ext cx="5111700" cy="799200"/>
          </a:xfrm>
          <a:prstGeom prst="rect">
            <a:avLst/>
          </a:prstGeom>
          <a:noFill/>
          <a:ln>
            <a:noFill/>
          </a:ln>
        </p:spPr>
        <p:txBody>
          <a:bodyPr spcFirstLastPara="1" wrap="square" lIns="91425" tIns="91425" rIns="91425" bIns="91425" anchor="ctr" anchorCtr="0">
            <a:noAutofit/>
          </a:bodyPr>
          <a:lstStyle/>
          <a:p>
            <a:pPr marL="457200" lvl="0" indent="-317500" algn="l" rtl="0">
              <a:lnSpc>
                <a:spcPct val="115000"/>
              </a:lnSpc>
              <a:spcBef>
                <a:spcPts val="0"/>
              </a:spcBef>
              <a:spcAft>
                <a:spcPts val="0"/>
              </a:spcAft>
              <a:buClr>
                <a:schemeClr val="dk2"/>
              </a:buClr>
              <a:buSzPts val="1400"/>
              <a:buChar char="●"/>
            </a:pPr>
            <a:r>
              <a:rPr lang="en" b="1">
                <a:solidFill>
                  <a:schemeClr val="dk2"/>
                </a:solidFill>
                <a:latin typeface="Nunito"/>
                <a:ea typeface="Nunito"/>
                <a:cs typeface="Nunito"/>
                <a:sym typeface="Nunito"/>
              </a:rPr>
              <a:t>A more accurate valuation metric for comparison across industries.</a:t>
            </a:r>
            <a:endParaRPr>
              <a:solidFill>
                <a:schemeClr val="dk2"/>
              </a:solidFill>
              <a:latin typeface="Nunito"/>
              <a:ea typeface="Nunito"/>
              <a:cs typeface="Nunito"/>
              <a:sym typeface="Nunito"/>
            </a:endParaRPr>
          </a:p>
        </p:txBody>
      </p:sp>
      <p:grpSp>
        <p:nvGrpSpPr>
          <p:cNvPr id="257" name="Google Shape;257;p17"/>
          <p:cNvGrpSpPr/>
          <p:nvPr/>
        </p:nvGrpSpPr>
        <p:grpSpPr>
          <a:xfrm>
            <a:off x="424825" y="3874100"/>
            <a:ext cx="8294360" cy="799449"/>
            <a:chOff x="424813" y="3871256"/>
            <a:chExt cx="8294360" cy="849936"/>
          </a:xfrm>
        </p:grpSpPr>
        <p:sp>
          <p:nvSpPr>
            <p:cNvPr id="258" name="Google Shape;258;p17"/>
            <p:cNvSpPr/>
            <p:nvPr/>
          </p:nvSpPr>
          <p:spPr>
            <a:xfrm>
              <a:off x="2927672" y="3871292"/>
              <a:ext cx="5791500" cy="849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7"/>
            <p:cNvSpPr/>
            <p:nvPr/>
          </p:nvSpPr>
          <p:spPr>
            <a:xfrm>
              <a:off x="424813" y="3871256"/>
              <a:ext cx="3055500" cy="849900"/>
            </a:xfrm>
            <a:prstGeom prst="homePlate">
              <a:avLst>
                <a:gd name="adj" fmla="val 26719"/>
              </a:avLst>
            </a:prstGeom>
            <a:solidFill>
              <a:srgbClr val="93C4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0" name="Google Shape;260;p17"/>
          <p:cNvSpPr txBox="1"/>
          <p:nvPr/>
        </p:nvSpPr>
        <p:spPr>
          <a:xfrm>
            <a:off x="539675" y="3874100"/>
            <a:ext cx="2422500" cy="79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Average"/>
                <a:ea typeface="Average"/>
                <a:cs typeface="Average"/>
                <a:sym typeface="Average"/>
              </a:rPr>
              <a:t>Why we have included this?</a:t>
            </a:r>
            <a:endParaRPr sz="1800">
              <a:solidFill>
                <a:schemeClr val="dk1"/>
              </a:solidFill>
              <a:latin typeface="Average"/>
              <a:ea typeface="Average"/>
              <a:cs typeface="Average"/>
              <a:sym typeface="Average"/>
            </a:endParaRPr>
          </a:p>
        </p:txBody>
      </p:sp>
      <p:sp>
        <p:nvSpPr>
          <p:cNvPr id="261" name="Google Shape;261;p17"/>
          <p:cNvSpPr txBox="1"/>
          <p:nvPr/>
        </p:nvSpPr>
        <p:spPr>
          <a:xfrm>
            <a:off x="3480453" y="3876311"/>
            <a:ext cx="5111700" cy="799200"/>
          </a:xfrm>
          <a:prstGeom prst="rect">
            <a:avLst/>
          </a:prstGeom>
          <a:solidFill>
            <a:schemeClr val="dk1"/>
          </a:solidFill>
          <a:ln>
            <a:noFill/>
          </a:ln>
        </p:spPr>
        <p:txBody>
          <a:bodyPr spcFirstLastPara="1" wrap="square" lIns="91425" tIns="91425" rIns="91425" bIns="91425" anchor="ctr" anchorCtr="0">
            <a:noAutofit/>
          </a:bodyPr>
          <a:lstStyle/>
          <a:p>
            <a:pPr marL="457200" lvl="0" indent="-317500" algn="l" rtl="0">
              <a:lnSpc>
                <a:spcPct val="115000"/>
              </a:lnSpc>
              <a:spcBef>
                <a:spcPts val="0"/>
              </a:spcBef>
              <a:spcAft>
                <a:spcPts val="0"/>
              </a:spcAft>
              <a:buClr>
                <a:schemeClr val="accent1"/>
              </a:buClr>
              <a:buSzPts val="1400"/>
              <a:buFont typeface="Nunito"/>
              <a:buAutoNum type="arabicPeriod"/>
            </a:pPr>
            <a:r>
              <a:rPr lang="en">
                <a:solidFill>
                  <a:schemeClr val="accent1"/>
                </a:solidFill>
                <a:latin typeface="Nunito"/>
                <a:ea typeface="Nunito"/>
                <a:cs typeface="Nunito"/>
                <a:sym typeface="Nunito"/>
              </a:rPr>
              <a:t>Helps identify </a:t>
            </a:r>
            <a:r>
              <a:rPr lang="en" b="1">
                <a:solidFill>
                  <a:schemeClr val="accent1"/>
                </a:solidFill>
                <a:latin typeface="Nunito"/>
                <a:ea typeface="Nunito"/>
                <a:cs typeface="Nunito"/>
                <a:sym typeface="Nunito"/>
              </a:rPr>
              <a:t>undervalued stocks</a:t>
            </a:r>
            <a:r>
              <a:rPr lang="en">
                <a:solidFill>
                  <a:schemeClr val="accent1"/>
                </a:solidFill>
                <a:latin typeface="Nunito"/>
                <a:ea typeface="Nunito"/>
                <a:cs typeface="Nunito"/>
                <a:sym typeface="Nunito"/>
              </a:rPr>
              <a:t> with strong financials.</a:t>
            </a:r>
            <a:endParaRPr>
              <a:solidFill>
                <a:schemeClr val="accent1"/>
              </a:solidFill>
              <a:latin typeface="Nunito"/>
              <a:ea typeface="Nunito"/>
              <a:cs typeface="Nunito"/>
              <a:sym typeface="Nunito"/>
            </a:endParaRPr>
          </a:p>
          <a:p>
            <a:pPr marL="457200" lvl="0" indent="-317500" algn="l" rtl="0">
              <a:lnSpc>
                <a:spcPct val="115000"/>
              </a:lnSpc>
              <a:spcBef>
                <a:spcPts val="0"/>
              </a:spcBef>
              <a:spcAft>
                <a:spcPts val="0"/>
              </a:spcAft>
              <a:buClr>
                <a:schemeClr val="accent1"/>
              </a:buClr>
              <a:buSzPts val="1400"/>
              <a:buFont typeface="Nunito"/>
              <a:buAutoNum type="arabicPeriod"/>
            </a:pPr>
            <a:r>
              <a:rPr lang="en">
                <a:solidFill>
                  <a:schemeClr val="accent1"/>
                </a:solidFill>
                <a:latin typeface="Nunito"/>
                <a:ea typeface="Nunito"/>
                <a:cs typeface="Nunito"/>
                <a:sym typeface="Nunito"/>
              </a:rPr>
              <a:t>Avoids buying </a:t>
            </a:r>
            <a:r>
              <a:rPr lang="en" b="1">
                <a:solidFill>
                  <a:schemeClr val="accent1"/>
                </a:solidFill>
                <a:latin typeface="Nunito"/>
                <a:ea typeface="Nunito"/>
                <a:cs typeface="Nunito"/>
                <a:sym typeface="Nunito"/>
              </a:rPr>
              <a:t>overpriced stocks</a:t>
            </a:r>
            <a:r>
              <a:rPr lang="en">
                <a:solidFill>
                  <a:schemeClr val="accent1"/>
                </a:solidFill>
                <a:latin typeface="Nunito"/>
                <a:ea typeface="Nunito"/>
                <a:cs typeface="Nunito"/>
                <a:sym typeface="Nunito"/>
              </a:rPr>
              <a:t> that may decline.</a:t>
            </a:r>
            <a:endParaRPr>
              <a:solidFill>
                <a:schemeClr val="accent1"/>
              </a:solidFill>
              <a:latin typeface="Nunito"/>
              <a:ea typeface="Nunito"/>
              <a:cs typeface="Nunito"/>
              <a:sym typeface="Nunito"/>
            </a:endParaRPr>
          </a:p>
        </p:txBody>
      </p:sp>
      <p:sp>
        <p:nvSpPr>
          <p:cNvPr id="262" name="Google Shape;262;p17"/>
          <p:cNvSpPr/>
          <p:nvPr/>
        </p:nvSpPr>
        <p:spPr>
          <a:xfrm>
            <a:off x="2785975" y="3880850"/>
            <a:ext cx="817500" cy="799500"/>
          </a:xfrm>
          <a:prstGeom prst="flowChartDelay">
            <a:avLst/>
          </a:prstGeom>
          <a:solidFill>
            <a:srgbClr val="93C47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8"/>
          <p:cNvSpPr txBox="1">
            <a:spLocks noGrp="1"/>
          </p:cNvSpPr>
          <p:nvPr>
            <p:ph type="title"/>
          </p:nvPr>
        </p:nvSpPr>
        <p:spPr>
          <a:xfrm>
            <a:off x="807700" y="398825"/>
            <a:ext cx="6424200" cy="705000"/>
          </a:xfrm>
          <a:prstGeom prst="rect">
            <a:avLst/>
          </a:prstGeom>
        </p:spPr>
        <p:txBody>
          <a:bodyPr spcFirstLastPara="1" wrap="square" lIns="91425" tIns="91425" rIns="91425" bIns="91425" anchor="t" anchorCtr="0">
            <a:normAutofit/>
          </a:bodyPr>
          <a:lstStyle/>
          <a:p>
            <a:pPr marL="457200" lvl="0" indent="-387350" algn="l" rtl="0">
              <a:spcBef>
                <a:spcPts val="0"/>
              </a:spcBef>
              <a:spcAft>
                <a:spcPts val="0"/>
              </a:spcAft>
              <a:buSzPts val="2500"/>
              <a:buChar char="●"/>
            </a:pPr>
            <a:r>
              <a:rPr lang="en" sz="2500"/>
              <a:t>Return on Investment Metric </a:t>
            </a:r>
            <a:endParaRPr sz="2500"/>
          </a:p>
        </p:txBody>
      </p:sp>
      <p:grpSp>
        <p:nvGrpSpPr>
          <p:cNvPr id="268" name="Google Shape;268;p18"/>
          <p:cNvGrpSpPr/>
          <p:nvPr/>
        </p:nvGrpSpPr>
        <p:grpSpPr>
          <a:xfrm>
            <a:off x="424825" y="1253973"/>
            <a:ext cx="8294371" cy="799416"/>
            <a:chOff x="424813" y="1177875"/>
            <a:chExt cx="8294371" cy="849900"/>
          </a:xfrm>
        </p:grpSpPr>
        <p:sp>
          <p:nvSpPr>
            <p:cNvPr id="269" name="Google Shape;269;p18"/>
            <p:cNvSpPr/>
            <p:nvPr/>
          </p:nvSpPr>
          <p:spPr>
            <a:xfrm>
              <a:off x="2927684" y="1177875"/>
              <a:ext cx="5791500" cy="849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8"/>
            <p:cNvSpPr/>
            <p:nvPr/>
          </p:nvSpPr>
          <p:spPr>
            <a:xfrm>
              <a:off x="424813" y="1177875"/>
              <a:ext cx="3055800" cy="849900"/>
            </a:xfrm>
            <a:prstGeom prst="homePlate">
              <a:avLst>
                <a:gd name="adj" fmla="val 26719"/>
              </a:avLst>
            </a:pr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1" name="Google Shape;271;p18"/>
          <p:cNvSpPr txBox="1"/>
          <p:nvPr/>
        </p:nvSpPr>
        <p:spPr>
          <a:xfrm>
            <a:off x="539675" y="1254200"/>
            <a:ext cx="2567100" cy="79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500">
                <a:solidFill>
                  <a:schemeClr val="dk2"/>
                </a:solidFill>
                <a:latin typeface="Average"/>
                <a:ea typeface="Average"/>
                <a:cs typeface="Average"/>
                <a:sym typeface="Average"/>
              </a:rPr>
              <a:t>ROE (Return on Equity) = Net Income / Shareholder’s Equity </a:t>
            </a:r>
            <a:endParaRPr sz="1500">
              <a:solidFill>
                <a:schemeClr val="dk2"/>
              </a:solidFill>
              <a:latin typeface="Average"/>
              <a:ea typeface="Average"/>
              <a:cs typeface="Average"/>
              <a:sym typeface="Average"/>
            </a:endParaRPr>
          </a:p>
        </p:txBody>
      </p:sp>
      <p:sp>
        <p:nvSpPr>
          <p:cNvPr id="272" name="Google Shape;272;p18"/>
          <p:cNvSpPr txBox="1"/>
          <p:nvPr/>
        </p:nvSpPr>
        <p:spPr>
          <a:xfrm>
            <a:off x="3480453" y="1254158"/>
            <a:ext cx="5111700" cy="799200"/>
          </a:xfrm>
          <a:prstGeom prst="rect">
            <a:avLst/>
          </a:prstGeom>
          <a:noFill/>
          <a:ln>
            <a:noFill/>
          </a:ln>
        </p:spPr>
        <p:txBody>
          <a:bodyPr spcFirstLastPara="1" wrap="square" lIns="91425" tIns="91425" rIns="91425" bIns="91425" anchor="ctr" anchorCtr="0">
            <a:noAutofit/>
          </a:bodyPr>
          <a:lstStyle/>
          <a:p>
            <a:pPr marL="457200" lvl="0" indent="-317500" algn="l" rtl="0">
              <a:lnSpc>
                <a:spcPct val="115000"/>
              </a:lnSpc>
              <a:spcBef>
                <a:spcPts val="0"/>
              </a:spcBef>
              <a:spcAft>
                <a:spcPts val="0"/>
              </a:spcAft>
              <a:buClr>
                <a:srgbClr val="37474F"/>
              </a:buClr>
              <a:buSzPts val="1400"/>
              <a:buFont typeface="Average"/>
              <a:buChar char="●"/>
            </a:pPr>
            <a:r>
              <a:rPr lang="en" b="1">
                <a:solidFill>
                  <a:srgbClr val="37474F"/>
                </a:solidFill>
                <a:latin typeface="Nunito"/>
                <a:ea typeface="Nunito"/>
                <a:cs typeface="Nunito"/>
                <a:sym typeface="Nunito"/>
              </a:rPr>
              <a:t>Measures how well a company generates profits from its equity.</a:t>
            </a:r>
            <a:endParaRPr b="1">
              <a:latin typeface="Nunito"/>
              <a:ea typeface="Nunito"/>
              <a:cs typeface="Nunito"/>
              <a:sym typeface="Nunito"/>
            </a:endParaRPr>
          </a:p>
        </p:txBody>
      </p:sp>
      <p:grpSp>
        <p:nvGrpSpPr>
          <p:cNvPr id="273" name="Google Shape;273;p18"/>
          <p:cNvGrpSpPr/>
          <p:nvPr/>
        </p:nvGrpSpPr>
        <p:grpSpPr>
          <a:xfrm>
            <a:off x="424825" y="2127339"/>
            <a:ext cx="8294360" cy="799416"/>
            <a:chOff x="424813" y="2075689"/>
            <a:chExt cx="8294360" cy="849900"/>
          </a:xfrm>
        </p:grpSpPr>
        <p:sp>
          <p:nvSpPr>
            <p:cNvPr id="274" name="Google Shape;274;p18"/>
            <p:cNvSpPr/>
            <p:nvPr/>
          </p:nvSpPr>
          <p:spPr>
            <a:xfrm>
              <a:off x="2927672" y="2075689"/>
              <a:ext cx="5791500" cy="849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8"/>
            <p:cNvSpPr/>
            <p:nvPr/>
          </p:nvSpPr>
          <p:spPr>
            <a:xfrm>
              <a:off x="424813" y="2075689"/>
              <a:ext cx="3055800" cy="849900"/>
            </a:xfrm>
            <a:prstGeom prst="homePlate">
              <a:avLst>
                <a:gd name="adj" fmla="val 26719"/>
              </a:avLst>
            </a:pr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6" name="Google Shape;276;p18"/>
          <p:cNvSpPr txBox="1"/>
          <p:nvPr/>
        </p:nvSpPr>
        <p:spPr>
          <a:xfrm>
            <a:off x="539675" y="2127450"/>
            <a:ext cx="2613000" cy="79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500">
                <a:solidFill>
                  <a:schemeClr val="dk2"/>
                </a:solidFill>
                <a:latin typeface="Average"/>
                <a:ea typeface="Average"/>
                <a:cs typeface="Average"/>
                <a:sym typeface="Average"/>
              </a:rPr>
              <a:t>ROA (Return on Assets) = Net Income / Total Assets</a:t>
            </a:r>
            <a:endParaRPr sz="1500">
              <a:solidFill>
                <a:schemeClr val="dk2"/>
              </a:solidFill>
              <a:latin typeface="Average"/>
              <a:ea typeface="Average"/>
              <a:cs typeface="Average"/>
              <a:sym typeface="Average"/>
            </a:endParaRPr>
          </a:p>
        </p:txBody>
      </p:sp>
      <p:sp>
        <p:nvSpPr>
          <p:cNvPr id="277" name="Google Shape;277;p18"/>
          <p:cNvSpPr txBox="1"/>
          <p:nvPr/>
        </p:nvSpPr>
        <p:spPr>
          <a:xfrm>
            <a:off x="3480450" y="2221673"/>
            <a:ext cx="5111700" cy="705000"/>
          </a:xfrm>
          <a:prstGeom prst="rect">
            <a:avLst/>
          </a:prstGeom>
          <a:noFill/>
          <a:ln>
            <a:noFill/>
          </a:ln>
        </p:spPr>
        <p:txBody>
          <a:bodyPr spcFirstLastPara="1" wrap="square" lIns="91425" tIns="91425" rIns="91425" bIns="91425" anchor="ctr" anchorCtr="0">
            <a:noAutofit/>
          </a:bodyPr>
          <a:lstStyle/>
          <a:p>
            <a:pPr marL="457200" lvl="0" indent="-317500" algn="l" rtl="0">
              <a:lnSpc>
                <a:spcPct val="115000"/>
              </a:lnSpc>
              <a:spcBef>
                <a:spcPts val="0"/>
              </a:spcBef>
              <a:spcAft>
                <a:spcPts val="0"/>
              </a:spcAft>
              <a:buClr>
                <a:schemeClr val="dk2"/>
              </a:buClr>
              <a:buSzPts val="1400"/>
              <a:buChar char="●"/>
            </a:pPr>
            <a:r>
              <a:rPr lang="en" b="1">
                <a:solidFill>
                  <a:schemeClr val="dk2"/>
                </a:solidFill>
                <a:latin typeface="Nunito"/>
                <a:ea typeface="Nunito"/>
                <a:cs typeface="Nunito"/>
                <a:sym typeface="Nunito"/>
              </a:rPr>
              <a:t>Shows how efficiently a company uses its assets to generate profit.</a:t>
            </a:r>
            <a:endParaRPr b="1">
              <a:solidFill>
                <a:schemeClr val="dk2"/>
              </a:solidFill>
              <a:latin typeface="Nunito"/>
              <a:ea typeface="Nunito"/>
              <a:cs typeface="Nunito"/>
              <a:sym typeface="Nunito"/>
            </a:endParaRPr>
          </a:p>
        </p:txBody>
      </p:sp>
      <p:grpSp>
        <p:nvGrpSpPr>
          <p:cNvPr id="278" name="Google Shape;278;p18"/>
          <p:cNvGrpSpPr/>
          <p:nvPr/>
        </p:nvGrpSpPr>
        <p:grpSpPr>
          <a:xfrm>
            <a:off x="424825" y="3000705"/>
            <a:ext cx="8294360" cy="799447"/>
            <a:chOff x="424813" y="2974405"/>
            <a:chExt cx="8294360" cy="849933"/>
          </a:xfrm>
        </p:grpSpPr>
        <p:sp>
          <p:nvSpPr>
            <p:cNvPr id="279" name="Google Shape;279;p18"/>
            <p:cNvSpPr/>
            <p:nvPr/>
          </p:nvSpPr>
          <p:spPr>
            <a:xfrm>
              <a:off x="2927672" y="2974438"/>
              <a:ext cx="5791500" cy="849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8"/>
            <p:cNvSpPr/>
            <p:nvPr/>
          </p:nvSpPr>
          <p:spPr>
            <a:xfrm>
              <a:off x="424813" y="2974405"/>
              <a:ext cx="3055800" cy="849900"/>
            </a:xfrm>
            <a:prstGeom prst="homePlate">
              <a:avLst>
                <a:gd name="adj" fmla="val 26719"/>
              </a:avLst>
            </a:pr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1" name="Google Shape;281;p18"/>
          <p:cNvSpPr txBox="1"/>
          <p:nvPr/>
        </p:nvSpPr>
        <p:spPr>
          <a:xfrm>
            <a:off x="539675" y="3000775"/>
            <a:ext cx="2613000" cy="79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500">
                <a:solidFill>
                  <a:schemeClr val="dk2"/>
                </a:solidFill>
                <a:latin typeface="Average"/>
                <a:ea typeface="Average"/>
                <a:cs typeface="Average"/>
                <a:sym typeface="Average"/>
              </a:rPr>
              <a:t>ROIC (Return on Invested Capital)</a:t>
            </a:r>
            <a:endParaRPr sz="1500">
              <a:solidFill>
                <a:schemeClr val="dk2"/>
              </a:solidFill>
              <a:latin typeface="Average"/>
              <a:ea typeface="Average"/>
              <a:cs typeface="Average"/>
              <a:sym typeface="Average"/>
            </a:endParaRPr>
          </a:p>
        </p:txBody>
      </p:sp>
      <p:sp>
        <p:nvSpPr>
          <p:cNvPr id="282" name="Google Shape;282;p18"/>
          <p:cNvSpPr txBox="1"/>
          <p:nvPr/>
        </p:nvSpPr>
        <p:spPr>
          <a:xfrm>
            <a:off x="3480453" y="3004317"/>
            <a:ext cx="5111700" cy="799200"/>
          </a:xfrm>
          <a:prstGeom prst="rect">
            <a:avLst/>
          </a:prstGeom>
          <a:noFill/>
          <a:ln>
            <a:noFill/>
          </a:ln>
        </p:spPr>
        <p:txBody>
          <a:bodyPr spcFirstLastPara="1" wrap="square" lIns="91425" tIns="91425" rIns="91425" bIns="91425" anchor="ctr" anchorCtr="0">
            <a:noAutofit/>
          </a:bodyPr>
          <a:lstStyle/>
          <a:p>
            <a:pPr marL="457200" lvl="0" indent="-317500" algn="l" rtl="0">
              <a:lnSpc>
                <a:spcPct val="115000"/>
              </a:lnSpc>
              <a:spcBef>
                <a:spcPts val="0"/>
              </a:spcBef>
              <a:spcAft>
                <a:spcPts val="0"/>
              </a:spcAft>
              <a:buClr>
                <a:schemeClr val="dk2"/>
              </a:buClr>
              <a:buSzPts val="1400"/>
              <a:buChar char="●"/>
            </a:pPr>
            <a:r>
              <a:rPr lang="en" b="1">
                <a:solidFill>
                  <a:schemeClr val="dk2"/>
                </a:solidFill>
                <a:latin typeface="Nunito"/>
                <a:ea typeface="Nunito"/>
                <a:cs typeface="Nunito"/>
                <a:sym typeface="Nunito"/>
              </a:rPr>
              <a:t>Better than ROE because it considers both debt &amp; equity.</a:t>
            </a:r>
            <a:endParaRPr b="1">
              <a:solidFill>
                <a:schemeClr val="dk2"/>
              </a:solidFill>
              <a:latin typeface="Nunito"/>
              <a:ea typeface="Nunito"/>
              <a:cs typeface="Nunito"/>
              <a:sym typeface="Nunito"/>
            </a:endParaRPr>
          </a:p>
        </p:txBody>
      </p:sp>
      <p:grpSp>
        <p:nvGrpSpPr>
          <p:cNvPr id="283" name="Google Shape;283;p18"/>
          <p:cNvGrpSpPr/>
          <p:nvPr/>
        </p:nvGrpSpPr>
        <p:grpSpPr>
          <a:xfrm>
            <a:off x="424825" y="3874100"/>
            <a:ext cx="8294360" cy="799449"/>
            <a:chOff x="424813" y="3871256"/>
            <a:chExt cx="8294360" cy="849936"/>
          </a:xfrm>
        </p:grpSpPr>
        <p:sp>
          <p:nvSpPr>
            <p:cNvPr id="284" name="Google Shape;284;p18"/>
            <p:cNvSpPr/>
            <p:nvPr/>
          </p:nvSpPr>
          <p:spPr>
            <a:xfrm>
              <a:off x="2927672" y="3871292"/>
              <a:ext cx="5791500" cy="849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8"/>
            <p:cNvSpPr/>
            <p:nvPr/>
          </p:nvSpPr>
          <p:spPr>
            <a:xfrm>
              <a:off x="424813" y="3871256"/>
              <a:ext cx="3055500" cy="849900"/>
            </a:xfrm>
            <a:prstGeom prst="homePlate">
              <a:avLst>
                <a:gd name="adj" fmla="val 26719"/>
              </a:avLst>
            </a:prstGeom>
            <a:solidFill>
              <a:srgbClr val="93C4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6" name="Google Shape;286;p18"/>
          <p:cNvSpPr txBox="1"/>
          <p:nvPr/>
        </p:nvSpPr>
        <p:spPr>
          <a:xfrm>
            <a:off x="539675" y="3874100"/>
            <a:ext cx="2422500" cy="79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Average"/>
                <a:ea typeface="Average"/>
                <a:cs typeface="Average"/>
                <a:sym typeface="Average"/>
              </a:rPr>
              <a:t>Why we have included this?</a:t>
            </a:r>
            <a:endParaRPr sz="1800">
              <a:solidFill>
                <a:schemeClr val="dk1"/>
              </a:solidFill>
              <a:latin typeface="Average"/>
              <a:ea typeface="Average"/>
              <a:cs typeface="Average"/>
              <a:sym typeface="Average"/>
            </a:endParaRPr>
          </a:p>
        </p:txBody>
      </p:sp>
      <p:sp>
        <p:nvSpPr>
          <p:cNvPr id="287" name="Google Shape;287;p18"/>
          <p:cNvSpPr txBox="1"/>
          <p:nvPr/>
        </p:nvSpPr>
        <p:spPr>
          <a:xfrm>
            <a:off x="3480453" y="3876311"/>
            <a:ext cx="5111700" cy="799200"/>
          </a:xfrm>
          <a:prstGeom prst="rect">
            <a:avLst/>
          </a:prstGeom>
          <a:solidFill>
            <a:schemeClr val="dk1"/>
          </a:solidFill>
          <a:ln>
            <a:noFill/>
          </a:ln>
        </p:spPr>
        <p:txBody>
          <a:bodyPr spcFirstLastPara="1" wrap="square" lIns="91425" tIns="91425" rIns="91425" bIns="91425" anchor="ctr" anchorCtr="0">
            <a:noAutofit/>
          </a:bodyPr>
          <a:lstStyle/>
          <a:p>
            <a:pPr marL="457200" lvl="0" indent="-304800" algn="l" rtl="0">
              <a:lnSpc>
                <a:spcPct val="115000"/>
              </a:lnSpc>
              <a:spcBef>
                <a:spcPts val="0"/>
              </a:spcBef>
              <a:spcAft>
                <a:spcPts val="0"/>
              </a:spcAft>
              <a:buClr>
                <a:schemeClr val="accent1"/>
              </a:buClr>
              <a:buSzPts val="1200"/>
              <a:buFont typeface="Nunito"/>
              <a:buAutoNum type="arabicPeriod"/>
            </a:pPr>
            <a:r>
              <a:rPr lang="en" sz="1200">
                <a:solidFill>
                  <a:schemeClr val="accent1"/>
                </a:solidFill>
                <a:latin typeface="Nunito"/>
                <a:ea typeface="Nunito"/>
                <a:cs typeface="Nunito"/>
                <a:sym typeface="Nunito"/>
              </a:rPr>
              <a:t>Helps filter </a:t>
            </a:r>
            <a:r>
              <a:rPr lang="en" sz="1200" b="1">
                <a:solidFill>
                  <a:schemeClr val="accent1"/>
                </a:solidFill>
                <a:latin typeface="Nunito"/>
                <a:ea typeface="Nunito"/>
                <a:cs typeface="Nunito"/>
                <a:sym typeface="Nunito"/>
              </a:rPr>
              <a:t>highly efficient companies</a:t>
            </a:r>
            <a:r>
              <a:rPr lang="en" sz="1200">
                <a:solidFill>
                  <a:schemeClr val="accent1"/>
                </a:solidFill>
                <a:latin typeface="Nunito"/>
                <a:ea typeface="Nunito"/>
                <a:cs typeface="Nunito"/>
                <a:sym typeface="Nunito"/>
              </a:rPr>
              <a:t> that generate strong returns.</a:t>
            </a:r>
            <a:endParaRPr sz="1200">
              <a:solidFill>
                <a:schemeClr val="accent1"/>
              </a:solidFill>
              <a:latin typeface="Nunito"/>
              <a:ea typeface="Nunito"/>
              <a:cs typeface="Nunito"/>
              <a:sym typeface="Nunito"/>
            </a:endParaRPr>
          </a:p>
          <a:p>
            <a:pPr marL="457200" lvl="0" indent="-304800" algn="l" rtl="0">
              <a:lnSpc>
                <a:spcPct val="115000"/>
              </a:lnSpc>
              <a:spcBef>
                <a:spcPts val="0"/>
              </a:spcBef>
              <a:spcAft>
                <a:spcPts val="0"/>
              </a:spcAft>
              <a:buClr>
                <a:schemeClr val="accent1"/>
              </a:buClr>
              <a:buSzPts val="1200"/>
              <a:buFont typeface="Nunito"/>
              <a:buAutoNum type="arabicPeriod"/>
            </a:pPr>
            <a:r>
              <a:rPr lang="en" sz="1200">
                <a:solidFill>
                  <a:schemeClr val="accent1"/>
                </a:solidFill>
                <a:latin typeface="Nunito"/>
                <a:ea typeface="Nunito"/>
                <a:cs typeface="Nunito"/>
                <a:sym typeface="Nunito"/>
              </a:rPr>
              <a:t>Identifies </a:t>
            </a:r>
            <a:r>
              <a:rPr lang="en" sz="1200" b="1">
                <a:solidFill>
                  <a:schemeClr val="accent1"/>
                </a:solidFill>
                <a:latin typeface="Nunito"/>
                <a:ea typeface="Nunito"/>
                <a:cs typeface="Nunito"/>
                <a:sym typeface="Nunito"/>
              </a:rPr>
              <a:t>companies that use capital wisely</a:t>
            </a:r>
            <a:r>
              <a:rPr lang="en" sz="1200">
                <a:solidFill>
                  <a:schemeClr val="accent1"/>
                </a:solidFill>
                <a:latin typeface="Nunito"/>
                <a:ea typeface="Nunito"/>
                <a:cs typeface="Nunito"/>
                <a:sym typeface="Nunito"/>
              </a:rPr>
              <a:t> for long-term gains.</a:t>
            </a:r>
            <a:endParaRPr sz="1200">
              <a:solidFill>
                <a:schemeClr val="accent1"/>
              </a:solidFill>
              <a:latin typeface="Nunito"/>
              <a:ea typeface="Nunito"/>
              <a:cs typeface="Nunito"/>
              <a:sym typeface="Nunito"/>
            </a:endParaRPr>
          </a:p>
        </p:txBody>
      </p:sp>
      <p:sp>
        <p:nvSpPr>
          <p:cNvPr id="288" name="Google Shape;288;p18"/>
          <p:cNvSpPr/>
          <p:nvPr/>
        </p:nvSpPr>
        <p:spPr>
          <a:xfrm>
            <a:off x="2829475" y="3881100"/>
            <a:ext cx="817500" cy="799500"/>
          </a:xfrm>
          <a:prstGeom prst="flowChartDelay">
            <a:avLst/>
          </a:prstGeom>
          <a:solidFill>
            <a:srgbClr val="93C47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19"/>
          <p:cNvSpPr txBox="1">
            <a:spLocks noGrp="1"/>
          </p:cNvSpPr>
          <p:nvPr>
            <p:ph type="title"/>
          </p:nvPr>
        </p:nvSpPr>
        <p:spPr>
          <a:xfrm>
            <a:off x="807700" y="398825"/>
            <a:ext cx="6424200" cy="705000"/>
          </a:xfrm>
          <a:prstGeom prst="rect">
            <a:avLst/>
          </a:prstGeom>
        </p:spPr>
        <p:txBody>
          <a:bodyPr spcFirstLastPara="1" wrap="square" lIns="91425" tIns="91425" rIns="91425" bIns="91425" anchor="t" anchorCtr="0">
            <a:normAutofit/>
          </a:bodyPr>
          <a:lstStyle/>
          <a:p>
            <a:pPr marL="457200" lvl="0" indent="-387350" algn="l" rtl="0">
              <a:spcBef>
                <a:spcPts val="0"/>
              </a:spcBef>
              <a:spcAft>
                <a:spcPts val="0"/>
              </a:spcAft>
              <a:buSzPts val="2500"/>
              <a:buChar char="●"/>
            </a:pPr>
            <a:r>
              <a:rPr lang="en" sz="2500"/>
              <a:t>Dividend Analysis</a:t>
            </a:r>
            <a:endParaRPr sz="2500"/>
          </a:p>
        </p:txBody>
      </p:sp>
      <p:grpSp>
        <p:nvGrpSpPr>
          <p:cNvPr id="294" name="Google Shape;294;p19"/>
          <p:cNvGrpSpPr/>
          <p:nvPr/>
        </p:nvGrpSpPr>
        <p:grpSpPr>
          <a:xfrm>
            <a:off x="424825" y="1253973"/>
            <a:ext cx="8294371" cy="799416"/>
            <a:chOff x="424813" y="1177875"/>
            <a:chExt cx="8294371" cy="849900"/>
          </a:xfrm>
        </p:grpSpPr>
        <p:sp>
          <p:nvSpPr>
            <p:cNvPr id="295" name="Google Shape;295;p19"/>
            <p:cNvSpPr/>
            <p:nvPr/>
          </p:nvSpPr>
          <p:spPr>
            <a:xfrm>
              <a:off x="2927684" y="1177875"/>
              <a:ext cx="5791500" cy="849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9"/>
            <p:cNvSpPr/>
            <p:nvPr/>
          </p:nvSpPr>
          <p:spPr>
            <a:xfrm>
              <a:off x="424813" y="1177875"/>
              <a:ext cx="3055800" cy="849900"/>
            </a:xfrm>
            <a:prstGeom prst="homePlate">
              <a:avLst>
                <a:gd name="adj" fmla="val 26719"/>
              </a:avLst>
            </a:pr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7" name="Google Shape;297;p19"/>
          <p:cNvSpPr txBox="1"/>
          <p:nvPr/>
        </p:nvSpPr>
        <p:spPr>
          <a:xfrm>
            <a:off x="539675" y="1254200"/>
            <a:ext cx="2422500" cy="79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2"/>
                </a:solidFill>
                <a:latin typeface="Average"/>
                <a:ea typeface="Average"/>
                <a:cs typeface="Average"/>
                <a:sym typeface="Average"/>
              </a:rPr>
              <a:t>Dividend Yield → Annual Dividend / Stock Price. Higher </a:t>
            </a:r>
            <a:endParaRPr sz="2100">
              <a:solidFill>
                <a:schemeClr val="dk2"/>
              </a:solidFill>
              <a:latin typeface="Average"/>
              <a:ea typeface="Average"/>
              <a:cs typeface="Average"/>
              <a:sym typeface="Average"/>
            </a:endParaRPr>
          </a:p>
        </p:txBody>
      </p:sp>
      <p:sp>
        <p:nvSpPr>
          <p:cNvPr id="298" name="Google Shape;298;p19"/>
          <p:cNvSpPr txBox="1"/>
          <p:nvPr/>
        </p:nvSpPr>
        <p:spPr>
          <a:xfrm>
            <a:off x="3480453" y="1254158"/>
            <a:ext cx="5111700" cy="799200"/>
          </a:xfrm>
          <a:prstGeom prst="rect">
            <a:avLst/>
          </a:prstGeom>
          <a:noFill/>
          <a:ln>
            <a:noFill/>
          </a:ln>
        </p:spPr>
        <p:txBody>
          <a:bodyPr spcFirstLastPara="1" wrap="square" lIns="91425" tIns="91425" rIns="91425" bIns="91425" anchor="ctr" anchorCtr="0">
            <a:noAutofit/>
          </a:bodyPr>
          <a:lstStyle/>
          <a:p>
            <a:pPr marL="457200" lvl="0" indent="-317500" algn="l" rtl="0">
              <a:lnSpc>
                <a:spcPct val="115000"/>
              </a:lnSpc>
              <a:spcBef>
                <a:spcPts val="0"/>
              </a:spcBef>
              <a:spcAft>
                <a:spcPts val="0"/>
              </a:spcAft>
              <a:buClr>
                <a:schemeClr val="dk2"/>
              </a:buClr>
              <a:buSzPts val="1400"/>
              <a:buFont typeface="Average"/>
              <a:buChar char="●"/>
            </a:pPr>
            <a:r>
              <a:rPr lang="en" b="1">
                <a:solidFill>
                  <a:schemeClr val="dk2"/>
                </a:solidFill>
                <a:latin typeface="Nunito"/>
                <a:ea typeface="Nunito"/>
                <a:cs typeface="Nunito"/>
                <a:sym typeface="Nunito"/>
              </a:rPr>
              <a:t>better for income investors.</a:t>
            </a:r>
            <a:endParaRPr>
              <a:solidFill>
                <a:schemeClr val="dk2"/>
              </a:solidFill>
              <a:latin typeface="Nunito"/>
              <a:ea typeface="Nunito"/>
              <a:cs typeface="Nunito"/>
              <a:sym typeface="Nunito"/>
            </a:endParaRPr>
          </a:p>
        </p:txBody>
      </p:sp>
      <p:grpSp>
        <p:nvGrpSpPr>
          <p:cNvPr id="299" name="Google Shape;299;p19"/>
          <p:cNvGrpSpPr/>
          <p:nvPr/>
        </p:nvGrpSpPr>
        <p:grpSpPr>
          <a:xfrm>
            <a:off x="424825" y="2127339"/>
            <a:ext cx="8294360" cy="799416"/>
            <a:chOff x="424813" y="2075689"/>
            <a:chExt cx="8294360" cy="849900"/>
          </a:xfrm>
        </p:grpSpPr>
        <p:sp>
          <p:nvSpPr>
            <p:cNvPr id="300" name="Google Shape;300;p19"/>
            <p:cNvSpPr/>
            <p:nvPr/>
          </p:nvSpPr>
          <p:spPr>
            <a:xfrm>
              <a:off x="2927672" y="2075689"/>
              <a:ext cx="5791500" cy="849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9"/>
            <p:cNvSpPr/>
            <p:nvPr/>
          </p:nvSpPr>
          <p:spPr>
            <a:xfrm>
              <a:off x="424813" y="2075689"/>
              <a:ext cx="3055800" cy="849900"/>
            </a:xfrm>
            <a:prstGeom prst="homePlate">
              <a:avLst>
                <a:gd name="adj" fmla="val 26719"/>
              </a:avLst>
            </a:pr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2" name="Google Shape;302;p19"/>
          <p:cNvSpPr txBox="1"/>
          <p:nvPr/>
        </p:nvSpPr>
        <p:spPr>
          <a:xfrm>
            <a:off x="539675" y="2127450"/>
            <a:ext cx="2422500" cy="79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2"/>
                </a:solidFill>
                <a:latin typeface="Average"/>
                <a:ea typeface="Average"/>
                <a:cs typeface="Average"/>
                <a:sym typeface="Average"/>
              </a:rPr>
              <a:t>Dividend Payout Ratio</a:t>
            </a:r>
            <a:endParaRPr>
              <a:solidFill>
                <a:schemeClr val="dk2"/>
              </a:solidFill>
              <a:latin typeface="Average"/>
              <a:ea typeface="Average"/>
              <a:cs typeface="Average"/>
              <a:sym typeface="Average"/>
            </a:endParaRPr>
          </a:p>
        </p:txBody>
      </p:sp>
      <p:sp>
        <p:nvSpPr>
          <p:cNvPr id="303" name="Google Shape;303;p19"/>
          <p:cNvSpPr txBox="1"/>
          <p:nvPr/>
        </p:nvSpPr>
        <p:spPr>
          <a:xfrm>
            <a:off x="3480450" y="2221673"/>
            <a:ext cx="5111700" cy="705000"/>
          </a:xfrm>
          <a:prstGeom prst="rect">
            <a:avLst/>
          </a:prstGeom>
          <a:noFill/>
          <a:ln>
            <a:noFill/>
          </a:ln>
        </p:spPr>
        <p:txBody>
          <a:bodyPr spcFirstLastPara="1" wrap="square" lIns="91425" tIns="91425" rIns="91425" bIns="91425" anchor="ctr" anchorCtr="0">
            <a:noAutofit/>
          </a:bodyPr>
          <a:lstStyle/>
          <a:p>
            <a:pPr marL="457200" lvl="0" indent="-317500" algn="l" rtl="0">
              <a:lnSpc>
                <a:spcPct val="115000"/>
              </a:lnSpc>
              <a:spcBef>
                <a:spcPts val="0"/>
              </a:spcBef>
              <a:spcAft>
                <a:spcPts val="0"/>
              </a:spcAft>
              <a:buClr>
                <a:schemeClr val="dk2"/>
              </a:buClr>
              <a:buSzPts val="1400"/>
              <a:buChar char="●"/>
            </a:pPr>
            <a:r>
              <a:rPr lang="en" b="1">
                <a:solidFill>
                  <a:schemeClr val="dk2"/>
                </a:solidFill>
                <a:latin typeface="Nunito"/>
                <a:ea typeface="Nunito"/>
                <a:cs typeface="Nunito"/>
                <a:sym typeface="Nunito"/>
              </a:rPr>
              <a:t> Percentage of earnings paid as dividends (Too high means unsustainable).</a:t>
            </a:r>
            <a:endParaRPr>
              <a:solidFill>
                <a:schemeClr val="dk2"/>
              </a:solidFill>
              <a:latin typeface="Nunito"/>
              <a:ea typeface="Nunito"/>
              <a:cs typeface="Nunito"/>
              <a:sym typeface="Nunito"/>
            </a:endParaRPr>
          </a:p>
        </p:txBody>
      </p:sp>
      <p:grpSp>
        <p:nvGrpSpPr>
          <p:cNvPr id="304" name="Google Shape;304;p19"/>
          <p:cNvGrpSpPr/>
          <p:nvPr/>
        </p:nvGrpSpPr>
        <p:grpSpPr>
          <a:xfrm>
            <a:off x="424825" y="3324225"/>
            <a:ext cx="8294360" cy="799449"/>
            <a:chOff x="424813" y="3871256"/>
            <a:chExt cx="8294360" cy="849936"/>
          </a:xfrm>
        </p:grpSpPr>
        <p:sp>
          <p:nvSpPr>
            <p:cNvPr id="305" name="Google Shape;305;p19"/>
            <p:cNvSpPr/>
            <p:nvPr/>
          </p:nvSpPr>
          <p:spPr>
            <a:xfrm>
              <a:off x="2927672" y="3871292"/>
              <a:ext cx="5791500" cy="849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9"/>
            <p:cNvSpPr/>
            <p:nvPr/>
          </p:nvSpPr>
          <p:spPr>
            <a:xfrm>
              <a:off x="424813" y="3871256"/>
              <a:ext cx="3055500" cy="849900"/>
            </a:xfrm>
            <a:prstGeom prst="homePlate">
              <a:avLst>
                <a:gd name="adj" fmla="val 26719"/>
              </a:avLst>
            </a:prstGeom>
            <a:solidFill>
              <a:srgbClr val="93C4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7" name="Google Shape;307;p19"/>
          <p:cNvSpPr txBox="1"/>
          <p:nvPr/>
        </p:nvSpPr>
        <p:spPr>
          <a:xfrm>
            <a:off x="539675" y="3324225"/>
            <a:ext cx="2422500" cy="79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Average"/>
                <a:ea typeface="Average"/>
                <a:cs typeface="Average"/>
                <a:sym typeface="Average"/>
              </a:rPr>
              <a:t>Why we have included this?</a:t>
            </a:r>
            <a:endParaRPr sz="1800">
              <a:solidFill>
                <a:schemeClr val="dk1"/>
              </a:solidFill>
              <a:latin typeface="Average"/>
              <a:ea typeface="Average"/>
              <a:cs typeface="Average"/>
              <a:sym typeface="Average"/>
            </a:endParaRPr>
          </a:p>
        </p:txBody>
      </p:sp>
      <p:sp>
        <p:nvSpPr>
          <p:cNvPr id="308" name="Google Shape;308;p19"/>
          <p:cNvSpPr txBox="1"/>
          <p:nvPr/>
        </p:nvSpPr>
        <p:spPr>
          <a:xfrm>
            <a:off x="3480453" y="3326436"/>
            <a:ext cx="5111700" cy="799200"/>
          </a:xfrm>
          <a:prstGeom prst="rect">
            <a:avLst/>
          </a:prstGeom>
          <a:solidFill>
            <a:schemeClr val="dk1"/>
          </a:solidFill>
          <a:ln>
            <a:noFill/>
          </a:ln>
        </p:spPr>
        <p:txBody>
          <a:bodyPr spcFirstLastPara="1" wrap="square" lIns="91425" tIns="91425" rIns="91425" bIns="91425" anchor="ctr" anchorCtr="0">
            <a:noAutofit/>
          </a:bodyPr>
          <a:lstStyle/>
          <a:p>
            <a:pPr marL="457200" lvl="0" indent="-304800" algn="l" rtl="0">
              <a:lnSpc>
                <a:spcPct val="115000"/>
              </a:lnSpc>
              <a:spcBef>
                <a:spcPts val="0"/>
              </a:spcBef>
              <a:spcAft>
                <a:spcPts val="0"/>
              </a:spcAft>
              <a:buClr>
                <a:schemeClr val="accent1"/>
              </a:buClr>
              <a:buSzPts val="1200"/>
              <a:buFont typeface="Nunito"/>
              <a:buAutoNum type="arabicPeriod"/>
            </a:pPr>
            <a:r>
              <a:rPr lang="en" sz="1200">
                <a:solidFill>
                  <a:schemeClr val="accent1"/>
                </a:solidFill>
                <a:latin typeface="Nunito"/>
                <a:ea typeface="Nunito"/>
                <a:cs typeface="Nunito"/>
                <a:sym typeface="Nunito"/>
              </a:rPr>
              <a:t>Important if you want </a:t>
            </a:r>
            <a:r>
              <a:rPr lang="en" sz="1200" b="1">
                <a:solidFill>
                  <a:schemeClr val="accent1"/>
                </a:solidFill>
                <a:latin typeface="Nunito"/>
                <a:ea typeface="Nunito"/>
                <a:cs typeface="Nunito"/>
                <a:sym typeface="Nunito"/>
              </a:rPr>
              <a:t>steady passive income</a:t>
            </a:r>
            <a:r>
              <a:rPr lang="en" sz="1200">
                <a:solidFill>
                  <a:schemeClr val="accent1"/>
                </a:solidFill>
                <a:latin typeface="Nunito"/>
                <a:ea typeface="Nunito"/>
                <a:cs typeface="Nunito"/>
                <a:sym typeface="Nunito"/>
              </a:rPr>
              <a:t> alongside stock growth.</a:t>
            </a:r>
            <a:endParaRPr sz="1200">
              <a:solidFill>
                <a:schemeClr val="accent1"/>
              </a:solidFill>
              <a:latin typeface="Nunito"/>
              <a:ea typeface="Nunito"/>
              <a:cs typeface="Nunito"/>
              <a:sym typeface="Nunito"/>
            </a:endParaRPr>
          </a:p>
          <a:p>
            <a:pPr marL="457200" lvl="0" indent="-304800" algn="l" rtl="0">
              <a:lnSpc>
                <a:spcPct val="115000"/>
              </a:lnSpc>
              <a:spcBef>
                <a:spcPts val="0"/>
              </a:spcBef>
              <a:spcAft>
                <a:spcPts val="0"/>
              </a:spcAft>
              <a:buClr>
                <a:schemeClr val="accent1"/>
              </a:buClr>
              <a:buSzPts val="1200"/>
              <a:buFont typeface="Nunito"/>
              <a:buAutoNum type="arabicPeriod"/>
            </a:pPr>
            <a:r>
              <a:rPr lang="en" sz="1200">
                <a:solidFill>
                  <a:schemeClr val="accent1"/>
                </a:solidFill>
                <a:latin typeface="Nunito"/>
                <a:ea typeface="Nunito"/>
                <a:cs typeface="Nunito"/>
                <a:sym typeface="Nunito"/>
              </a:rPr>
              <a:t>Avoids stocks that </a:t>
            </a:r>
            <a:r>
              <a:rPr lang="en" sz="1200" b="1">
                <a:solidFill>
                  <a:schemeClr val="accent1"/>
                </a:solidFill>
                <a:latin typeface="Nunito"/>
                <a:ea typeface="Nunito"/>
                <a:cs typeface="Nunito"/>
                <a:sym typeface="Nunito"/>
              </a:rPr>
              <a:t>overpay dividends</a:t>
            </a:r>
            <a:r>
              <a:rPr lang="en" sz="1200">
                <a:solidFill>
                  <a:schemeClr val="accent1"/>
                </a:solidFill>
                <a:latin typeface="Nunito"/>
                <a:ea typeface="Nunito"/>
                <a:cs typeface="Nunito"/>
                <a:sym typeface="Nunito"/>
              </a:rPr>
              <a:t> and risk financial issues..</a:t>
            </a:r>
            <a:endParaRPr sz="1200">
              <a:solidFill>
                <a:schemeClr val="accent1"/>
              </a:solidFill>
              <a:latin typeface="Nunito"/>
              <a:ea typeface="Nunito"/>
              <a:cs typeface="Nunito"/>
              <a:sym typeface="Nunito"/>
            </a:endParaRPr>
          </a:p>
        </p:txBody>
      </p:sp>
      <p:sp>
        <p:nvSpPr>
          <p:cNvPr id="309" name="Google Shape;309;p19"/>
          <p:cNvSpPr/>
          <p:nvPr/>
        </p:nvSpPr>
        <p:spPr>
          <a:xfrm>
            <a:off x="2829475" y="3331225"/>
            <a:ext cx="817500" cy="799500"/>
          </a:xfrm>
          <a:prstGeom prst="flowChartDelay">
            <a:avLst/>
          </a:prstGeom>
          <a:solidFill>
            <a:srgbClr val="93C47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20"/>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0"/>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316" name="Google Shape;316;p20"/>
          <p:cNvSpPr txBox="1">
            <a:spLocks noGrp="1"/>
          </p:cNvSpPr>
          <p:nvPr>
            <p:ph type="title"/>
          </p:nvPr>
        </p:nvSpPr>
        <p:spPr>
          <a:xfrm>
            <a:off x="610200" y="318650"/>
            <a:ext cx="7923600" cy="44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2400"/>
              <a:t>Breakdown of Portfolio Stocks using Investment Score</a:t>
            </a:r>
            <a:endParaRPr sz="2400"/>
          </a:p>
        </p:txBody>
      </p:sp>
      <p:sp>
        <p:nvSpPr>
          <p:cNvPr id="317" name="Google Shape;317;p20"/>
          <p:cNvSpPr/>
          <p:nvPr/>
        </p:nvSpPr>
        <p:spPr>
          <a:xfrm>
            <a:off x="701075" y="1047025"/>
            <a:ext cx="2691900" cy="441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18" name="Google Shape;318;p20"/>
          <p:cNvSpPr txBox="1"/>
          <p:nvPr/>
        </p:nvSpPr>
        <p:spPr>
          <a:xfrm>
            <a:off x="698125" y="886540"/>
            <a:ext cx="7383600" cy="3698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dirty="0">
                <a:solidFill>
                  <a:schemeClr val="dk1"/>
                </a:solidFill>
                <a:latin typeface="Average"/>
                <a:ea typeface="Average"/>
                <a:cs typeface="Average"/>
                <a:sym typeface="Average"/>
              </a:rPr>
              <a:t>    Investment Score Formula</a:t>
            </a:r>
            <a:endParaRPr dirty="0">
              <a:solidFill>
                <a:schemeClr val="dk1"/>
              </a:solidFill>
              <a:latin typeface="Average"/>
              <a:ea typeface="Average"/>
              <a:cs typeface="Average"/>
              <a:sym typeface="Average"/>
            </a:endParaRPr>
          </a:p>
          <a:p>
            <a:pPr marL="0" lvl="0" indent="0" algn="l" rtl="0">
              <a:lnSpc>
                <a:spcPct val="115000"/>
              </a:lnSpc>
              <a:spcBef>
                <a:spcPts val="1200"/>
              </a:spcBef>
              <a:spcAft>
                <a:spcPts val="0"/>
              </a:spcAft>
              <a:buNone/>
            </a:pPr>
            <a:r>
              <a:rPr lang="en" sz="1100" dirty="0">
                <a:solidFill>
                  <a:schemeClr val="accent1"/>
                </a:solidFill>
              </a:rPr>
              <a:t>The </a:t>
            </a:r>
            <a:r>
              <a:rPr lang="en" sz="1100" b="1" dirty="0">
                <a:solidFill>
                  <a:schemeClr val="accent1"/>
                </a:solidFill>
              </a:rPr>
              <a:t>Investment Score</a:t>
            </a:r>
            <a:r>
              <a:rPr lang="en" sz="1100" dirty="0">
                <a:solidFill>
                  <a:schemeClr val="accent1"/>
                </a:solidFill>
              </a:rPr>
              <a:t> is calculated using a </a:t>
            </a:r>
            <a:r>
              <a:rPr lang="en" sz="1100" b="1" dirty="0">
                <a:solidFill>
                  <a:schemeClr val="accent1"/>
                </a:solidFill>
              </a:rPr>
              <a:t>weighted formula</a:t>
            </a:r>
            <a:r>
              <a:rPr lang="en" sz="1100" dirty="0">
                <a:solidFill>
                  <a:schemeClr val="accent1"/>
                </a:solidFill>
              </a:rPr>
              <a:t>, where each metric is assigned a </a:t>
            </a:r>
            <a:r>
              <a:rPr lang="en" sz="1100" b="1" dirty="0">
                <a:solidFill>
                  <a:schemeClr val="accent1"/>
                </a:solidFill>
              </a:rPr>
              <a:t>specific percentage weight</a:t>
            </a:r>
            <a:r>
              <a:rPr lang="en" sz="1100" dirty="0">
                <a:solidFill>
                  <a:schemeClr val="accent1"/>
                </a:solidFill>
              </a:rPr>
              <a:t> based on its importance in evaluating stock performance.</a:t>
            </a:r>
            <a:endParaRPr sz="1100" dirty="0">
              <a:solidFill>
                <a:schemeClr val="accent1"/>
              </a:solidFill>
            </a:endParaRPr>
          </a:p>
          <a:p>
            <a:pPr marL="0" lvl="0" indent="0" algn="l" rtl="0">
              <a:lnSpc>
                <a:spcPct val="115000"/>
              </a:lnSpc>
              <a:spcBef>
                <a:spcPts val="1200"/>
              </a:spcBef>
              <a:spcAft>
                <a:spcPts val="0"/>
              </a:spcAft>
              <a:buNone/>
            </a:pPr>
            <a:r>
              <a:rPr lang="en" sz="1100" dirty="0"/>
              <a:t>Metric	Weight (%) :</a:t>
            </a:r>
            <a:endParaRPr sz="1100" dirty="0"/>
          </a:p>
          <a:p>
            <a:pPr marL="0" lvl="0" indent="0" algn="l" rtl="0">
              <a:lnSpc>
                <a:spcPct val="115000"/>
              </a:lnSpc>
              <a:spcBef>
                <a:spcPts val="1200"/>
              </a:spcBef>
              <a:spcAft>
                <a:spcPts val="0"/>
              </a:spcAft>
              <a:buNone/>
            </a:pPr>
            <a:r>
              <a:rPr lang="en" sz="1100" dirty="0">
                <a:solidFill>
                  <a:srgbClr val="741B47"/>
                </a:solidFill>
              </a:rPr>
              <a:t>P/E Ratio (Valuation)	15%                                                                                                                                                        Revenue Growth	20%                                                                                                                                                      EBITDA Growth	20%                                                                                                                                                    Net Profit Margin	10%                                                                                                                                                Debt-to-EBITDA	10%                                                                                                                                                     EBITDA Margin	10%                                                                                                                                                            EPS Growth	             10%                                                                                                                                                         Interest Coverage Ratio 5%</a:t>
            </a:r>
            <a:endParaRPr sz="1100" dirty="0">
              <a:solidFill>
                <a:srgbClr val="741B47"/>
              </a:solidFill>
            </a:endParaRPr>
          </a:p>
          <a:p>
            <a:pPr marL="0" lvl="0" indent="0" algn="l" rtl="0">
              <a:spcBef>
                <a:spcPts val="1200"/>
              </a:spcBef>
              <a:spcAft>
                <a:spcPts val="0"/>
              </a:spcAft>
              <a:buNone/>
            </a:pPr>
            <a:r>
              <a:rPr lang="en" sz="1100" b="1" dirty="0">
                <a:solidFill>
                  <a:schemeClr val="lt1"/>
                </a:solidFill>
              </a:rPr>
              <a:t>Investment Score=(P/E Score×15%)+(Revenue Growth Score×20%)+(EBITDA Growth Score×20%)+(Net Profit Margin Score×10%)+(Debt-to-EBITDA Score×10%)+(EBITDA Margin Score×10%)+(EPS Growth Score×10%) + (Interest Coverage Score×5%)</a:t>
            </a:r>
            <a:endParaRPr dirty="0">
              <a:solidFill>
                <a:schemeClr val="lt1"/>
              </a:solidFill>
            </a:endParaRPr>
          </a:p>
        </p:txBody>
      </p:sp>
      <p:sp>
        <p:nvSpPr>
          <p:cNvPr id="319" name="Google Shape;319;p20"/>
          <p:cNvSpPr/>
          <p:nvPr/>
        </p:nvSpPr>
        <p:spPr>
          <a:xfrm>
            <a:off x="3325300" y="1047025"/>
            <a:ext cx="343800" cy="441900"/>
          </a:xfrm>
          <a:prstGeom prst="flowChartDelay">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1"/>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1"/>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pic>
        <p:nvPicPr>
          <p:cNvPr id="326" name="Google Shape;326;p21" title="Screenshot 2025-03-27 010311.png"/>
          <p:cNvPicPr preferRelativeResize="0"/>
          <p:nvPr/>
        </p:nvPicPr>
        <p:blipFill>
          <a:blip r:embed="rId3">
            <a:alphaModFix/>
          </a:blip>
          <a:stretch>
            <a:fillRect/>
          </a:stretch>
        </p:blipFill>
        <p:spPr>
          <a:xfrm>
            <a:off x="1202889" y="222050"/>
            <a:ext cx="6738224" cy="4699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2"/>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2"/>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333" name="Google Shape;333;p22"/>
          <p:cNvSpPr txBox="1"/>
          <p:nvPr/>
        </p:nvSpPr>
        <p:spPr>
          <a:xfrm>
            <a:off x="578500" y="1286225"/>
            <a:ext cx="7742400" cy="2880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rgbClr val="701C7F"/>
                </a:solidFill>
                <a:latin typeface="Nunito"/>
                <a:ea typeface="Nunito"/>
                <a:cs typeface="Nunito"/>
                <a:sym typeface="Nunito"/>
              </a:rPr>
              <a:t> How the Formula Works (Step-by-Step Calculation):</a:t>
            </a:r>
            <a:endParaRPr sz="1300" b="1">
              <a:solidFill>
                <a:srgbClr val="701C7F"/>
              </a:solidFill>
              <a:latin typeface="Nunito"/>
              <a:ea typeface="Nunito"/>
              <a:cs typeface="Nunito"/>
              <a:sym typeface="Nunito"/>
            </a:endParaRPr>
          </a:p>
          <a:p>
            <a:pPr marL="457200" lvl="0" indent="-298450" algn="l" rtl="0">
              <a:lnSpc>
                <a:spcPct val="115000"/>
              </a:lnSpc>
              <a:spcBef>
                <a:spcPts val="1200"/>
              </a:spcBef>
              <a:spcAft>
                <a:spcPts val="0"/>
              </a:spcAft>
              <a:buSzPts val="1100"/>
              <a:buAutoNum type="arabicPeriod"/>
            </a:pPr>
            <a:r>
              <a:rPr lang="en" sz="1100" b="1">
                <a:solidFill>
                  <a:schemeClr val="accent1"/>
                </a:solidFill>
                <a:latin typeface="Nunito"/>
                <a:ea typeface="Nunito"/>
                <a:cs typeface="Nunito"/>
                <a:sym typeface="Nunito"/>
              </a:rPr>
              <a:t>Normalization of Each Metric</a:t>
            </a:r>
            <a:r>
              <a:rPr lang="en" sz="1100" b="1">
                <a:latin typeface="Nunito"/>
                <a:ea typeface="Nunito"/>
                <a:cs typeface="Nunito"/>
                <a:sym typeface="Nunito"/>
              </a:rPr>
              <a:t>:</a:t>
            </a:r>
            <a:r>
              <a:rPr lang="en" sz="1100">
                <a:latin typeface="Nunito"/>
                <a:ea typeface="Nunito"/>
                <a:cs typeface="Nunito"/>
                <a:sym typeface="Nunito"/>
              </a:rPr>
              <a:t> Conversion of each metric to a score between</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0 and 1</a:t>
            </a:r>
            <a:r>
              <a:rPr lang="en" sz="1100">
                <a:latin typeface="Nunito"/>
                <a:ea typeface="Nunito"/>
                <a:cs typeface="Nunito"/>
                <a:sym typeface="Nunito"/>
              </a:rPr>
              <a:t> using </a:t>
            </a:r>
            <a:r>
              <a:rPr lang="en" sz="1100" b="1">
                <a:solidFill>
                  <a:schemeClr val="accent1"/>
                </a:solidFill>
                <a:latin typeface="Nunito"/>
                <a:ea typeface="Nunito"/>
                <a:cs typeface="Nunito"/>
                <a:sym typeface="Nunito"/>
              </a:rPr>
              <a:t>Min-Max Scaling</a:t>
            </a:r>
            <a:r>
              <a:rPr lang="en" sz="1100">
                <a:latin typeface="Nunito"/>
                <a:ea typeface="Nunito"/>
                <a:cs typeface="Nunito"/>
                <a:sym typeface="Nunito"/>
              </a:rPr>
              <a:t>:</a:t>
            </a:r>
            <a:br>
              <a:rPr lang="en" sz="1100">
                <a:latin typeface="Nunito"/>
                <a:ea typeface="Nunito"/>
                <a:cs typeface="Nunito"/>
                <a:sym typeface="Nunito"/>
              </a:rPr>
            </a:br>
            <a:r>
              <a:rPr lang="en" sz="1100">
                <a:solidFill>
                  <a:schemeClr val="lt1"/>
                </a:solidFill>
                <a:latin typeface="Nunito"/>
                <a:ea typeface="Nunito"/>
                <a:cs typeface="Nunito"/>
                <a:sym typeface="Nunito"/>
              </a:rPr>
              <a:t>Normalized Score = (Max Value−Min Value)/(MaxValue−Min Value)​</a:t>
            </a:r>
            <a:br>
              <a:rPr lang="en" sz="1100">
                <a:latin typeface="Nunito"/>
                <a:ea typeface="Nunito"/>
                <a:cs typeface="Nunito"/>
                <a:sym typeface="Nunito"/>
              </a:rPr>
            </a:br>
            <a:endParaRPr sz="1100">
              <a:latin typeface="Nunito"/>
              <a:ea typeface="Nunito"/>
              <a:cs typeface="Nunito"/>
              <a:sym typeface="Nunito"/>
            </a:endParaRPr>
          </a:p>
          <a:p>
            <a:pPr marL="914400" lvl="1" indent="-298450" algn="l" rtl="0">
              <a:lnSpc>
                <a:spcPct val="115000"/>
              </a:lnSpc>
              <a:spcBef>
                <a:spcPts val="0"/>
              </a:spcBef>
              <a:spcAft>
                <a:spcPts val="0"/>
              </a:spcAft>
              <a:buSzPts val="1100"/>
              <a:buChar char="○"/>
            </a:pPr>
            <a:r>
              <a:rPr lang="en" sz="1100" b="1">
                <a:solidFill>
                  <a:schemeClr val="accent1"/>
                </a:solidFill>
                <a:latin typeface="Nunito"/>
                <a:ea typeface="Nunito"/>
                <a:cs typeface="Nunito"/>
                <a:sym typeface="Nunito"/>
              </a:rPr>
              <a:t>P/E Ratio and Debt-to-EBITDA are reversed</a:t>
            </a:r>
            <a:r>
              <a:rPr lang="en" sz="1100">
                <a:latin typeface="Nunito"/>
                <a:ea typeface="Nunito"/>
                <a:cs typeface="Nunito"/>
                <a:sym typeface="Nunito"/>
              </a:rPr>
              <a:t> (lower values are better).</a:t>
            </a:r>
            <a:br>
              <a:rPr lang="en" sz="1100">
                <a:latin typeface="Nunito"/>
                <a:ea typeface="Nunito"/>
                <a:cs typeface="Nunito"/>
                <a:sym typeface="Nunito"/>
              </a:rPr>
            </a:br>
            <a:endParaRPr sz="1100">
              <a:latin typeface="Nunito"/>
              <a:ea typeface="Nunito"/>
              <a:cs typeface="Nunito"/>
              <a:sym typeface="Nunito"/>
            </a:endParaRPr>
          </a:p>
          <a:p>
            <a:pPr marL="457200" lvl="0" indent="-298450" algn="l" rtl="0">
              <a:lnSpc>
                <a:spcPct val="115000"/>
              </a:lnSpc>
              <a:spcBef>
                <a:spcPts val="0"/>
              </a:spcBef>
              <a:spcAft>
                <a:spcPts val="0"/>
              </a:spcAft>
              <a:buSzPts val="1100"/>
              <a:buFont typeface="Nunito"/>
              <a:buAutoNum type="arabicPeriod"/>
            </a:pPr>
            <a:r>
              <a:rPr lang="en" sz="1100" b="1">
                <a:solidFill>
                  <a:schemeClr val="accent1"/>
                </a:solidFill>
                <a:latin typeface="Nunito"/>
                <a:ea typeface="Nunito"/>
                <a:cs typeface="Nunito"/>
                <a:sym typeface="Nunito"/>
              </a:rPr>
              <a:t>Multiplying Each Metric by Its Weight</a:t>
            </a:r>
            <a:r>
              <a:rPr lang="en" sz="1100" b="1">
                <a:latin typeface="Nunito"/>
                <a:ea typeface="Nunito"/>
                <a:cs typeface="Nunito"/>
                <a:sym typeface="Nunito"/>
              </a:rPr>
              <a:t>:</a:t>
            </a:r>
            <a:br>
              <a:rPr lang="en" sz="1100" b="1">
                <a:latin typeface="Nunito"/>
                <a:ea typeface="Nunito"/>
                <a:cs typeface="Nunito"/>
                <a:sym typeface="Nunito"/>
              </a:rPr>
            </a:br>
            <a:endParaRPr sz="1100" b="1">
              <a:latin typeface="Nunito"/>
              <a:ea typeface="Nunito"/>
              <a:cs typeface="Nunito"/>
              <a:sym typeface="Nunito"/>
            </a:endParaRPr>
          </a:p>
          <a:p>
            <a:pPr marL="914400" lvl="1" indent="-298450" algn="l" rtl="0">
              <a:lnSpc>
                <a:spcPct val="115000"/>
              </a:lnSpc>
              <a:spcBef>
                <a:spcPts val="0"/>
              </a:spcBef>
              <a:spcAft>
                <a:spcPts val="0"/>
              </a:spcAft>
              <a:buSzPts val="1100"/>
              <a:buChar char="○"/>
            </a:pPr>
            <a:r>
              <a:rPr lang="en" sz="1100">
                <a:latin typeface="Nunito"/>
                <a:ea typeface="Nunito"/>
                <a:cs typeface="Nunito"/>
                <a:sym typeface="Nunito"/>
              </a:rPr>
              <a:t>Multiplying the </a:t>
            </a:r>
            <a:r>
              <a:rPr lang="en" sz="1100" b="1">
                <a:solidFill>
                  <a:schemeClr val="accent1"/>
                </a:solidFill>
                <a:latin typeface="Nunito"/>
                <a:ea typeface="Nunito"/>
                <a:cs typeface="Nunito"/>
                <a:sym typeface="Nunito"/>
              </a:rPr>
              <a:t>normalized score</a:t>
            </a:r>
            <a:r>
              <a:rPr lang="en" sz="1100">
                <a:solidFill>
                  <a:schemeClr val="accent1"/>
                </a:solidFill>
                <a:latin typeface="Nunito"/>
                <a:ea typeface="Nunito"/>
                <a:cs typeface="Nunito"/>
                <a:sym typeface="Nunito"/>
              </a:rPr>
              <a:t> </a:t>
            </a:r>
            <a:r>
              <a:rPr lang="en" sz="1100">
                <a:latin typeface="Nunito"/>
                <a:ea typeface="Nunito"/>
                <a:cs typeface="Nunito"/>
                <a:sym typeface="Nunito"/>
              </a:rPr>
              <a:t>of each metric by its </a:t>
            </a:r>
            <a:r>
              <a:rPr lang="en" sz="1100" b="1">
                <a:solidFill>
                  <a:schemeClr val="accent1"/>
                </a:solidFill>
                <a:latin typeface="Nunito"/>
                <a:ea typeface="Nunito"/>
                <a:cs typeface="Nunito"/>
                <a:sym typeface="Nunito"/>
              </a:rPr>
              <a:t>weight (%)</a:t>
            </a:r>
            <a:r>
              <a:rPr lang="en" sz="1100">
                <a:solidFill>
                  <a:schemeClr val="accent1"/>
                </a:solidFill>
                <a:latin typeface="Nunito"/>
                <a:ea typeface="Nunito"/>
                <a:cs typeface="Nunito"/>
                <a:sym typeface="Nunito"/>
              </a:rPr>
              <a:t>.</a:t>
            </a:r>
            <a:br>
              <a:rPr lang="en" sz="1100">
                <a:latin typeface="Nunito"/>
                <a:ea typeface="Nunito"/>
                <a:cs typeface="Nunito"/>
                <a:sym typeface="Nunito"/>
              </a:rPr>
            </a:br>
            <a:endParaRPr sz="1100">
              <a:latin typeface="Nunito"/>
              <a:ea typeface="Nunito"/>
              <a:cs typeface="Nunito"/>
              <a:sym typeface="Nunito"/>
            </a:endParaRPr>
          </a:p>
          <a:p>
            <a:pPr marL="457200" lvl="0" indent="-298450" algn="l" rtl="0">
              <a:lnSpc>
                <a:spcPct val="115000"/>
              </a:lnSpc>
              <a:spcBef>
                <a:spcPts val="0"/>
              </a:spcBef>
              <a:spcAft>
                <a:spcPts val="0"/>
              </a:spcAft>
              <a:buSzPts val="1100"/>
              <a:buFont typeface="Nunito"/>
              <a:buAutoNum type="arabicPeriod"/>
            </a:pPr>
            <a:r>
              <a:rPr lang="en" sz="1100" b="1">
                <a:solidFill>
                  <a:schemeClr val="accent1"/>
                </a:solidFill>
                <a:latin typeface="Nunito"/>
                <a:ea typeface="Nunito"/>
                <a:cs typeface="Nunito"/>
                <a:sym typeface="Nunito"/>
              </a:rPr>
              <a:t>Summation of the Weighted Scores to Get the Final Investment Score:</a:t>
            </a:r>
            <a:br>
              <a:rPr lang="en" sz="1100" b="1">
                <a:latin typeface="Nunito"/>
                <a:ea typeface="Nunito"/>
                <a:cs typeface="Nunito"/>
                <a:sym typeface="Nunito"/>
              </a:rPr>
            </a:br>
            <a:endParaRPr sz="1100" b="1">
              <a:latin typeface="Nunito"/>
              <a:ea typeface="Nunito"/>
              <a:cs typeface="Nunito"/>
              <a:sym typeface="Nunito"/>
            </a:endParaRPr>
          </a:p>
          <a:p>
            <a:pPr marL="914400" lvl="1" indent="-298450" algn="l" rtl="0">
              <a:lnSpc>
                <a:spcPct val="115000"/>
              </a:lnSpc>
              <a:spcBef>
                <a:spcPts val="0"/>
              </a:spcBef>
              <a:spcAft>
                <a:spcPts val="0"/>
              </a:spcAft>
              <a:buSzPts val="1100"/>
              <a:buChar char="○"/>
            </a:pPr>
            <a:r>
              <a:rPr lang="en" sz="1100">
                <a:latin typeface="Nunito"/>
                <a:ea typeface="Nunito"/>
                <a:cs typeface="Nunito"/>
                <a:sym typeface="Nunito"/>
              </a:rPr>
              <a:t>The </a:t>
            </a:r>
            <a:r>
              <a:rPr lang="en" sz="1100" b="1">
                <a:solidFill>
                  <a:schemeClr val="accent1"/>
                </a:solidFill>
                <a:latin typeface="Nunito"/>
                <a:ea typeface="Nunito"/>
                <a:cs typeface="Nunito"/>
                <a:sym typeface="Nunito"/>
              </a:rPr>
              <a:t>total score ranges from 0 to 10</a:t>
            </a:r>
            <a:r>
              <a:rPr lang="en" sz="1100">
                <a:latin typeface="Nunito"/>
                <a:ea typeface="Nunito"/>
                <a:cs typeface="Nunito"/>
                <a:sym typeface="Nunito"/>
              </a:rPr>
              <a:t>, where </a:t>
            </a:r>
            <a:r>
              <a:rPr lang="en" sz="1100" b="1">
                <a:solidFill>
                  <a:schemeClr val="accent1"/>
                </a:solidFill>
                <a:latin typeface="Nunito"/>
                <a:ea typeface="Nunito"/>
                <a:cs typeface="Nunito"/>
                <a:sym typeface="Nunito"/>
              </a:rPr>
              <a:t>higher means a better investment</a:t>
            </a:r>
            <a:r>
              <a:rPr lang="en" sz="1100">
                <a:solidFill>
                  <a:schemeClr val="accent1"/>
                </a:solidFill>
                <a:latin typeface="Nunito"/>
                <a:ea typeface="Nunito"/>
                <a:cs typeface="Nunito"/>
                <a:sym typeface="Nunito"/>
              </a:rPr>
              <a:t>.</a:t>
            </a:r>
            <a:endParaRPr sz="1100">
              <a:solidFill>
                <a:schemeClr val="accent1"/>
              </a:solidFill>
              <a:latin typeface="Nunito"/>
              <a:ea typeface="Nunito"/>
              <a:cs typeface="Nunito"/>
              <a:sym typeface="Nunito"/>
            </a:endParaRPr>
          </a:p>
        </p:txBody>
      </p:sp>
      <p:sp>
        <p:nvSpPr>
          <p:cNvPr id="334" name="Google Shape;334;p22"/>
          <p:cNvSpPr txBox="1">
            <a:spLocks noGrp="1"/>
          </p:cNvSpPr>
          <p:nvPr>
            <p:ph type="title"/>
          </p:nvPr>
        </p:nvSpPr>
        <p:spPr>
          <a:xfrm>
            <a:off x="610200" y="408900"/>
            <a:ext cx="7923600" cy="44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2400"/>
              <a:t>Breakdown of Portfolio Stocks using Investment Score</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3"/>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3"/>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341" name="Google Shape;341;p23"/>
          <p:cNvSpPr txBox="1">
            <a:spLocks noGrp="1"/>
          </p:cNvSpPr>
          <p:nvPr>
            <p:ph type="title"/>
          </p:nvPr>
        </p:nvSpPr>
        <p:spPr>
          <a:xfrm>
            <a:off x="613425" y="780675"/>
            <a:ext cx="5693400" cy="44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a:solidFill>
                  <a:schemeClr val="accent1"/>
                </a:solidFill>
              </a:rPr>
              <a:t>Example Calculation for Stock O:</a:t>
            </a:r>
            <a:endParaRPr sz="1800">
              <a:solidFill>
                <a:schemeClr val="accent1"/>
              </a:solidFill>
            </a:endParaRPr>
          </a:p>
        </p:txBody>
      </p:sp>
      <p:pic>
        <p:nvPicPr>
          <p:cNvPr id="342" name="Google Shape;342;p23"/>
          <p:cNvPicPr preferRelativeResize="0"/>
          <p:nvPr/>
        </p:nvPicPr>
        <p:blipFill>
          <a:blip r:embed="rId3">
            <a:alphaModFix/>
          </a:blip>
          <a:stretch>
            <a:fillRect/>
          </a:stretch>
        </p:blipFill>
        <p:spPr>
          <a:xfrm>
            <a:off x="1087163" y="1222575"/>
            <a:ext cx="6539975" cy="3664400"/>
          </a:xfrm>
          <a:prstGeom prst="rect">
            <a:avLst/>
          </a:prstGeom>
          <a:noFill/>
          <a:ln>
            <a:noFill/>
          </a:ln>
        </p:spPr>
      </p:pic>
      <p:sp>
        <p:nvSpPr>
          <p:cNvPr id="343" name="Google Shape;343;p23"/>
          <p:cNvSpPr txBox="1">
            <a:spLocks noGrp="1"/>
          </p:cNvSpPr>
          <p:nvPr>
            <p:ph type="title"/>
          </p:nvPr>
        </p:nvSpPr>
        <p:spPr>
          <a:xfrm>
            <a:off x="610200" y="318650"/>
            <a:ext cx="7923600" cy="44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2400"/>
              <a:t>Breakdown of Portfolio Stocks using Investment Score</a:t>
            </a: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4"/>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Stock Portfolio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5"/>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5"/>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355" name="Google Shape;355;p25"/>
          <p:cNvSpPr/>
          <p:nvPr/>
        </p:nvSpPr>
        <p:spPr>
          <a:xfrm>
            <a:off x="2428375" y="298775"/>
            <a:ext cx="3895200" cy="4437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56" name="Google Shape;356;p25"/>
          <p:cNvSpPr txBox="1">
            <a:spLocks noGrp="1"/>
          </p:cNvSpPr>
          <p:nvPr>
            <p:ph type="title"/>
          </p:nvPr>
        </p:nvSpPr>
        <p:spPr>
          <a:xfrm>
            <a:off x="1510450" y="215550"/>
            <a:ext cx="56934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Stock Portfolio Analysis</a:t>
            </a:r>
            <a:endParaRPr>
              <a:solidFill>
                <a:schemeClr val="dk1"/>
              </a:solidFill>
            </a:endParaRPr>
          </a:p>
        </p:txBody>
      </p:sp>
      <p:sp>
        <p:nvSpPr>
          <p:cNvPr id="357" name="Google Shape;357;p25"/>
          <p:cNvSpPr/>
          <p:nvPr/>
        </p:nvSpPr>
        <p:spPr>
          <a:xfrm>
            <a:off x="1172575" y="840200"/>
            <a:ext cx="3188400" cy="4419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58" name="Google Shape;358;p25"/>
          <p:cNvSpPr txBox="1"/>
          <p:nvPr/>
        </p:nvSpPr>
        <p:spPr>
          <a:xfrm>
            <a:off x="719800" y="597810"/>
            <a:ext cx="7274700" cy="441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 sz="1700" b="1"/>
              <a:t>1️⃣   </a:t>
            </a:r>
            <a:r>
              <a:rPr lang="en" sz="1700" b="1">
                <a:solidFill>
                  <a:schemeClr val="dk1"/>
                </a:solidFill>
              </a:rPr>
              <a:t>Stock O - Best Growth Pick</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8.1/10 (</a:t>
            </a:r>
            <a:r>
              <a:rPr lang="en" sz="1100">
                <a:solidFill>
                  <a:schemeClr val="accent1"/>
                </a:solidFill>
                <a:latin typeface="Nunito"/>
                <a:ea typeface="Nunito"/>
                <a:cs typeface="Nunito"/>
                <a:sym typeface="Nunito"/>
              </a:rPr>
              <a:t>Stock O is the </a:t>
            </a:r>
            <a:r>
              <a:rPr lang="en" sz="1100" b="1">
                <a:solidFill>
                  <a:schemeClr val="accent1"/>
                </a:solidFill>
                <a:latin typeface="Nunito"/>
                <a:ea typeface="Nunito"/>
                <a:cs typeface="Nunito"/>
                <a:sym typeface="Nunito"/>
              </a:rPr>
              <a:t>highest-ranked stock</a:t>
            </a:r>
            <a:r>
              <a:rPr lang="en" sz="1100">
                <a:solidFill>
                  <a:schemeClr val="accent1"/>
                </a:solidFill>
                <a:latin typeface="Nunito"/>
                <a:ea typeface="Nunito"/>
                <a:cs typeface="Nunito"/>
                <a:sym typeface="Nunito"/>
              </a:rPr>
              <a:t> due to </a:t>
            </a:r>
            <a:r>
              <a:rPr lang="en" sz="1100" b="1">
                <a:solidFill>
                  <a:schemeClr val="accent1"/>
                </a:solidFill>
                <a:latin typeface="Nunito"/>
                <a:ea typeface="Nunito"/>
                <a:cs typeface="Nunito"/>
                <a:sym typeface="Nunito"/>
              </a:rPr>
              <a:t>exceptional revenue growth and solid profitability)</a:t>
            </a:r>
            <a:r>
              <a:rPr lang="en" sz="1100">
                <a:solidFill>
                  <a:schemeClr val="accent1"/>
                </a:solidFill>
                <a:latin typeface="Nunito"/>
                <a:ea typeface="Nunito"/>
                <a:cs typeface="Nunito"/>
                <a:sym typeface="Nunito"/>
              </a:rPr>
              <a:t>.</a:t>
            </a:r>
            <a:endParaRPr sz="1100">
              <a:solidFill>
                <a:schemeClr val="accent1"/>
              </a:solidFill>
              <a:latin typeface="Nunito"/>
              <a:ea typeface="Nunito"/>
              <a:cs typeface="Nunito"/>
              <a:sym typeface="Nunito"/>
            </a:endParaRPr>
          </a:p>
          <a:p>
            <a:pPr marL="457200" lvl="0" indent="-298450" algn="l" rtl="0">
              <a:lnSpc>
                <a:spcPct val="115000"/>
              </a:lnSpc>
              <a:spcBef>
                <a:spcPts val="1200"/>
              </a:spcBef>
              <a:spcAft>
                <a:spcPts val="0"/>
              </a:spcAft>
              <a:buClr>
                <a:schemeClr val="dk2"/>
              </a:buClr>
              <a:buSzPts val="1100"/>
              <a:buChar char="●"/>
            </a:pPr>
            <a:r>
              <a:rPr lang="en" sz="1100" b="1">
                <a:solidFill>
                  <a:schemeClr val="dk2"/>
                </a:solidFill>
                <a:latin typeface="Nunito"/>
                <a:ea typeface="Nunito"/>
                <a:cs typeface="Nunito"/>
                <a:sym typeface="Nunito"/>
              </a:rPr>
              <a:t>P/E Ratio:</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22.44</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Fair</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Revenue Growth:</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+739.5%</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Excellent</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EBITDA Growth:</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+17.5%</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Good</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Net Profit Margin:</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17.5%</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Moderate</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Debt-to-EBITDA:</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2.83</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Manageable Risk</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EBITDA Margin:</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22.3%</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Good</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EPS Growth:</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+14.8%</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Strong</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Interest Coverage Ratio:</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5.7</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Safe</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Dividend Yield:</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4.03%</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Decent Yield</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ROE (Return on Equity):</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23.32%</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Strong Efficiency</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ROIC (Return on Invested Capital):</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-14.87%</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Weak</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ROA (Return on Assets):</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402.93%</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Very Strong</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0" lvl="0" indent="0" algn="l" rtl="0">
              <a:lnSpc>
                <a:spcPct val="115000"/>
              </a:lnSpc>
              <a:spcBef>
                <a:spcPts val="1200"/>
              </a:spcBef>
              <a:spcAft>
                <a:spcPts val="0"/>
              </a:spcAft>
              <a:buNone/>
            </a:pPr>
            <a:r>
              <a:rPr lang="en" sz="1100">
                <a:latin typeface="Nunito"/>
                <a:ea typeface="Nunito"/>
                <a:cs typeface="Nunito"/>
                <a:sym typeface="Nunito"/>
              </a:rPr>
              <a:t>📌</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Final Verdict:</a:t>
            </a:r>
            <a:r>
              <a:rPr lang="en" sz="1100">
                <a:solidFill>
                  <a:schemeClr val="dk2"/>
                </a:solidFill>
                <a:latin typeface="Nunito"/>
                <a:ea typeface="Nunito"/>
                <a:cs typeface="Nunito"/>
                <a:sym typeface="Nunito"/>
              </a:rPr>
              <a:t> ✅ </a:t>
            </a:r>
            <a:r>
              <a:rPr lang="en" sz="1100" b="1">
                <a:solidFill>
                  <a:schemeClr val="dk2"/>
                </a:solidFill>
                <a:latin typeface="Nunito"/>
                <a:ea typeface="Nunito"/>
                <a:cs typeface="Nunito"/>
                <a:sym typeface="Nunito"/>
              </a:rPr>
              <a:t>Best stock for high-growth investors. It has outstanding revenue growth and solid profitability but must be monitored for risk.</a:t>
            </a:r>
            <a:endParaRPr sz="1100" b="1">
              <a:solidFill>
                <a:schemeClr val="dk2"/>
              </a:solidFill>
              <a:latin typeface="Nunito"/>
              <a:ea typeface="Nunito"/>
              <a:cs typeface="Nunito"/>
              <a:sym typeface="Nunito"/>
            </a:endParaRPr>
          </a:p>
          <a:p>
            <a:pPr marL="914400" lvl="1" indent="-311150" algn="l" rtl="0">
              <a:lnSpc>
                <a:spcPct val="115000"/>
              </a:lnSpc>
              <a:spcBef>
                <a:spcPts val="1200"/>
              </a:spcBef>
              <a:spcAft>
                <a:spcPts val="0"/>
              </a:spcAft>
              <a:buSzPts val="1300"/>
              <a:buChar char="○"/>
            </a:pPr>
            <a:endParaRPr sz="1300"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26"/>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6"/>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365" name="Google Shape;365;p26"/>
          <p:cNvSpPr/>
          <p:nvPr/>
        </p:nvSpPr>
        <p:spPr>
          <a:xfrm>
            <a:off x="1014650" y="877825"/>
            <a:ext cx="3789900" cy="5112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66" name="Google Shape;366;p26"/>
          <p:cNvSpPr txBox="1"/>
          <p:nvPr/>
        </p:nvSpPr>
        <p:spPr>
          <a:xfrm>
            <a:off x="553720" y="757850"/>
            <a:ext cx="7971000" cy="4478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t> </a:t>
            </a:r>
            <a:r>
              <a:rPr lang="en" sz="1700" b="1"/>
              <a:t>2️⃣  </a:t>
            </a:r>
            <a:r>
              <a:rPr lang="en" sz="1700" b="1">
                <a:solidFill>
                  <a:schemeClr val="dk1"/>
                </a:solidFill>
              </a:rPr>
              <a:t>Stock M - Safe Growth, Low Risk</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7.9/10</a:t>
            </a:r>
            <a:br>
              <a:rPr lang="en" sz="1100" b="1">
                <a:solidFill>
                  <a:schemeClr val="accent1"/>
                </a:solidFill>
                <a:latin typeface="Nunito"/>
                <a:ea typeface="Nunito"/>
                <a:cs typeface="Nunito"/>
                <a:sym typeface="Nunito"/>
              </a:rPr>
            </a:br>
            <a:r>
              <a:rPr lang="en" sz="1100">
                <a:solidFill>
                  <a:schemeClr val="accent1"/>
                </a:solidFill>
                <a:latin typeface="Nunito"/>
                <a:ea typeface="Nunito"/>
                <a:cs typeface="Nunito"/>
                <a:sym typeface="Nunito"/>
              </a:rPr>
              <a:t> </a:t>
            </a:r>
            <a:r>
              <a:rPr lang="en" sz="1100">
                <a:latin typeface="Nunito"/>
                <a:ea typeface="Nunito"/>
                <a:cs typeface="Nunito"/>
                <a:sym typeface="Nunito"/>
              </a:rPr>
              <a:t>Stock M is </a:t>
            </a:r>
            <a:r>
              <a:rPr lang="en" sz="1100" b="1">
                <a:latin typeface="Nunito"/>
                <a:ea typeface="Nunito"/>
                <a:cs typeface="Nunito"/>
                <a:sym typeface="Nunito"/>
              </a:rPr>
              <a:t>a balanced investment with steady growth, strong profitability, and low debt</a:t>
            </a:r>
            <a:r>
              <a:rPr lang="en" sz="1100">
                <a:latin typeface="Nunito"/>
                <a:ea typeface="Nunito"/>
                <a:cs typeface="Nunito"/>
                <a:sym typeface="Nunito"/>
              </a:rPr>
              <a:t>.</a:t>
            </a:r>
            <a:endParaRPr sz="1100">
              <a:latin typeface="Nunito"/>
              <a:ea typeface="Nunito"/>
              <a:cs typeface="Nunito"/>
              <a:sym typeface="Nunito"/>
            </a:endParaRPr>
          </a:p>
          <a:p>
            <a:pPr marL="457200" lvl="0" indent="-298450" algn="l" rtl="0">
              <a:lnSpc>
                <a:spcPct val="115000"/>
              </a:lnSpc>
              <a:spcBef>
                <a:spcPts val="1200"/>
              </a:spcBef>
              <a:spcAft>
                <a:spcPts val="0"/>
              </a:spcAft>
              <a:buSzPts val="1100"/>
              <a:buChar char="●"/>
            </a:pPr>
            <a:r>
              <a:rPr lang="en" sz="1100" b="1">
                <a:latin typeface="Nunito"/>
                <a:ea typeface="Nunito"/>
                <a:cs typeface="Nunito"/>
                <a:sym typeface="Nunito"/>
              </a:rPr>
              <a:t>P/E Ratio:</a:t>
            </a:r>
            <a:r>
              <a:rPr lang="en" sz="1100">
                <a:latin typeface="Nunito"/>
                <a:ea typeface="Nunito"/>
                <a:cs typeface="Nunito"/>
                <a:sym typeface="Nunito"/>
              </a:rPr>
              <a:t> </a:t>
            </a:r>
            <a:r>
              <a:rPr lang="en" sz="1100" b="1">
                <a:latin typeface="Nunito"/>
                <a:ea typeface="Nunito"/>
                <a:cs typeface="Nunito"/>
                <a:sym typeface="Nunito"/>
              </a:rPr>
              <a:t>12.56</a:t>
            </a:r>
            <a:r>
              <a:rPr lang="en" sz="1100">
                <a:latin typeface="Nunito"/>
                <a:ea typeface="Nunito"/>
                <a:cs typeface="Nunito"/>
                <a:sym typeface="Nunito"/>
              </a:rPr>
              <a:t> (</a:t>
            </a:r>
            <a:r>
              <a:rPr lang="en" sz="1100" b="1">
                <a:latin typeface="Nunito"/>
                <a:ea typeface="Nunito"/>
                <a:cs typeface="Nunito"/>
                <a:sym typeface="Nunito"/>
              </a:rPr>
              <a:t>Undervalued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Revenue Growth:</a:t>
            </a:r>
            <a:r>
              <a:rPr lang="en" sz="1100">
                <a:latin typeface="Nunito"/>
                <a:ea typeface="Nunito"/>
                <a:cs typeface="Nunito"/>
                <a:sym typeface="Nunito"/>
              </a:rPr>
              <a:t> </a:t>
            </a:r>
            <a:r>
              <a:rPr lang="en" sz="1100" b="1">
                <a:latin typeface="Nunito"/>
                <a:ea typeface="Nunito"/>
                <a:cs typeface="Nunito"/>
                <a:sym typeface="Nunito"/>
              </a:rPr>
              <a:t>+19.2%</a:t>
            </a:r>
            <a:r>
              <a:rPr lang="en" sz="1100">
                <a:latin typeface="Nunito"/>
                <a:ea typeface="Nunito"/>
                <a:cs typeface="Nunito"/>
                <a:sym typeface="Nunito"/>
              </a:rPr>
              <a:t> (</a:t>
            </a:r>
            <a:r>
              <a:rPr lang="en" sz="1100" b="1">
                <a:latin typeface="Nunito"/>
                <a:ea typeface="Nunito"/>
                <a:cs typeface="Nunito"/>
                <a:sym typeface="Nunito"/>
              </a:rPr>
              <a:t>Good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Growth:</a:t>
            </a:r>
            <a:r>
              <a:rPr lang="en" sz="1100">
                <a:latin typeface="Nunito"/>
                <a:ea typeface="Nunito"/>
                <a:cs typeface="Nunito"/>
                <a:sym typeface="Nunito"/>
              </a:rPr>
              <a:t> </a:t>
            </a:r>
            <a:r>
              <a:rPr lang="en" sz="1100" b="1">
                <a:latin typeface="Nunito"/>
                <a:ea typeface="Nunito"/>
                <a:cs typeface="Nunito"/>
                <a:sym typeface="Nunito"/>
              </a:rPr>
              <a:t>+18.5%</a:t>
            </a:r>
            <a:r>
              <a:rPr lang="en" sz="1100">
                <a:latin typeface="Nunito"/>
                <a:ea typeface="Nunito"/>
                <a:cs typeface="Nunito"/>
                <a:sym typeface="Nunito"/>
              </a:rPr>
              <a:t> (</a:t>
            </a:r>
            <a:r>
              <a:rPr lang="en" sz="1100" b="1">
                <a:latin typeface="Nunito"/>
                <a:ea typeface="Nunito"/>
                <a:cs typeface="Nunito"/>
                <a:sym typeface="Nunito"/>
              </a:rPr>
              <a:t>Good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Net Profit Margin:</a:t>
            </a:r>
            <a:r>
              <a:rPr lang="en" sz="1100">
                <a:latin typeface="Nunito"/>
                <a:ea typeface="Nunito"/>
                <a:cs typeface="Nunito"/>
                <a:sym typeface="Nunito"/>
              </a:rPr>
              <a:t> </a:t>
            </a:r>
            <a:r>
              <a:rPr lang="en" sz="1100" b="1">
                <a:latin typeface="Nunito"/>
                <a:ea typeface="Nunito"/>
                <a:cs typeface="Nunito"/>
                <a:sym typeface="Nunito"/>
              </a:rPr>
              <a:t>27.3%</a:t>
            </a:r>
            <a:r>
              <a:rPr lang="en" sz="1100">
                <a:latin typeface="Nunito"/>
                <a:ea typeface="Nunito"/>
                <a:cs typeface="Nunito"/>
                <a:sym typeface="Nunito"/>
              </a:rPr>
              <a:t> (</a:t>
            </a:r>
            <a:r>
              <a:rPr lang="en" sz="1100" b="1">
                <a:latin typeface="Nunito"/>
                <a:ea typeface="Nunito"/>
                <a:cs typeface="Nunito"/>
                <a:sym typeface="Nunito"/>
              </a:rPr>
              <a:t>Excellent</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Debt-to-EBITDA:</a:t>
            </a:r>
            <a:r>
              <a:rPr lang="en" sz="1100">
                <a:latin typeface="Nunito"/>
                <a:ea typeface="Nunito"/>
                <a:cs typeface="Nunito"/>
                <a:sym typeface="Nunito"/>
              </a:rPr>
              <a:t> </a:t>
            </a:r>
            <a:r>
              <a:rPr lang="en" sz="1100" b="1">
                <a:latin typeface="Nunito"/>
                <a:ea typeface="Nunito"/>
                <a:cs typeface="Nunito"/>
                <a:sym typeface="Nunito"/>
              </a:rPr>
              <a:t>1.29</a:t>
            </a:r>
            <a:r>
              <a:rPr lang="en" sz="1100">
                <a:latin typeface="Nunito"/>
                <a:ea typeface="Nunito"/>
                <a:cs typeface="Nunito"/>
                <a:sym typeface="Nunito"/>
              </a:rPr>
              <a:t> (</a:t>
            </a:r>
            <a:r>
              <a:rPr lang="en" sz="1100" b="1">
                <a:latin typeface="Nunito"/>
                <a:ea typeface="Nunito"/>
                <a:cs typeface="Nunito"/>
                <a:sym typeface="Nunito"/>
              </a:rPr>
              <a:t>Low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Margin:</a:t>
            </a:r>
            <a:r>
              <a:rPr lang="en" sz="1100">
                <a:latin typeface="Nunito"/>
                <a:ea typeface="Nunito"/>
                <a:cs typeface="Nunito"/>
                <a:sym typeface="Nunito"/>
              </a:rPr>
              <a:t> </a:t>
            </a:r>
            <a:r>
              <a:rPr lang="en" sz="1100" b="1">
                <a:latin typeface="Nunito"/>
                <a:ea typeface="Nunito"/>
                <a:cs typeface="Nunito"/>
                <a:sym typeface="Nunito"/>
              </a:rPr>
              <a:t>30.1%</a:t>
            </a:r>
            <a:r>
              <a:rPr lang="en" sz="1100">
                <a:latin typeface="Nunito"/>
                <a:ea typeface="Nunito"/>
                <a:cs typeface="Nunito"/>
                <a:sym typeface="Nunito"/>
              </a:rPr>
              <a:t> (</a:t>
            </a:r>
            <a:r>
              <a:rPr lang="en" sz="1100" b="1">
                <a:latin typeface="Nunito"/>
                <a:ea typeface="Nunito"/>
                <a:cs typeface="Nunito"/>
                <a:sym typeface="Nunito"/>
              </a:rPr>
              <a:t>Strong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EPS Growth:</a:t>
            </a:r>
            <a:r>
              <a:rPr lang="en" sz="1100">
                <a:latin typeface="Nunito"/>
                <a:ea typeface="Nunito"/>
                <a:cs typeface="Nunito"/>
                <a:sym typeface="Nunito"/>
              </a:rPr>
              <a:t> </a:t>
            </a:r>
            <a:r>
              <a:rPr lang="en" sz="1100" b="1">
                <a:latin typeface="Nunito"/>
                <a:ea typeface="Nunito"/>
                <a:cs typeface="Nunito"/>
                <a:sym typeface="Nunito"/>
              </a:rPr>
              <a:t>+15.2%</a:t>
            </a:r>
            <a:r>
              <a:rPr lang="en" sz="1100">
                <a:latin typeface="Nunito"/>
                <a:ea typeface="Nunito"/>
                <a:cs typeface="Nunito"/>
                <a:sym typeface="Nunito"/>
              </a:rPr>
              <a:t> (</a:t>
            </a:r>
            <a:r>
              <a:rPr lang="en" sz="1100" b="1">
                <a:latin typeface="Nunito"/>
                <a:ea typeface="Nunito"/>
                <a:cs typeface="Nunito"/>
                <a:sym typeface="Nunito"/>
              </a:rPr>
              <a:t>Strong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Interest Coverage Ratio:</a:t>
            </a:r>
            <a:r>
              <a:rPr lang="en" sz="1100">
                <a:latin typeface="Nunito"/>
                <a:ea typeface="Nunito"/>
                <a:cs typeface="Nunito"/>
                <a:sym typeface="Nunito"/>
              </a:rPr>
              <a:t> </a:t>
            </a:r>
            <a:r>
              <a:rPr lang="en" sz="1100" b="1">
                <a:latin typeface="Nunito"/>
                <a:ea typeface="Nunito"/>
                <a:cs typeface="Nunito"/>
                <a:sym typeface="Nunito"/>
              </a:rPr>
              <a:t>8.3</a:t>
            </a:r>
            <a:r>
              <a:rPr lang="en" sz="1100">
                <a:latin typeface="Nunito"/>
                <a:ea typeface="Nunito"/>
                <a:cs typeface="Nunito"/>
                <a:sym typeface="Nunito"/>
              </a:rPr>
              <a:t> (</a:t>
            </a:r>
            <a:r>
              <a:rPr lang="en" sz="1100" b="1">
                <a:latin typeface="Nunito"/>
                <a:ea typeface="Nunito"/>
                <a:cs typeface="Nunito"/>
                <a:sym typeface="Nunito"/>
              </a:rPr>
              <a:t>Safe</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Dividend Yield:</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ROE:</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ROIC:</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ROA:</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457200" lvl="0" indent="0" algn="l" rtl="0">
              <a:lnSpc>
                <a:spcPct val="115000"/>
              </a:lnSpc>
              <a:spcBef>
                <a:spcPts val="1200"/>
              </a:spcBef>
              <a:spcAft>
                <a:spcPts val="0"/>
              </a:spcAft>
              <a:buNone/>
            </a:pPr>
            <a:r>
              <a:rPr lang="en" sz="1100">
                <a:latin typeface="Nunito"/>
                <a:ea typeface="Nunito"/>
                <a:cs typeface="Nunito"/>
                <a:sym typeface="Nunito"/>
              </a:rPr>
              <a:t>📌 </a:t>
            </a:r>
            <a:r>
              <a:rPr lang="en" sz="1100" b="1">
                <a:latin typeface="Nunito"/>
                <a:ea typeface="Nunito"/>
                <a:cs typeface="Nunito"/>
                <a:sym typeface="Nunito"/>
              </a:rPr>
              <a:t>Final Verdict:</a:t>
            </a:r>
            <a:r>
              <a:rPr lang="en" sz="1100">
                <a:latin typeface="Nunito"/>
                <a:ea typeface="Nunito"/>
                <a:cs typeface="Nunito"/>
                <a:sym typeface="Nunito"/>
              </a:rPr>
              <a:t> ✅ </a:t>
            </a:r>
            <a:r>
              <a:rPr lang="en" sz="1100" b="1">
                <a:latin typeface="Nunito"/>
                <a:ea typeface="Nunito"/>
                <a:cs typeface="Nunito"/>
                <a:sym typeface="Nunito"/>
              </a:rPr>
              <a:t>Great for long-term investors. It offers a combination of profitability, strong financial health, and solid growth.</a:t>
            </a:r>
            <a:endParaRPr sz="1100" b="1">
              <a:latin typeface="Nunito"/>
              <a:ea typeface="Nunito"/>
              <a:cs typeface="Nunito"/>
              <a:sym typeface="Nunito"/>
            </a:endParaRPr>
          </a:p>
          <a:p>
            <a:pPr marL="0" lvl="0" indent="0" algn="l" rtl="0">
              <a:lnSpc>
                <a:spcPct val="115000"/>
              </a:lnSpc>
              <a:spcBef>
                <a:spcPts val="1200"/>
              </a:spcBef>
              <a:spcAft>
                <a:spcPts val="0"/>
              </a:spcAft>
              <a:buNone/>
            </a:pPr>
            <a:endParaRPr sz="1700" b="1"/>
          </a:p>
        </p:txBody>
      </p:sp>
      <p:sp>
        <p:nvSpPr>
          <p:cNvPr id="367" name="Google Shape;367;p26"/>
          <p:cNvSpPr/>
          <p:nvPr/>
        </p:nvSpPr>
        <p:spPr>
          <a:xfrm>
            <a:off x="2428375" y="298775"/>
            <a:ext cx="3895200" cy="4437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68" name="Google Shape;368;p26"/>
          <p:cNvSpPr txBox="1">
            <a:spLocks noGrp="1"/>
          </p:cNvSpPr>
          <p:nvPr>
            <p:ph type="title"/>
          </p:nvPr>
        </p:nvSpPr>
        <p:spPr>
          <a:xfrm>
            <a:off x="1510450" y="215550"/>
            <a:ext cx="56934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Stock Portfolio Analysis</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7"/>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7"/>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375" name="Google Shape;375;p27"/>
          <p:cNvSpPr/>
          <p:nvPr/>
        </p:nvSpPr>
        <p:spPr>
          <a:xfrm>
            <a:off x="1097375" y="892850"/>
            <a:ext cx="4248600" cy="5112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76" name="Google Shape;376;p27"/>
          <p:cNvSpPr txBox="1"/>
          <p:nvPr/>
        </p:nvSpPr>
        <p:spPr>
          <a:xfrm>
            <a:off x="578500" y="785695"/>
            <a:ext cx="7767900" cy="4222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t> </a:t>
            </a:r>
            <a:r>
              <a:rPr lang="en" sz="1700" b="1"/>
              <a:t>3️⃣</a:t>
            </a:r>
            <a:r>
              <a:rPr lang="en" sz="1700" b="1">
                <a:solidFill>
                  <a:schemeClr val="dk1"/>
                </a:solidFill>
              </a:rPr>
              <a:t>    Stock J - Strong and Steady Performer</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7.2/10</a:t>
            </a:r>
            <a:br>
              <a:rPr lang="en" sz="1100" b="1">
                <a:latin typeface="Nunito"/>
                <a:ea typeface="Nunito"/>
                <a:cs typeface="Nunito"/>
                <a:sym typeface="Nunito"/>
              </a:rPr>
            </a:br>
            <a:r>
              <a:rPr lang="en" sz="1100">
                <a:latin typeface="Nunito"/>
                <a:ea typeface="Nunito"/>
                <a:cs typeface="Nunito"/>
                <a:sym typeface="Nunito"/>
              </a:rPr>
              <a:t> Stock J is a </a:t>
            </a:r>
            <a:r>
              <a:rPr lang="en" sz="1100" b="1">
                <a:latin typeface="Nunito"/>
                <a:ea typeface="Nunito"/>
                <a:cs typeface="Nunito"/>
                <a:sym typeface="Nunito"/>
              </a:rPr>
              <a:t>stable performer with solid profitability and reasonable valuation</a:t>
            </a:r>
            <a:r>
              <a:rPr lang="en" sz="1100">
                <a:latin typeface="Nunito"/>
                <a:ea typeface="Nunito"/>
                <a:cs typeface="Nunito"/>
                <a:sym typeface="Nunito"/>
              </a:rPr>
              <a:t>.</a:t>
            </a:r>
            <a:endParaRPr sz="1100">
              <a:latin typeface="Nunito"/>
              <a:ea typeface="Nunito"/>
              <a:cs typeface="Nunito"/>
              <a:sym typeface="Nunito"/>
            </a:endParaRPr>
          </a:p>
          <a:p>
            <a:pPr marL="457200" lvl="0" indent="-298450" algn="l" rtl="0">
              <a:lnSpc>
                <a:spcPct val="115000"/>
              </a:lnSpc>
              <a:spcBef>
                <a:spcPts val="1200"/>
              </a:spcBef>
              <a:spcAft>
                <a:spcPts val="0"/>
              </a:spcAft>
              <a:buSzPts val="1100"/>
              <a:buChar char="●"/>
            </a:pPr>
            <a:r>
              <a:rPr lang="en" sz="1100" b="1">
                <a:latin typeface="Nunito"/>
                <a:ea typeface="Nunito"/>
                <a:cs typeface="Nunito"/>
                <a:sym typeface="Nunito"/>
              </a:rPr>
              <a:t>P/E Ratio:</a:t>
            </a:r>
            <a:r>
              <a:rPr lang="en" sz="1100">
                <a:latin typeface="Nunito"/>
                <a:ea typeface="Nunito"/>
                <a:cs typeface="Nunito"/>
                <a:sym typeface="Nunito"/>
              </a:rPr>
              <a:t> </a:t>
            </a:r>
            <a:r>
              <a:rPr lang="en" sz="1100" b="1">
                <a:latin typeface="Nunito"/>
                <a:ea typeface="Nunito"/>
                <a:cs typeface="Nunito"/>
                <a:sym typeface="Nunito"/>
              </a:rPr>
              <a:t>15.92</a:t>
            </a:r>
            <a:r>
              <a:rPr lang="en" sz="1100">
                <a:latin typeface="Nunito"/>
                <a:ea typeface="Nunito"/>
                <a:cs typeface="Nunito"/>
                <a:sym typeface="Nunito"/>
              </a:rPr>
              <a:t> (</a:t>
            </a:r>
            <a:r>
              <a:rPr lang="en" sz="1100" b="1">
                <a:latin typeface="Nunito"/>
                <a:ea typeface="Nunito"/>
                <a:cs typeface="Nunito"/>
                <a:sym typeface="Nunito"/>
              </a:rPr>
              <a:t>Fair</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Revenue Growth:</a:t>
            </a:r>
            <a:r>
              <a:rPr lang="en" sz="1100">
                <a:latin typeface="Nunito"/>
                <a:ea typeface="Nunito"/>
                <a:cs typeface="Nunito"/>
                <a:sym typeface="Nunito"/>
              </a:rPr>
              <a:t> </a:t>
            </a:r>
            <a:r>
              <a:rPr lang="en" sz="1100" b="1">
                <a:latin typeface="Nunito"/>
                <a:ea typeface="Nunito"/>
                <a:cs typeface="Nunito"/>
                <a:sym typeface="Nunito"/>
              </a:rPr>
              <a:t>+16.8%</a:t>
            </a:r>
            <a:r>
              <a:rPr lang="en" sz="1100">
                <a:latin typeface="Nunito"/>
                <a:ea typeface="Nunito"/>
                <a:cs typeface="Nunito"/>
                <a:sym typeface="Nunito"/>
              </a:rPr>
              <a:t> (</a:t>
            </a:r>
            <a:r>
              <a:rPr lang="en" sz="1100" b="1">
                <a:latin typeface="Nunito"/>
                <a:ea typeface="Nunito"/>
                <a:cs typeface="Nunito"/>
                <a:sym typeface="Nunito"/>
              </a:rPr>
              <a:t>Good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Growth:</a:t>
            </a:r>
            <a:r>
              <a:rPr lang="en" sz="1100">
                <a:latin typeface="Nunito"/>
                <a:ea typeface="Nunito"/>
                <a:cs typeface="Nunito"/>
                <a:sym typeface="Nunito"/>
              </a:rPr>
              <a:t> </a:t>
            </a:r>
            <a:r>
              <a:rPr lang="en" sz="1100" b="1">
                <a:latin typeface="Nunito"/>
                <a:ea typeface="Nunito"/>
                <a:cs typeface="Nunito"/>
                <a:sym typeface="Nunito"/>
              </a:rPr>
              <a:t>+16.8%</a:t>
            </a:r>
            <a:r>
              <a:rPr lang="en" sz="1100">
                <a:latin typeface="Nunito"/>
                <a:ea typeface="Nunito"/>
                <a:cs typeface="Nunito"/>
                <a:sym typeface="Nunito"/>
              </a:rPr>
              <a:t> (</a:t>
            </a:r>
            <a:r>
              <a:rPr lang="en" sz="1100" b="1">
                <a:latin typeface="Nunito"/>
                <a:ea typeface="Nunito"/>
                <a:cs typeface="Nunito"/>
                <a:sym typeface="Nunito"/>
              </a:rPr>
              <a:t>Good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Net Profit Margin:</a:t>
            </a:r>
            <a:r>
              <a:rPr lang="en" sz="1100">
                <a:latin typeface="Nunito"/>
                <a:ea typeface="Nunito"/>
                <a:cs typeface="Nunito"/>
                <a:sym typeface="Nunito"/>
              </a:rPr>
              <a:t> </a:t>
            </a:r>
            <a:r>
              <a:rPr lang="en" sz="1100" b="1">
                <a:latin typeface="Nunito"/>
                <a:ea typeface="Nunito"/>
                <a:cs typeface="Nunito"/>
                <a:sym typeface="Nunito"/>
              </a:rPr>
              <a:t>24.1%</a:t>
            </a:r>
            <a:r>
              <a:rPr lang="en" sz="1100">
                <a:latin typeface="Nunito"/>
                <a:ea typeface="Nunito"/>
                <a:cs typeface="Nunito"/>
                <a:sym typeface="Nunito"/>
              </a:rPr>
              <a:t> (</a:t>
            </a:r>
            <a:r>
              <a:rPr lang="en" sz="1100" b="1">
                <a:latin typeface="Nunito"/>
                <a:ea typeface="Nunito"/>
                <a:cs typeface="Nunito"/>
                <a:sym typeface="Nunito"/>
              </a:rPr>
              <a:t>Strong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Debt-to-EBITDA:</a:t>
            </a:r>
            <a:r>
              <a:rPr lang="en" sz="1100">
                <a:latin typeface="Nunito"/>
                <a:ea typeface="Nunito"/>
                <a:cs typeface="Nunito"/>
                <a:sym typeface="Nunito"/>
              </a:rPr>
              <a:t> </a:t>
            </a:r>
            <a:r>
              <a:rPr lang="en" sz="1100" b="1">
                <a:latin typeface="Nunito"/>
                <a:ea typeface="Nunito"/>
                <a:cs typeface="Nunito"/>
                <a:sym typeface="Nunito"/>
              </a:rPr>
              <a:t>1.53</a:t>
            </a:r>
            <a:r>
              <a:rPr lang="en" sz="1100">
                <a:latin typeface="Nunito"/>
                <a:ea typeface="Nunito"/>
                <a:cs typeface="Nunito"/>
                <a:sym typeface="Nunito"/>
              </a:rPr>
              <a:t> (</a:t>
            </a:r>
            <a:r>
              <a:rPr lang="en" sz="1100" b="1">
                <a:latin typeface="Nunito"/>
                <a:ea typeface="Nunito"/>
                <a:cs typeface="Nunito"/>
                <a:sym typeface="Nunito"/>
              </a:rPr>
              <a:t>Low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Margin:</a:t>
            </a:r>
            <a:r>
              <a:rPr lang="en" sz="1100">
                <a:latin typeface="Nunito"/>
                <a:ea typeface="Nunito"/>
                <a:cs typeface="Nunito"/>
                <a:sym typeface="Nunito"/>
              </a:rPr>
              <a:t> </a:t>
            </a:r>
            <a:r>
              <a:rPr lang="en" sz="1100" b="1">
                <a:latin typeface="Nunito"/>
                <a:ea typeface="Nunito"/>
                <a:cs typeface="Nunito"/>
                <a:sym typeface="Nunito"/>
              </a:rPr>
              <a:t>28.4%</a:t>
            </a:r>
            <a:r>
              <a:rPr lang="en" sz="1100">
                <a:latin typeface="Nunito"/>
                <a:ea typeface="Nunito"/>
                <a:cs typeface="Nunito"/>
                <a:sym typeface="Nunito"/>
              </a:rPr>
              <a:t> (</a:t>
            </a:r>
            <a:r>
              <a:rPr lang="en" sz="1100" b="1">
                <a:latin typeface="Nunito"/>
                <a:ea typeface="Nunito"/>
                <a:cs typeface="Nunito"/>
                <a:sym typeface="Nunito"/>
              </a:rPr>
              <a:t>Strong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EPS Growth:</a:t>
            </a:r>
            <a:r>
              <a:rPr lang="en" sz="1100">
                <a:latin typeface="Nunito"/>
                <a:ea typeface="Nunito"/>
                <a:cs typeface="Nunito"/>
                <a:sym typeface="Nunito"/>
              </a:rPr>
              <a:t> </a:t>
            </a:r>
            <a:r>
              <a:rPr lang="en" sz="1100" b="1">
                <a:latin typeface="Nunito"/>
                <a:ea typeface="Nunito"/>
                <a:cs typeface="Nunito"/>
                <a:sym typeface="Nunito"/>
              </a:rPr>
              <a:t>+12.9%</a:t>
            </a:r>
            <a:r>
              <a:rPr lang="en" sz="1100">
                <a:latin typeface="Nunito"/>
                <a:ea typeface="Nunito"/>
                <a:cs typeface="Nunito"/>
                <a:sym typeface="Nunito"/>
              </a:rPr>
              <a:t> (</a:t>
            </a:r>
            <a:r>
              <a:rPr lang="en" sz="1100" b="1">
                <a:latin typeface="Nunito"/>
                <a:ea typeface="Nunito"/>
                <a:cs typeface="Nunito"/>
                <a:sym typeface="Nunito"/>
              </a:rPr>
              <a:t>Good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Interest Coverage Ratio:</a:t>
            </a:r>
            <a:r>
              <a:rPr lang="en" sz="1100">
                <a:latin typeface="Nunito"/>
                <a:ea typeface="Nunito"/>
                <a:cs typeface="Nunito"/>
                <a:sym typeface="Nunito"/>
              </a:rPr>
              <a:t> </a:t>
            </a:r>
            <a:r>
              <a:rPr lang="en" sz="1100" b="1">
                <a:latin typeface="Nunito"/>
                <a:ea typeface="Nunito"/>
                <a:cs typeface="Nunito"/>
                <a:sym typeface="Nunito"/>
              </a:rPr>
              <a:t>7.2</a:t>
            </a:r>
            <a:r>
              <a:rPr lang="en" sz="1100">
                <a:latin typeface="Nunito"/>
                <a:ea typeface="Nunito"/>
                <a:cs typeface="Nunito"/>
                <a:sym typeface="Nunito"/>
              </a:rPr>
              <a:t> (</a:t>
            </a:r>
            <a:r>
              <a:rPr lang="en" sz="1100" b="1">
                <a:latin typeface="Nunito"/>
                <a:ea typeface="Nunito"/>
                <a:cs typeface="Nunito"/>
                <a:sym typeface="Nunito"/>
              </a:rPr>
              <a:t>Safe</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Dividend Yield:</a:t>
            </a:r>
            <a:r>
              <a:rPr lang="en" sz="1100">
                <a:latin typeface="Nunito"/>
                <a:ea typeface="Nunito"/>
                <a:cs typeface="Nunito"/>
                <a:sym typeface="Nunito"/>
              </a:rPr>
              <a:t> </a:t>
            </a:r>
            <a:r>
              <a:rPr lang="en" sz="1100" b="1">
                <a:latin typeface="Nunito"/>
                <a:ea typeface="Nunito"/>
                <a:cs typeface="Nunito"/>
                <a:sym typeface="Nunito"/>
              </a:rPr>
              <a:t>1.67%</a:t>
            </a:r>
            <a:r>
              <a:rPr lang="en" sz="1100">
                <a:latin typeface="Nunito"/>
                <a:ea typeface="Nunito"/>
                <a:cs typeface="Nunito"/>
                <a:sym typeface="Nunito"/>
              </a:rPr>
              <a:t> (</a:t>
            </a:r>
            <a:r>
              <a:rPr lang="en" sz="1100" b="1">
                <a:latin typeface="Nunito"/>
                <a:ea typeface="Nunito"/>
                <a:cs typeface="Nunito"/>
                <a:sym typeface="Nunito"/>
              </a:rPr>
              <a:t>Low Yield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ROE:</a:t>
            </a:r>
            <a:r>
              <a:rPr lang="en" sz="1100">
                <a:latin typeface="Nunito"/>
                <a:ea typeface="Nunito"/>
                <a:cs typeface="Nunito"/>
                <a:sym typeface="Nunito"/>
              </a:rPr>
              <a:t> </a:t>
            </a:r>
            <a:r>
              <a:rPr lang="en" sz="1100" b="1">
                <a:latin typeface="Nunito"/>
                <a:ea typeface="Nunito"/>
                <a:cs typeface="Nunito"/>
                <a:sym typeface="Nunito"/>
              </a:rPr>
              <a:t>17.98%</a:t>
            </a:r>
            <a:r>
              <a:rPr lang="en" sz="1100">
                <a:latin typeface="Nunito"/>
                <a:ea typeface="Nunito"/>
                <a:cs typeface="Nunito"/>
                <a:sym typeface="Nunito"/>
              </a:rPr>
              <a:t> (</a:t>
            </a:r>
            <a:r>
              <a:rPr lang="en" sz="1100" b="1">
                <a:latin typeface="Nunito"/>
                <a:ea typeface="Nunito"/>
                <a:cs typeface="Nunito"/>
                <a:sym typeface="Nunito"/>
              </a:rPr>
              <a:t>Strong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ROIC:</a:t>
            </a:r>
            <a:r>
              <a:rPr lang="en" sz="1100">
                <a:latin typeface="Nunito"/>
                <a:ea typeface="Nunito"/>
                <a:cs typeface="Nunito"/>
                <a:sym typeface="Nunito"/>
              </a:rPr>
              <a:t> </a:t>
            </a:r>
            <a:r>
              <a:rPr lang="en" sz="1100" b="1">
                <a:latin typeface="Nunito"/>
                <a:ea typeface="Nunito"/>
                <a:cs typeface="Nunito"/>
                <a:sym typeface="Nunito"/>
              </a:rPr>
              <a:t>-11.88%</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ROA:</a:t>
            </a:r>
            <a:r>
              <a:rPr lang="en" sz="1100">
                <a:latin typeface="Nunito"/>
                <a:ea typeface="Nunito"/>
                <a:cs typeface="Nunito"/>
                <a:sym typeface="Nunito"/>
              </a:rPr>
              <a:t> </a:t>
            </a:r>
            <a:r>
              <a:rPr lang="en" sz="1100" b="1">
                <a:latin typeface="Nunito"/>
                <a:ea typeface="Nunito"/>
                <a:cs typeface="Nunito"/>
                <a:sym typeface="Nunito"/>
              </a:rPr>
              <a:t>361.59%</a:t>
            </a:r>
            <a:r>
              <a:rPr lang="en" sz="1100">
                <a:latin typeface="Nunito"/>
                <a:ea typeface="Nunito"/>
                <a:cs typeface="Nunito"/>
                <a:sym typeface="Nunito"/>
              </a:rPr>
              <a:t> (</a:t>
            </a:r>
            <a:r>
              <a:rPr lang="en" sz="1100" b="1">
                <a:latin typeface="Nunito"/>
                <a:ea typeface="Nunito"/>
                <a:cs typeface="Nunito"/>
                <a:sym typeface="Nunito"/>
              </a:rPr>
              <a:t>Strong</a:t>
            </a:r>
            <a:r>
              <a:rPr lang="en" sz="1100">
                <a:latin typeface="Nunito"/>
                <a:ea typeface="Nunito"/>
                <a:cs typeface="Nunito"/>
                <a:sym typeface="Nunito"/>
              </a:rPr>
              <a:t> ✅)</a:t>
            </a:r>
            <a:endParaRPr sz="1100">
              <a:latin typeface="Nunito"/>
              <a:ea typeface="Nunito"/>
              <a:cs typeface="Nunito"/>
              <a:sym typeface="Nunito"/>
            </a:endParaRPr>
          </a:p>
          <a:p>
            <a:pPr marL="457200" lvl="0" indent="0" algn="l" rtl="0">
              <a:lnSpc>
                <a:spcPct val="115000"/>
              </a:lnSpc>
              <a:spcBef>
                <a:spcPts val="1200"/>
              </a:spcBef>
              <a:spcAft>
                <a:spcPts val="0"/>
              </a:spcAft>
              <a:buNone/>
            </a:pPr>
            <a:r>
              <a:rPr lang="en" sz="1100">
                <a:latin typeface="Nunito"/>
                <a:ea typeface="Nunito"/>
                <a:cs typeface="Nunito"/>
                <a:sym typeface="Nunito"/>
              </a:rPr>
              <a:t>📌 </a:t>
            </a:r>
            <a:r>
              <a:rPr lang="en" sz="1100" b="1">
                <a:latin typeface="Nunito"/>
                <a:ea typeface="Nunito"/>
                <a:cs typeface="Nunito"/>
                <a:sym typeface="Nunito"/>
              </a:rPr>
              <a:t>Final Verdict:</a:t>
            </a:r>
            <a:r>
              <a:rPr lang="en" sz="1100">
                <a:latin typeface="Nunito"/>
                <a:ea typeface="Nunito"/>
                <a:cs typeface="Nunito"/>
                <a:sym typeface="Nunito"/>
              </a:rPr>
              <a:t> ✅ </a:t>
            </a:r>
            <a:r>
              <a:rPr lang="en" sz="1100" b="1">
                <a:latin typeface="Nunito"/>
                <a:ea typeface="Nunito"/>
                <a:cs typeface="Nunito"/>
                <a:sym typeface="Nunito"/>
              </a:rPr>
              <a:t>A strong, stable stock with solid margins and growth, but weaker dividend returns.</a:t>
            </a:r>
            <a:endParaRPr sz="1100" b="1">
              <a:latin typeface="Nunito"/>
              <a:ea typeface="Nunito"/>
              <a:cs typeface="Nunito"/>
              <a:sym typeface="Nunito"/>
            </a:endParaRPr>
          </a:p>
          <a:p>
            <a:pPr marL="0" lvl="0" indent="0" algn="l" rtl="0">
              <a:lnSpc>
                <a:spcPct val="115000"/>
              </a:lnSpc>
              <a:spcBef>
                <a:spcPts val="1200"/>
              </a:spcBef>
              <a:spcAft>
                <a:spcPts val="0"/>
              </a:spcAft>
              <a:buNone/>
            </a:pPr>
            <a:endParaRPr sz="1300" b="1"/>
          </a:p>
        </p:txBody>
      </p:sp>
      <p:sp>
        <p:nvSpPr>
          <p:cNvPr id="377" name="Google Shape;377;p27"/>
          <p:cNvSpPr/>
          <p:nvPr/>
        </p:nvSpPr>
        <p:spPr>
          <a:xfrm>
            <a:off x="2428375" y="298775"/>
            <a:ext cx="3895200" cy="4437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78" name="Google Shape;378;p27"/>
          <p:cNvSpPr txBox="1">
            <a:spLocks noGrp="1"/>
          </p:cNvSpPr>
          <p:nvPr>
            <p:ph type="title"/>
          </p:nvPr>
        </p:nvSpPr>
        <p:spPr>
          <a:xfrm>
            <a:off x="1510450" y="215550"/>
            <a:ext cx="56934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Stock Portfolio Analysis</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28"/>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8"/>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385" name="Google Shape;385;p28"/>
          <p:cNvSpPr/>
          <p:nvPr/>
        </p:nvSpPr>
        <p:spPr>
          <a:xfrm>
            <a:off x="1052250" y="900375"/>
            <a:ext cx="4286400" cy="4887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86" name="Google Shape;386;p28"/>
          <p:cNvSpPr txBox="1"/>
          <p:nvPr/>
        </p:nvSpPr>
        <p:spPr>
          <a:xfrm>
            <a:off x="578500" y="806015"/>
            <a:ext cx="6720300" cy="4283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t> </a:t>
            </a:r>
            <a:r>
              <a:rPr lang="en" sz="1700" b="1"/>
              <a:t>4️⃣   </a:t>
            </a:r>
            <a:r>
              <a:rPr lang="en" sz="1700" b="1">
                <a:solidFill>
                  <a:schemeClr val="dk1"/>
                </a:solidFill>
              </a:rPr>
              <a:t>Stock P - Strong Value &amp; Dividend Play</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6.7/10</a:t>
            </a:r>
            <a:br>
              <a:rPr lang="en" sz="1100" b="1">
                <a:latin typeface="Nunito"/>
                <a:ea typeface="Nunito"/>
                <a:cs typeface="Nunito"/>
                <a:sym typeface="Nunito"/>
              </a:rPr>
            </a:br>
            <a:r>
              <a:rPr lang="en" sz="1100">
                <a:latin typeface="Nunito"/>
                <a:ea typeface="Nunito"/>
                <a:cs typeface="Nunito"/>
                <a:sym typeface="Nunito"/>
              </a:rPr>
              <a:t> Stock P offers </a:t>
            </a:r>
            <a:r>
              <a:rPr lang="en" sz="1100" b="1">
                <a:latin typeface="Nunito"/>
                <a:ea typeface="Nunito"/>
                <a:cs typeface="Nunito"/>
                <a:sym typeface="Nunito"/>
              </a:rPr>
              <a:t>good dividends and decent valuation</a:t>
            </a:r>
            <a:r>
              <a:rPr lang="en" sz="1100">
                <a:latin typeface="Nunito"/>
                <a:ea typeface="Nunito"/>
                <a:cs typeface="Nunito"/>
                <a:sym typeface="Nunito"/>
              </a:rPr>
              <a:t>, making it </a:t>
            </a:r>
            <a:r>
              <a:rPr lang="en" sz="1100" b="1">
                <a:latin typeface="Nunito"/>
                <a:ea typeface="Nunito"/>
                <a:cs typeface="Nunito"/>
                <a:sym typeface="Nunito"/>
              </a:rPr>
              <a:t>a good pick for income investors</a:t>
            </a:r>
            <a:r>
              <a:rPr lang="en" sz="1100">
                <a:latin typeface="Nunito"/>
                <a:ea typeface="Nunito"/>
                <a:cs typeface="Nunito"/>
                <a:sym typeface="Nunito"/>
              </a:rPr>
              <a:t>.</a:t>
            </a:r>
            <a:endParaRPr sz="1100">
              <a:latin typeface="Nunito"/>
              <a:ea typeface="Nunito"/>
              <a:cs typeface="Nunito"/>
              <a:sym typeface="Nunito"/>
            </a:endParaRPr>
          </a:p>
          <a:p>
            <a:pPr marL="457200" lvl="0" indent="-298450" algn="l" rtl="0">
              <a:lnSpc>
                <a:spcPct val="115000"/>
              </a:lnSpc>
              <a:spcBef>
                <a:spcPts val="1200"/>
              </a:spcBef>
              <a:spcAft>
                <a:spcPts val="0"/>
              </a:spcAft>
              <a:buSzPts val="1100"/>
              <a:buChar char="●"/>
            </a:pPr>
            <a:r>
              <a:rPr lang="en" sz="1100" b="1">
                <a:latin typeface="Nunito"/>
                <a:ea typeface="Nunito"/>
                <a:cs typeface="Nunito"/>
                <a:sym typeface="Nunito"/>
              </a:rPr>
              <a:t>P/E Ratio:</a:t>
            </a:r>
            <a:r>
              <a:rPr lang="en" sz="1100">
                <a:latin typeface="Nunito"/>
                <a:ea typeface="Nunito"/>
                <a:cs typeface="Nunito"/>
                <a:sym typeface="Nunito"/>
              </a:rPr>
              <a:t> </a:t>
            </a:r>
            <a:r>
              <a:rPr lang="en" sz="1100" b="1">
                <a:latin typeface="Nunito"/>
                <a:ea typeface="Nunito"/>
                <a:cs typeface="Nunito"/>
                <a:sym typeface="Nunito"/>
              </a:rPr>
              <a:t>13.86</a:t>
            </a:r>
            <a:r>
              <a:rPr lang="en" sz="1100">
                <a:latin typeface="Nunito"/>
                <a:ea typeface="Nunito"/>
                <a:cs typeface="Nunito"/>
                <a:sym typeface="Nunito"/>
              </a:rPr>
              <a:t> (</a:t>
            </a:r>
            <a:r>
              <a:rPr lang="en" sz="1100" b="1">
                <a:latin typeface="Nunito"/>
                <a:ea typeface="Nunito"/>
                <a:cs typeface="Nunito"/>
                <a:sym typeface="Nunito"/>
              </a:rPr>
              <a:t>Fair</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Revenue Growth:</a:t>
            </a:r>
            <a:r>
              <a:rPr lang="en" sz="1100">
                <a:latin typeface="Nunito"/>
                <a:ea typeface="Nunito"/>
                <a:cs typeface="Nunito"/>
                <a:sym typeface="Nunito"/>
              </a:rPr>
              <a:t> </a:t>
            </a:r>
            <a:r>
              <a:rPr lang="en" sz="1100" b="1">
                <a:latin typeface="Nunito"/>
                <a:ea typeface="Nunito"/>
                <a:cs typeface="Nunito"/>
                <a:sym typeface="Nunito"/>
              </a:rPr>
              <a:t>+12.3%</a:t>
            </a:r>
            <a:r>
              <a:rPr lang="en" sz="1100">
                <a:latin typeface="Nunito"/>
                <a:ea typeface="Nunito"/>
                <a:cs typeface="Nunito"/>
                <a:sym typeface="Nunito"/>
              </a:rPr>
              <a:t> (</a:t>
            </a:r>
            <a:r>
              <a:rPr lang="en" sz="1100" b="1">
                <a:latin typeface="Nunito"/>
                <a:ea typeface="Nunito"/>
                <a:cs typeface="Nunito"/>
                <a:sym typeface="Nunito"/>
              </a:rPr>
              <a:t>Good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Growth:</a:t>
            </a:r>
            <a:r>
              <a:rPr lang="en" sz="1100">
                <a:latin typeface="Nunito"/>
                <a:ea typeface="Nunito"/>
                <a:cs typeface="Nunito"/>
                <a:sym typeface="Nunito"/>
              </a:rPr>
              <a:t> </a:t>
            </a:r>
            <a:r>
              <a:rPr lang="en" sz="1100" b="1">
                <a:latin typeface="Nunito"/>
                <a:ea typeface="Nunito"/>
                <a:cs typeface="Nunito"/>
                <a:sym typeface="Nunito"/>
              </a:rPr>
              <a:t>+12.3%</a:t>
            </a:r>
            <a:r>
              <a:rPr lang="en" sz="1100">
                <a:latin typeface="Nunito"/>
                <a:ea typeface="Nunito"/>
                <a:cs typeface="Nunito"/>
                <a:sym typeface="Nunito"/>
              </a:rPr>
              <a:t> (</a:t>
            </a:r>
            <a:r>
              <a:rPr lang="en" sz="1100" b="1">
                <a:latin typeface="Nunito"/>
                <a:ea typeface="Nunito"/>
                <a:cs typeface="Nunito"/>
                <a:sym typeface="Nunito"/>
              </a:rPr>
              <a:t>Good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Net Profit Margin:</a:t>
            </a:r>
            <a:r>
              <a:rPr lang="en" sz="1100">
                <a:latin typeface="Nunito"/>
                <a:ea typeface="Nunito"/>
                <a:cs typeface="Nunito"/>
                <a:sym typeface="Nunito"/>
              </a:rPr>
              <a:t> </a:t>
            </a:r>
            <a:r>
              <a:rPr lang="en" sz="1100" b="1">
                <a:latin typeface="Nunito"/>
                <a:ea typeface="Nunito"/>
                <a:cs typeface="Nunito"/>
                <a:sym typeface="Nunito"/>
              </a:rPr>
              <a:t>22.6%</a:t>
            </a:r>
            <a:r>
              <a:rPr lang="en" sz="1100">
                <a:latin typeface="Nunito"/>
                <a:ea typeface="Nunito"/>
                <a:cs typeface="Nunito"/>
                <a:sym typeface="Nunito"/>
              </a:rPr>
              <a:t> (</a:t>
            </a:r>
            <a:r>
              <a:rPr lang="en" sz="1100" b="1">
                <a:latin typeface="Nunito"/>
                <a:ea typeface="Nunito"/>
                <a:cs typeface="Nunito"/>
                <a:sym typeface="Nunito"/>
              </a:rPr>
              <a:t>Strong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Debt-to-EBITDA:</a:t>
            </a:r>
            <a:r>
              <a:rPr lang="en" sz="1100">
                <a:latin typeface="Nunito"/>
                <a:ea typeface="Nunito"/>
                <a:cs typeface="Nunito"/>
                <a:sym typeface="Nunito"/>
              </a:rPr>
              <a:t> </a:t>
            </a:r>
            <a:r>
              <a:rPr lang="en" sz="1100" b="1">
                <a:latin typeface="Nunito"/>
                <a:ea typeface="Nunito"/>
                <a:cs typeface="Nunito"/>
                <a:sym typeface="Nunito"/>
              </a:rPr>
              <a:t>2.00</a:t>
            </a:r>
            <a:r>
              <a:rPr lang="en" sz="1100">
                <a:latin typeface="Nunito"/>
                <a:ea typeface="Nunito"/>
                <a:cs typeface="Nunito"/>
                <a:sym typeface="Nunito"/>
              </a:rPr>
              <a:t> (</a:t>
            </a:r>
            <a:r>
              <a:rPr lang="en" sz="1100" b="1">
                <a:latin typeface="Nunito"/>
                <a:ea typeface="Nunito"/>
                <a:cs typeface="Nunito"/>
                <a:sym typeface="Nunito"/>
              </a:rPr>
              <a:t>Manageable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Margin:</a:t>
            </a:r>
            <a:r>
              <a:rPr lang="en" sz="1100">
                <a:latin typeface="Nunito"/>
                <a:ea typeface="Nunito"/>
                <a:cs typeface="Nunito"/>
                <a:sym typeface="Nunito"/>
              </a:rPr>
              <a:t> </a:t>
            </a:r>
            <a:r>
              <a:rPr lang="en" sz="1100" b="1">
                <a:latin typeface="Nunito"/>
                <a:ea typeface="Nunito"/>
                <a:cs typeface="Nunito"/>
                <a:sym typeface="Nunito"/>
              </a:rPr>
              <a:t>27.2%</a:t>
            </a:r>
            <a:r>
              <a:rPr lang="en" sz="1100">
                <a:latin typeface="Nunito"/>
                <a:ea typeface="Nunito"/>
                <a:cs typeface="Nunito"/>
                <a:sym typeface="Nunito"/>
              </a:rPr>
              <a:t> (</a:t>
            </a:r>
            <a:r>
              <a:rPr lang="en" sz="1100" b="1">
                <a:latin typeface="Nunito"/>
                <a:ea typeface="Nunito"/>
                <a:cs typeface="Nunito"/>
                <a:sym typeface="Nunito"/>
              </a:rPr>
              <a:t>Strong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EPS Growth:</a:t>
            </a:r>
            <a:r>
              <a:rPr lang="en" sz="1100">
                <a:latin typeface="Nunito"/>
                <a:ea typeface="Nunito"/>
                <a:cs typeface="Nunito"/>
                <a:sym typeface="Nunito"/>
              </a:rPr>
              <a:t> </a:t>
            </a:r>
            <a:r>
              <a:rPr lang="en" sz="1100" b="1">
                <a:latin typeface="Nunito"/>
                <a:ea typeface="Nunito"/>
                <a:cs typeface="Nunito"/>
                <a:sym typeface="Nunito"/>
              </a:rPr>
              <a:t>+10.3%</a:t>
            </a:r>
            <a:r>
              <a:rPr lang="en" sz="1100">
                <a:latin typeface="Nunito"/>
                <a:ea typeface="Nunito"/>
                <a:cs typeface="Nunito"/>
                <a:sym typeface="Nunito"/>
              </a:rPr>
              <a:t> (</a:t>
            </a:r>
            <a:r>
              <a:rPr lang="en" sz="1100" b="1">
                <a:latin typeface="Nunito"/>
                <a:ea typeface="Nunito"/>
                <a:cs typeface="Nunito"/>
                <a:sym typeface="Nunito"/>
              </a:rPr>
              <a:t>Moderate</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Interest Coverage Ratio:</a:t>
            </a:r>
            <a:r>
              <a:rPr lang="en" sz="1100">
                <a:latin typeface="Nunito"/>
                <a:ea typeface="Nunito"/>
                <a:cs typeface="Nunito"/>
                <a:sym typeface="Nunito"/>
              </a:rPr>
              <a:t> </a:t>
            </a:r>
            <a:r>
              <a:rPr lang="en" sz="1100" b="1">
                <a:latin typeface="Nunito"/>
                <a:ea typeface="Nunito"/>
                <a:cs typeface="Nunito"/>
                <a:sym typeface="Nunito"/>
              </a:rPr>
              <a:t>6.5</a:t>
            </a:r>
            <a:r>
              <a:rPr lang="en" sz="1100">
                <a:latin typeface="Nunito"/>
                <a:ea typeface="Nunito"/>
                <a:cs typeface="Nunito"/>
                <a:sym typeface="Nunito"/>
              </a:rPr>
              <a:t> (</a:t>
            </a:r>
            <a:r>
              <a:rPr lang="en" sz="1100" b="1">
                <a:latin typeface="Nunito"/>
                <a:ea typeface="Nunito"/>
                <a:cs typeface="Nunito"/>
                <a:sym typeface="Nunito"/>
              </a:rPr>
              <a:t>Safe</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Dividend Yield:</a:t>
            </a:r>
            <a:r>
              <a:rPr lang="en" sz="1100">
                <a:latin typeface="Nunito"/>
                <a:ea typeface="Nunito"/>
                <a:cs typeface="Nunito"/>
                <a:sym typeface="Nunito"/>
              </a:rPr>
              <a:t> </a:t>
            </a:r>
            <a:r>
              <a:rPr lang="en" sz="1100" b="1">
                <a:latin typeface="Nunito"/>
                <a:ea typeface="Nunito"/>
                <a:cs typeface="Nunito"/>
                <a:sym typeface="Nunito"/>
              </a:rPr>
              <a:t>5.33%</a:t>
            </a:r>
            <a:r>
              <a:rPr lang="en" sz="1100">
                <a:latin typeface="Nunito"/>
                <a:ea typeface="Nunito"/>
                <a:cs typeface="Nunito"/>
                <a:sym typeface="Nunito"/>
              </a:rPr>
              <a:t> (</a:t>
            </a:r>
            <a:r>
              <a:rPr lang="en" sz="1100" b="1">
                <a:latin typeface="Nunito"/>
                <a:ea typeface="Nunito"/>
                <a:cs typeface="Nunito"/>
                <a:sym typeface="Nunito"/>
              </a:rPr>
              <a:t>Strong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ROE:</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ROIC:</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ROA:</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457200" lvl="0" indent="0" algn="l" rtl="0">
              <a:lnSpc>
                <a:spcPct val="115000"/>
              </a:lnSpc>
              <a:spcBef>
                <a:spcPts val="1200"/>
              </a:spcBef>
              <a:spcAft>
                <a:spcPts val="0"/>
              </a:spcAft>
              <a:buNone/>
            </a:pPr>
            <a:r>
              <a:rPr lang="en" sz="1100">
                <a:latin typeface="Nunito"/>
                <a:ea typeface="Nunito"/>
                <a:cs typeface="Nunito"/>
                <a:sym typeface="Nunito"/>
              </a:rPr>
              <a:t>📌 </a:t>
            </a:r>
            <a:r>
              <a:rPr lang="en" sz="1100" b="1">
                <a:latin typeface="Nunito"/>
                <a:ea typeface="Nunito"/>
                <a:cs typeface="Nunito"/>
                <a:sym typeface="Nunito"/>
              </a:rPr>
              <a:t>Final Verdict:</a:t>
            </a:r>
            <a:r>
              <a:rPr lang="en" sz="1100">
                <a:latin typeface="Nunito"/>
                <a:ea typeface="Nunito"/>
                <a:cs typeface="Nunito"/>
                <a:sym typeface="Nunito"/>
              </a:rPr>
              <a:t> ✅ </a:t>
            </a:r>
            <a:r>
              <a:rPr lang="en" sz="1100" b="1">
                <a:latin typeface="Nunito"/>
                <a:ea typeface="Nunito"/>
                <a:cs typeface="Nunito"/>
                <a:sym typeface="Nunito"/>
              </a:rPr>
              <a:t>A solid dividend stock with good earnings and reasonable valuation.</a:t>
            </a:r>
            <a:endParaRPr sz="1100" b="1">
              <a:latin typeface="Nunito"/>
              <a:ea typeface="Nunito"/>
              <a:cs typeface="Nunito"/>
              <a:sym typeface="Nunito"/>
            </a:endParaRPr>
          </a:p>
          <a:p>
            <a:pPr marL="0" lvl="0" indent="0" algn="l" rtl="0">
              <a:lnSpc>
                <a:spcPct val="115000"/>
              </a:lnSpc>
              <a:spcBef>
                <a:spcPts val="1200"/>
              </a:spcBef>
              <a:spcAft>
                <a:spcPts val="0"/>
              </a:spcAft>
              <a:buNone/>
            </a:pPr>
            <a:endParaRPr sz="1700" b="1"/>
          </a:p>
        </p:txBody>
      </p:sp>
      <p:sp>
        <p:nvSpPr>
          <p:cNvPr id="387" name="Google Shape;387;p28"/>
          <p:cNvSpPr/>
          <p:nvPr/>
        </p:nvSpPr>
        <p:spPr>
          <a:xfrm>
            <a:off x="2428375" y="298775"/>
            <a:ext cx="3895200" cy="4437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88" name="Google Shape;388;p28"/>
          <p:cNvSpPr txBox="1">
            <a:spLocks noGrp="1"/>
          </p:cNvSpPr>
          <p:nvPr>
            <p:ph type="title"/>
          </p:nvPr>
        </p:nvSpPr>
        <p:spPr>
          <a:xfrm>
            <a:off x="1510450" y="215550"/>
            <a:ext cx="56934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Stock Portfolio Analysis</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29"/>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9"/>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395" name="Google Shape;395;p29"/>
          <p:cNvSpPr/>
          <p:nvPr/>
        </p:nvSpPr>
        <p:spPr>
          <a:xfrm>
            <a:off x="1021175" y="892850"/>
            <a:ext cx="3391500" cy="4647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96" name="Google Shape;396;p29"/>
          <p:cNvSpPr txBox="1"/>
          <p:nvPr/>
        </p:nvSpPr>
        <p:spPr>
          <a:xfrm>
            <a:off x="578500" y="755215"/>
            <a:ext cx="6720300" cy="4933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t> </a:t>
            </a:r>
            <a:r>
              <a:rPr lang="en" sz="1700" b="1"/>
              <a:t>5️⃣  </a:t>
            </a:r>
            <a:r>
              <a:rPr lang="en" sz="1700" b="1">
                <a:solidFill>
                  <a:schemeClr val="dk1"/>
                </a:solidFill>
              </a:rPr>
              <a:t>Stock A - Best Dividend Stock</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6.3/10</a:t>
            </a:r>
            <a:br>
              <a:rPr lang="en" sz="1100" b="1">
                <a:latin typeface="Nunito"/>
                <a:ea typeface="Nunito"/>
                <a:cs typeface="Nunito"/>
                <a:sym typeface="Nunito"/>
              </a:rPr>
            </a:br>
            <a:r>
              <a:rPr lang="en" sz="1100">
                <a:latin typeface="Nunito"/>
                <a:ea typeface="Nunito"/>
                <a:cs typeface="Nunito"/>
                <a:sym typeface="Nunito"/>
              </a:rPr>
              <a:t> Stock A is </a:t>
            </a:r>
            <a:r>
              <a:rPr lang="en" sz="1100" b="1">
                <a:latin typeface="Nunito"/>
                <a:ea typeface="Nunito"/>
                <a:cs typeface="Nunito"/>
                <a:sym typeface="Nunito"/>
              </a:rPr>
              <a:t>ideal for income investors</a:t>
            </a:r>
            <a:r>
              <a:rPr lang="en" sz="1100">
                <a:latin typeface="Nunito"/>
                <a:ea typeface="Nunito"/>
                <a:cs typeface="Nunito"/>
                <a:sym typeface="Nunito"/>
              </a:rPr>
              <a:t>, with </a:t>
            </a:r>
            <a:r>
              <a:rPr lang="en" sz="1100" b="1">
                <a:latin typeface="Nunito"/>
                <a:ea typeface="Nunito"/>
                <a:cs typeface="Nunito"/>
                <a:sym typeface="Nunito"/>
              </a:rPr>
              <a:t>a high dividend yield but weak growth potential</a:t>
            </a:r>
            <a:r>
              <a:rPr lang="en" sz="1100">
                <a:latin typeface="Nunito"/>
                <a:ea typeface="Nunito"/>
                <a:cs typeface="Nunito"/>
                <a:sym typeface="Nunito"/>
              </a:rPr>
              <a:t>.</a:t>
            </a:r>
            <a:endParaRPr sz="1100">
              <a:latin typeface="Nunito"/>
              <a:ea typeface="Nunito"/>
              <a:cs typeface="Nunito"/>
              <a:sym typeface="Nunito"/>
            </a:endParaRPr>
          </a:p>
          <a:p>
            <a:pPr marL="457200" lvl="0" indent="-298450" algn="l" rtl="0">
              <a:lnSpc>
                <a:spcPct val="115000"/>
              </a:lnSpc>
              <a:spcBef>
                <a:spcPts val="1200"/>
              </a:spcBef>
              <a:spcAft>
                <a:spcPts val="0"/>
              </a:spcAft>
              <a:buSzPts val="1100"/>
              <a:buChar char="●"/>
            </a:pPr>
            <a:r>
              <a:rPr lang="en" sz="1100" b="1">
                <a:latin typeface="Nunito"/>
                <a:ea typeface="Nunito"/>
                <a:cs typeface="Nunito"/>
                <a:sym typeface="Nunito"/>
              </a:rPr>
              <a:t>P/E Ratio:</a:t>
            </a:r>
            <a:r>
              <a:rPr lang="en" sz="1100">
                <a:latin typeface="Nunito"/>
                <a:ea typeface="Nunito"/>
                <a:cs typeface="Nunito"/>
                <a:sym typeface="Nunito"/>
              </a:rPr>
              <a:t> </a:t>
            </a:r>
            <a:r>
              <a:rPr lang="en" sz="1100" b="1">
                <a:latin typeface="Nunito"/>
                <a:ea typeface="Nunito"/>
                <a:cs typeface="Nunito"/>
                <a:sym typeface="Nunito"/>
              </a:rPr>
              <a:t>8.83</a:t>
            </a:r>
            <a:r>
              <a:rPr lang="en" sz="1100">
                <a:latin typeface="Nunito"/>
                <a:ea typeface="Nunito"/>
                <a:cs typeface="Nunito"/>
                <a:sym typeface="Nunito"/>
              </a:rPr>
              <a:t> (</a:t>
            </a:r>
            <a:r>
              <a:rPr lang="en" sz="1100" b="1">
                <a:latin typeface="Nunito"/>
                <a:ea typeface="Nunito"/>
                <a:cs typeface="Nunito"/>
                <a:sym typeface="Nunito"/>
              </a:rPr>
              <a:t>Undervalued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Revenue Growth:</a:t>
            </a:r>
            <a:r>
              <a:rPr lang="en" sz="1100">
                <a:latin typeface="Nunito"/>
                <a:ea typeface="Nunito"/>
                <a:cs typeface="Nunito"/>
                <a:sym typeface="Nunito"/>
              </a:rPr>
              <a:t> </a:t>
            </a:r>
            <a:r>
              <a:rPr lang="en" sz="1100" b="1">
                <a:latin typeface="Nunito"/>
                <a:ea typeface="Nunito"/>
                <a:cs typeface="Nunito"/>
                <a:sym typeface="Nunito"/>
              </a:rPr>
              <a:t>-10.9%</a:t>
            </a:r>
            <a:r>
              <a:rPr lang="en" sz="1100">
                <a:latin typeface="Nunito"/>
                <a:ea typeface="Nunito"/>
                <a:cs typeface="Nunito"/>
                <a:sym typeface="Nunito"/>
              </a:rPr>
              <a:t> (</a:t>
            </a:r>
            <a:r>
              <a:rPr lang="en" sz="1100" b="1">
                <a:latin typeface="Nunito"/>
                <a:ea typeface="Nunito"/>
                <a:cs typeface="Nunito"/>
                <a:sym typeface="Nunito"/>
              </a:rPr>
              <a:t>Declining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Growth:</a:t>
            </a:r>
            <a:r>
              <a:rPr lang="en" sz="1100">
                <a:latin typeface="Nunito"/>
                <a:ea typeface="Nunito"/>
                <a:cs typeface="Nunito"/>
                <a:sym typeface="Nunito"/>
              </a:rPr>
              <a:t> </a:t>
            </a:r>
            <a:r>
              <a:rPr lang="en" sz="1100" b="1">
                <a:latin typeface="Nunito"/>
                <a:ea typeface="Nunito"/>
                <a:cs typeface="Nunito"/>
                <a:sym typeface="Nunito"/>
              </a:rPr>
              <a:t>+10.1%</a:t>
            </a:r>
            <a:r>
              <a:rPr lang="en" sz="1100">
                <a:latin typeface="Nunito"/>
                <a:ea typeface="Nunito"/>
                <a:cs typeface="Nunito"/>
                <a:sym typeface="Nunito"/>
              </a:rPr>
              <a:t> (</a:t>
            </a:r>
            <a:r>
              <a:rPr lang="en" sz="1100" b="1">
                <a:latin typeface="Nunito"/>
                <a:ea typeface="Nunito"/>
                <a:cs typeface="Nunito"/>
                <a:sym typeface="Nunito"/>
              </a:rPr>
              <a:t>Good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Net Profit Margin:</a:t>
            </a:r>
            <a:r>
              <a:rPr lang="en" sz="1100">
                <a:latin typeface="Nunito"/>
                <a:ea typeface="Nunito"/>
                <a:cs typeface="Nunito"/>
                <a:sym typeface="Nunito"/>
              </a:rPr>
              <a:t> </a:t>
            </a:r>
            <a:r>
              <a:rPr lang="en" sz="1100" b="1">
                <a:latin typeface="Nunito"/>
                <a:ea typeface="Nunito"/>
                <a:cs typeface="Nunito"/>
                <a:sym typeface="Nunito"/>
              </a:rPr>
              <a:t>19.3%</a:t>
            </a:r>
            <a:r>
              <a:rPr lang="en" sz="1100">
                <a:latin typeface="Nunito"/>
                <a:ea typeface="Nunito"/>
                <a:cs typeface="Nunito"/>
                <a:sym typeface="Nunito"/>
              </a:rPr>
              <a:t> (</a:t>
            </a:r>
            <a:r>
              <a:rPr lang="en" sz="1100" b="1">
                <a:latin typeface="Nunito"/>
                <a:ea typeface="Nunito"/>
                <a:cs typeface="Nunito"/>
                <a:sym typeface="Nunito"/>
              </a:rPr>
              <a:t>Strong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Debt-to-EBITDA:</a:t>
            </a:r>
            <a:r>
              <a:rPr lang="en" sz="1100">
                <a:latin typeface="Nunito"/>
                <a:ea typeface="Nunito"/>
                <a:cs typeface="Nunito"/>
                <a:sym typeface="Nunito"/>
              </a:rPr>
              <a:t> </a:t>
            </a:r>
            <a:r>
              <a:rPr lang="en" sz="1100" b="1">
                <a:latin typeface="Nunito"/>
                <a:ea typeface="Nunito"/>
                <a:cs typeface="Nunito"/>
                <a:sym typeface="Nunito"/>
              </a:rPr>
              <a:t>1.75</a:t>
            </a:r>
            <a:r>
              <a:rPr lang="en" sz="1100">
                <a:latin typeface="Nunito"/>
                <a:ea typeface="Nunito"/>
                <a:cs typeface="Nunito"/>
                <a:sym typeface="Nunito"/>
              </a:rPr>
              <a:t> (</a:t>
            </a:r>
            <a:r>
              <a:rPr lang="en" sz="1100" b="1">
                <a:latin typeface="Nunito"/>
                <a:ea typeface="Nunito"/>
                <a:cs typeface="Nunito"/>
                <a:sym typeface="Nunito"/>
              </a:rPr>
              <a:t>Low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Margin:</a:t>
            </a:r>
            <a:r>
              <a:rPr lang="en" sz="1100">
                <a:latin typeface="Nunito"/>
                <a:ea typeface="Nunito"/>
                <a:cs typeface="Nunito"/>
                <a:sym typeface="Nunito"/>
              </a:rPr>
              <a:t> </a:t>
            </a:r>
            <a:r>
              <a:rPr lang="en" sz="1100" b="1">
                <a:latin typeface="Nunito"/>
                <a:ea typeface="Nunito"/>
                <a:cs typeface="Nunito"/>
                <a:sym typeface="Nunito"/>
              </a:rPr>
              <a:t>23.9%</a:t>
            </a:r>
            <a:r>
              <a:rPr lang="en" sz="1100">
                <a:latin typeface="Nunito"/>
                <a:ea typeface="Nunito"/>
                <a:cs typeface="Nunito"/>
                <a:sym typeface="Nunito"/>
              </a:rPr>
              <a:t> (</a:t>
            </a:r>
            <a:r>
              <a:rPr lang="en" sz="1100" b="1">
                <a:latin typeface="Nunito"/>
                <a:ea typeface="Nunito"/>
                <a:cs typeface="Nunito"/>
                <a:sym typeface="Nunito"/>
              </a:rPr>
              <a:t>Good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EPS Growth:</a:t>
            </a:r>
            <a:r>
              <a:rPr lang="en" sz="1100">
                <a:latin typeface="Nunito"/>
                <a:ea typeface="Nunito"/>
                <a:cs typeface="Nunito"/>
                <a:sym typeface="Nunito"/>
              </a:rPr>
              <a:t> </a:t>
            </a:r>
            <a:r>
              <a:rPr lang="en" sz="1100" b="1">
                <a:latin typeface="Nunito"/>
                <a:ea typeface="Nunito"/>
                <a:cs typeface="Nunito"/>
                <a:sym typeface="Nunito"/>
              </a:rPr>
              <a:t>+8.2%</a:t>
            </a:r>
            <a:r>
              <a:rPr lang="en" sz="1100">
                <a:latin typeface="Nunito"/>
                <a:ea typeface="Nunito"/>
                <a:cs typeface="Nunito"/>
                <a:sym typeface="Nunito"/>
              </a:rPr>
              <a:t> (</a:t>
            </a:r>
            <a:r>
              <a:rPr lang="en" sz="1100" b="1">
                <a:latin typeface="Nunito"/>
                <a:ea typeface="Nunito"/>
                <a:cs typeface="Nunito"/>
                <a:sym typeface="Nunito"/>
              </a:rPr>
              <a:t>Moderate</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Interest Coverage Ratio:</a:t>
            </a:r>
            <a:r>
              <a:rPr lang="en" sz="1100">
                <a:latin typeface="Nunito"/>
                <a:ea typeface="Nunito"/>
                <a:cs typeface="Nunito"/>
                <a:sym typeface="Nunito"/>
              </a:rPr>
              <a:t> </a:t>
            </a:r>
            <a:r>
              <a:rPr lang="en" sz="1100" b="1">
                <a:latin typeface="Nunito"/>
                <a:ea typeface="Nunito"/>
                <a:cs typeface="Nunito"/>
                <a:sym typeface="Nunito"/>
              </a:rPr>
              <a:t>5.8</a:t>
            </a:r>
            <a:r>
              <a:rPr lang="en" sz="1100">
                <a:latin typeface="Nunito"/>
                <a:ea typeface="Nunito"/>
                <a:cs typeface="Nunito"/>
                <a:sym typeface="Nunito"/>
              </a:rPr>
              <a:t> (</a:t>
            </a:r>
            <a:r>
              <a:rPr lang="en" sz="1100" b="1">
                <a:latin typeface="Nunito"/>
                <a:ea typeface="Nunito"/>
                <a:cs typeface="Nunito"/>
                <a:sym typeface="Nunito"/>
              </a:rPr>
              <a:t>Safe</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Dividend Yield:</a:t>
            </a:r>
            <a:r>
              <a:rPr lang="en" sz="1100">
                <a:latin typeface="Nunito"/>
                <a:ea typeface="Nunito"/>
                <a:cs typeface="Nunito"/>
                <a:sym typeface="Nunito"/>
              </a:rPr>
              <a:t> </a:t>
            </a:r>
            <a:r>
              <a:rPr lang="en" sz="1100" b="1">
                <a:latin typeface="Nunito"/>
                <a:ea typeface="Nunito"/>
                <a:cs typeface="Nunito"/>
                <a:sym typeface="Nunito"/>
              </a:rPr>
              <a:t>7.19%</a:t>
            </a:r>
            <a:r>
              <a:rPr lang="en" sz="1100">
                <a:latin typeface="Nunito"/>
                <a:ea typeface="Nunito"/>
                <a:cs typeface="Nunito"/>
                <a:sym typeface="Nunito"/>
              </a:rPr>
              <a:t> (</a:t>
            </a:r>
            <a:r>
              <a:rPr lang="en" sz="1100" b="1">
                <a:latin typeface="Nunito"/>
                <a:ea typeface="Nunito"/>
                <a:cs typeface="Nunito"/>
                <a:sym typeface="Nunito"/>
              </a:rPr>
              <a:t>Very Strong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ROE:</a:t>
            </a:r>
            <a:r>
              <a:rPr lang="en" sz="1100">
                <a:latin typeface="Nunito"/>
                <a:ea typeface="Nunito"/>
                <a:cs typeface="Nunito"/>
                <a:sym typeface="Nunito"/>
              </a:rPr>
              <a:t> </a:t>
            </a:r>
            <a:r>
              <a:rPr lang="en" sz="1100" b="1">
                <a:latin typeface="Nunito"/>
                <a:ea typeface="Nunito"/>
                <a:cs typeface="Nunito"/>
                <a:sym typeface="Nunito"/>
              </a:rPr>
              <a:t>17.80%</a:t>
            </a:r>
            <a:r>
              <a:rPr lang="en" sz="1100">
                <a:latin typeface="Nunito"/>
                <a:ea typeface="Nunito"/>
                <a:cs typeface="Nunito"/>
                <a:sym typeface="Nunito"/>
              </a:rPr>
              <a:t> (</a:t>
            </a:r>
            <a:r>
              <a:rPr lang="en" sz="1100" b="1">
                <a:latin typeface="Nunito"/>
                <a:ea typeface="Nunito"/>
                <a:cs typeface="Nunito"/>
                <a:sym typeface="Nunito"/>
              </a:rPr>
              <a:t>Strong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ROIC:</a:t>
            </a:r>
            <a:r>
              <a:rPr lang="en" sz="1100">
                <a:latin typeface="Nunito"/>
                <a:ea typeface="Nunito"/>
                <a:cs typeface="Nunito"/>
                <a:sym typeface="Nunito"/>
              </a:rPr>
              <a:t> </a:t>
            </a:r>
            <a:r>
              <a:rPr lang="en" sz="1100" b="1">
                <a:latin typeface="Nunito"/>
                <a:ea typeface="Nunito"/>
                <a:cs typeface="Nunito"/>
                <a:sym typeface="Nunito"/>
              </a:rPr>
              <a:t>-29.64%</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ROA:</a:t>
            </a:r>
            <a:r>
              <a:rPr lang="en" sz="1100">
                <a:latin typeface="Nunito"/>
                <a:ea typeface="Nunito"/>
                <a:cs typeface="Nunito"/>
                <a:sym typeface="Nunito"/>
              </a:rPr>
              <a:t> </a:t>
            </a:r>
            <a:r>
              <a:rPr lang="en" sz="1100" b="1">
                <a:latin typeface="Nunito"/>
                <a:ea typeface="Nunito"/>
                <a:cs typeface="Nunito"/>
                <a:sym typeface="Nunito"/>
              </a:rPr>
              <a:t>65.31%</a:t>
            </a:r>
            <a:r>
              <a:rPr lang="en" sz="1100">
                <a:latin typeface="Nunito"/>
                <a:ea typeface="Nunito"/>
                <a:cs typeface="Nunito"/>
                <a:sym typeface="Nunito"/>
              </a:rPr>
              <a:t> (</a:t>
            </a:r>
            <a:r>
              <a:rPr lang="en" sz="1100" b="1">
                <a:latin typeface="Nunito"/>
                <a:ea typeface="Nunito"/>
                <a:cs typeface="Nunito"/>
                <a:sym typeface="Nunito"/>
              </a:rPr>
              <a:t>Decent</a:t>
            </a:r>
            <a:r>
              <a:rPr lang="en" sz="1100">
                <a:latin typeface="Nunito"/>
                <a:ea typeface="Nunito"/>
                <a:cs typeface="Nunito"/>
                <a:sym typeface="Nunito"/>
              </a:rPr>
              <a:t> ✅)</a:t>
            </a:r>
            <a:endParaRPr sz="1100">
              <a:latin typeface="Nunito"/>
              <a:ea typeface="Nunito"/>
              <a:cs typeface="Nunito"/>
              <a:sym typeface="Nunito"/>
            </a:endParaRPr>
          </a:p>
          <a:p>
            <a:pPr marL="457200" lvl="0" indent="0" algn="l" rtl="0">
              <a:lnSpc>
                <a:spcPct val="115000"/>
              </a:lnSpc>
              <a:spcBef>
                <a:spcPts val="1200"/>
              </a:spcBef>
              <a:spcAft>
                <a:spcPts val="0"/>
              </a:spcAft>
              <a:buNone/>
            </a:pPr>
            <a:br>
              <a:rPr lang="en" sz="1100">
                <a:latin typeface="Nunito"/>
                <a:ea typeface="Nunito"/>
                <a:cs typeface="Nunito"/>
                <a:sym typeface="Nunito"/>
              </a:rPr>
            </a:br>
            <a:r>
              <a:rPr lang="en" sz="1100">
                <a:latin typeface="Nunito"/>
                <a:ea typeface="Nunito"/>
                <a:cs typeface="Nunito"/>
                <a:sym typeface="Nunito"/>
              </a:rPr>
              <a:t>📌 </a:t>
            </a:r>
            <a:r>
              <a:rPr lang="en" sz="1100" b="1">
                <a:latin typeface="Nunito"/>
                <a:ea typeface="Nunito"/>
                <a:cs typeface="Nunito"/>
                <a:sym typeface="Nunito"/>
              </a:rPr>
              <a:t>Final Verdict:</a:t>
            </a:r>
            <a:r>
              <a:rPr lang="en" sz="1100">
                <a:latin typeface="Nunito"/>
                <a:ea typeface="Nunito"/>
                <a:cs typeface="Nunito"/>
                <a:sym typeface="Nunito"/>
              </a:rPr>
              <a:t> ✅ </a:t>
            </a:r>
            <a:r>
              <a:rPr lang="en" sz="1100" b="1">
                <a:latin typeface="Nunito"/>
                <a:ea typeface="Nunito"/>
                <a:cs typeface="Nunito"/>
                <a:sym typeface="Nunito"/>
              </a:rPr>
              <a:t>Best for dividend investors, but revenue is declining.</a:t>
            </a:r>
            <a:endParaRPr sz="1100" b="1">
              <a:latin typeface="Nunito"/>
              <a:ea typeface="Nunito"/>
              <a:cs typeface="Nunito"/>
              <a:sym typeface="Nunito"/>
            </a:endParaRPr>
          </a:p>
          <a:p>
            <a:pPr marL="0" lvl="0" indent="0" algn="l" rtl="0">
              <a:lnSpc>
                <a:spcPct val="115000"/>
              </a:lnSpc>
              <a:spcBef>
                <a:spcPts val="1200"/>
              </a:spcBef>
              <a:spcAft>
                <a:spcPts val="0"/>
              </a:spcAft>
              <a:buNone/>
            </a:pPr>
            <a:endParaRPr sz="1700" b="1"/>
          </a:p>
          <a:p>
            <a:pPr marL="0" lvl="0" indent="0" algn="l" rtl="0">
              <a:lnSpc>
                <a:spcPct val="115000"/>
              </a:lnSpc>
              <a:spcBef>
                <a:spcPts val="1200"/>
              </a:spcBef>
              <a:spcAft>
                <a:spcPts val="0"/>
              </a:spcAft>
              <a:buNone/>
            </a:pPr>
            <a:endParaRPr sz="1700" b="1"/>
          </a:p>
        </p:txBody>
      </p:sp>
      <p:sp>
        <p:nvSpPr>
          <p:cNvPr id="397" name="Google Shape;397;p29"/>
          <p:cNvSpPr/>
          <p:nvPr/>
        </p:nvSpPr>
        <p:spPr>
          <a:xfrm>
            <a:off x="2428375" y="298775"/>
            <a:ext cx="3895200" cy="4437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98" name="Google Shape;398;p29"/>
          <p:cNvSpPr txBox="1">
            <a:spLocks noGrp="1"/>
          </p:cNvSpPr>
          <p:nvPr>
            <p:ph type="title"/>
          </p:nvPr>
        </p:nvSpPr>
        <p:spPr>
          <a:xfrm>
            <a:off x="1510450" y="215550"/>
            <a:ext cx="56934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Stock Portfolio Analysis</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0"/>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0"/>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405" name="Google Shape;405;p30"/>
          <p:cNvSpPr/>
          <p:nvPr/>
        </p:nvSpPr>
        <p:spPr>
          <a:xfrm>
            <a:off x="1112425" y="877800"/>
            <a:ext cx="4075800" cy="4797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06" name="Google Shape;406;p30"/>
          <p:cNvSpPr txBox="1"/>
          <p:nvPr/>
        </p:nvSpPr>
        <p:spPr>
          <a:xfrm>
            <a:off x="578500" y="765375"/>
            <a:ext cx="6720300" cy="4933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t> </a:t>
            </a:r>
            <a:r>
              <a:rPr lang="en" sz="1700" b="1"/>
              <a:t>6️⃣   </a:t>
            </a:r>
            <a:r>
              <a:rPr lang="en" sz="1700" b="1">
                <a:solidFill>
                  <a:schemeClr val="dk1"/>
                </a:solidFill>
              </a:rPr>
              <a:t>Stock I - High Growth, But Overvalued</a:t>
            </a:r>
            <a:endParaRPr sz="1700" b="1">
              <a:solidFill>
                <a:schemeClr val="dk1"/>
              </a:solidFill>
            </a:endParaRPr>
          </a:p>
          <a:p>
            <a:pPr marL="0" lvl="0" indent="0" algn="l" rtl="0">
              <a:lnSpc>
                <a:spcPct val="115000"/>
              </a:lnSpc>
              <a:spcBef>
                <a:spcPts val="1200"/>
              </a:spcBef>
              <a:spcAft>
                <a:spcPts val="0"/>
              </a:spcAft>
              <a:buNone/>
            </a:pPr>
            <a:r>
              <a:rPr lang="en" sz="1100" b="1">
                <a:latin typeface="Nunito"/>
                <a:ea typeface="Nunito"/>
                <a:cs typeface="Nunito"/>
                <a:sym typeface="Nunito"/>
              </a:rPr>
              <a:t>Investment Score:</a:t>
            </a:r>
            <a:r>
              <a:rPr lang="en" sz="1100">
                <a:latin typeface="Nunito"/>
                <a:ea typeface="Nunito"/>
                <a:cs typeface="Nunito"/>
                <a:sym typeface="Nunito"/>
              </a:rPr>
              <a:t> </a:t>
            </a:r>
            <a:r>
              <a:rPr lang="en" sz="1100" b="1">
                <a:latin typeface="Nunito"/>
                <a:ea typeface="Nunito"/>
                <a:cs typeface="Nunito"/>
                <a:sym typeface="Nunito"/>
              </a:rPr>
              <a:t>5.9/10</a:t>
            </a:r>
            <a:br>
              <a:rPr lang="en" sz="1100" b="1">
                <a:latin typeface="Nunito"/>
                <a:ea typeface="Nunito"/>
                <a:cs typeface="Nunito"/>
                <a:sym typeface="Nunito"/>
              </a:rPr>
            </a:br>
            <a:r>
              <a:rPr lang="en" sz="1100">
                <a:latin typeface="Nunito"/>
                <a:ea typeface="Nunito"/>
                <a:cs typeface="Nunito"/>
                <a:sym typeface="Nunito"/>
              </a:rPr>
              <a:t> Stock I has </a:t>
            </a:r>
            <a:r>
              <a:rPr lang="en" sz="1100" b="1">
                <a:latin typeface="Nunito"/>
                <a:ea typeface="Nunito"/>
                <a:cs typeface="Nunito"/>
                <a:sym typeface="Nunito"/>
              </a:rPr>
              <a:t>strong revenue and earnings growth</a:t>
            </a:r>
            <a:r>
              <a:rPr lang="en" sz="1100">
                <a:latin typeface="Nunito"/>
                <a:ea typeface="Nunito"/>
                <a:cs typeface="Nunito"/>
                <a:sym typeface="Nunito"/>
              </a:rPr>
              <a:t> but is </a:t>
            </a:r>
            <a:r>
              <a:rPr lang="en" sz="1100" b="1">
                <a:latin typeface="Nunito"/>
                <a:ea typeface="Nunito"/>
                <a:cs typeface="Nunito"/>
                <a:sym typeface="Nunito"/>
              </a:rPr>
              <a:t>overvalued and carries some financial risks</a:t>
            </a:r>
            <a:r>
              <a:rPr lang="en" sz="1100">
                <a:latin typeface="Nunito"/>
                <a:ea typeface="Nunito"/>
                <a:cs typeface="Nunito"/>
                <a:sym typeface="Nunito"/>
              </a:rPr>
              <a:t>.</a:t>
            </a:r>
            <a:endParaRPr sz="1100">
              <a:latin typeface="Nunito"/>
              <a:ea typeface="Nunito"/>
              <a:cs typeface="Nunito"/>
              <a:sym typeface="Nunito"/>
            </a:endParaRPr>
          </a:p>
          <a:p>
            <a:pPr marL="457200" lvl="0" indent="-298450" algn="l" rtl="0">
              <a:lnSpc>
                <a:spcPct val="115000"/>
              </a:lnSpc>
              <a:spcBef>
                <a:spcPts val="1200"/>
              </a:spcBef>
              <a:spcAft>
                <a:spcPts val="0"/>
              </a:spcAft>
              <a:buSzPts val="1100"/>
              <a:buFont typeface="Nunito"/>
              <a:buChar char="●"/>
            </a:pPr>
            <a:r>
              <a:rPr lang="en" sz="1100" b="1">
                <a:latin typeface="Nunito"/>
                <a:ea typeface="Nunito"/>
                <a:cs typeface="Nunito"/>
                <a:sym typeface="Nunito"/>
              </a:rPr>
              <a:t>P/E Ratio:</a:t>
            </a:r>
            <a:r>
              <a:rPr lang="en" sz="1100">
                <a:latin typeface="Nunito"/>
                <a:ea typeface="Nunito"/>
                <a:cs typeface="Nunito"/>
                <a:sym typeface="Nunito"/>
              </a:rPr>
              <a:t> </a:t>
            </a:r>
            <a:r>
              <a:rPr lang="en" sz="1100" b="1">
                <a:latin typeface="Nunito"/>
                <a:ea typeface="Nunito"/>
                <a:cs typeface="Nunito"/>
                <a:sym typeface="Nunito"/>
              </a:rPr>
              <a:t>23.21</a:t>
            </a:r>
            <a:r>
              <a:rPr lang="en" sz="1100">
                <a:latin typeface="Nunito"/>
                <a:ea typeface="Nunito"/>
                <a:cs typeface="Nunito"/>
                <a:sym typeface="Nunito"/>
              </a:rPr>
              <a:t> (</a:t>
            </a:r>
            <a:r>
              <a:rPr lang="en" sz="1100" b="1">
                <a:latin typeface="Nunito"/>
                <a:ea typeface="Nunito"/>
                <a:cs typeface="Nunito"/>
                <a:sym typeface="Nunito"/>
              </a:rPr>
              <a:t>Overvalued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Font typeface="Nunito"/>
              <a:buChar char="●"/>
            </a:pPr>
            <a:r>
              <a:rPr lang="en" sz="1100" b="1">
                <a:latin typeface="Nunito"/>
                <a:ea typeface="Nunito"/>
                <a:cs typeface="Nunito"/>
                <a:sym typeface="Nunito"/>
              </a:rPr>
              <a:t>Revenue Growth:</a:t>
            </a:r>
            <a:r>
              <a:rPr lang="en" sz="1100">
                <a:latin typeface="Nunito"/>
                <a:ea typeface="Nunito"/>
                <a:cs typeface="Nunito"/>
                <a:sym typeface="Nunito"/>
              </a:rPr>
              <a:t> </a:t>
            </a:r>
            <a:r>
              <a:rPr lang="en" sz="1100" b="1">
                <a:latin typeface="Nunito"/>
                <a:ea typeface="Nunito"/>
                <a:cs typeface="Nunito"/>
                <a:sym typeface="Nunito"/>
              </a:rPr>
              <a:t>+29.4%</a:t>
            </a:r>
            <a:r>
              <a:rPr lang="en" sz="1100">
                <a:latin typeface="Nunito"/>
                <a:ea typeface="Nunito"/>
                <a:cs typeface="Nunito"/>
                <a:sym typeface="Nunito"/>
              </a:rPr>
              <a:t> (</a:t>
            </a:r>
            <a:r>
              <a:rPr lang="en" sz="1100" b="1">
                <a:latin typeface="Nunito"/>
                <a:ea typeface="Nunito"/>
                <a:cs typeface="Nunito"/>
                <a:sym typeface="Nunito"/>
              </a:rPr>
              <a:t>Strong Growth</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Font typeface="Nunito"/>
              <a:buChar char="●"/>
            </a:pPr>
            <a:r>
              <a:rPr lang="en" sz="1100" b="1">
                <a:latin typeface="Nunito"/>
                <a:ea typeface="Nunito"/>
                <a:cs typeface="Nunito"/>
                <a:sym typeface="Nunito"/>
              </a:rPr>
              <a:t>EBITDA Growth:</a:t>
            </a:r>
            <a:r>
              <a:rPr lang="en" sz="1100">
                <a:latin typeface="Nunito"/>
                <a:ea typeface="Nunito"/>
                <a:cs typeface="Nunito"/>
                <a:sym typeface="Nunito"/>
              </a:rPr>
              <a:t> </a:t>
            </a:r>
            <a:r>
              <a:rPr lang="en" sz="1100" b="1">
                <a:latin typeface="Nunito"/>
                <a:ea typeface="Nunito"/>
                <a:cs typeface="Nunito"/>
                <a:sym typeface="Nunito"/>
              </a:rPr>
              <a:t>+58.8%</a:t>
            </a:r>
            <a:r>
              <a:rPr lang="en" sz="1100">
                <a:latin typeface="Nunito"/>
                <a:ea typeface="Nunito"/>
                <a:cs typeface="Nunito"/>
                <a:sym typeface="Nunito"/>
              </a:rPr>
              <a:t> (</a:t>
            </a:r>
            <a:r>
              <a:rPr lang="en" sz="1100" b="1">
                <a:latin typeface="Nunito"/>
                <a:ea typeface="Nunito"/>
                <a:cs typeface="Nunito"/>
                <a:sym typeface="Nunito"/>
              </a:rPr>
              <a:t>Excellent</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Font typeface="Nunito"/>
              <a:buChar char="●"/>
            </a:pPr>
            <a:r>
              <a:rPr lang="en" sz="1100" b="1">
                <a:latin typeface="Nunito"/>
                <a:ea typeface="Nunito"/>
                <a:cs typeface="Nunito"/>
                <a:sym typeface="Nunito"/>
              </a:rPr>
              <a:t>Net Profit Margin:</a:t>
            </a:r>
            <a:r>
              <a:rPr lang="en" sz="1100">
                <a:latin typeface="Nunito"/>
                <a:ea typeface="Nunito"/>
                <a:cs typeface="Nunito"/>
                <a:sym typeface="Nunito"/>
              </a:rPr>
              <a:t> </a:t>
            </a:r>
            <a:r>
              <a:rPr lang="en" sz="1100" b="1">
                <a:latin typeface="Nunito"/>
                <a:ea typeface="Nunito"/>
                <a:cs typeface="Nunito"/>
                <a:sym typeface="Nunito"/>
              </a:rPr>
              <a:t>13.4%</a:t>
            </a:r>
            <a:r>
              <a:rPr lang="en" sz="1100">
                <a:latin typeface="Nunito"/>
                <a:ea typeface="Nunito"/>
                <a:cs typeface="Nunito"/>
                <a:sym typeface="Nunito"/>
              </a:rPr>
              <a:t> (</a:t>
            </a:r>
            <a:r>
              <a:rPr lang="en" sz="1100" b="1">
                <a:latin typeface="Nunito"/>
                <a:ea typeface="Nunito"/>
                <a:cs typeface="Nunito"/>
                <a:sym typeface="Nunito"/>
              </a:rPr>
              <a:t>Moderate</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Font typeface="Nunito"/>
              <a:buChar char="●"/>
            </a:pPr>
            <a:r>
              <a:rPr lang="en" sz="1100" b="1">
                <a:latin typeface="Nunito"/>
                <a:ea typeface="Nunito"/>
                <a:cs typeface="Nunito"/>
                <a:sym typeface="Nunito"/>
              </a:rPr>
              <a:t>Debt-to-EBITDA:</a:t>
            </a:r>
            <a:r>
              <a:rPr lang="en" sz="1100">
                <a:latin typeface="Nunito"/>
                <a:ea typeface="Nunito"/>
                <a:cs typeface="Nunito"/>
                <a:sym typeface="Nunito"/>
              </a:rPr>
              <a:t> </a:t>
            </a:r>
            <a:r>
              <a:rPr lang="en" sz="1100" b="1">
                <a:latin typeface="Nunito"/>
                <a:ea typeface="Nunito"/>
                <a:cs typeface="Nunito"/>
                <a:sym typeface="Nunito"/>
              </a:rPr>
              <a:t>2.18</a:t>
            </a:r>
            <a:r>
              <a:rPr lang="en" sz="1100">
                <a:latin typeface="Nunito"/>
                <a:ea typeface="Nunito"/>
                <a:cs typeface="Nunito"/>
                <a:sym typeface="Nunito"/>
              </a:rPr>
              <a:t> (</a:t>
            </a:r>
            <a:r>
              <a:rPr lang="en" sz="1100" b="1">
                <a:latin typeface="Nunito"/>
                <a:ea typeface="Nunito"/>
                <a:cs typeface="Nunito"/>
                <a:sym typeface="Nunito"/>
              </a:rPr>
              <a:t>Moderate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Font typeface="Nunito"/>
              <a:buChar char="●"/>
            </a:pPr>
            <a:r>
              <a:rPr lang="en" sz="1100" b="1">
                <a:latin typeface="Nunito"/>
                <a:ea typeface="Nunito"/>
                <a:cs typeface="Nunito"/>
                <a:sym typeface="Nunito"/>
              </a:rPr>
              <a:t>EBITDA Margin:</a:t>
            </a:r>
            <a:r>
              <a:rPr lang="en" sz="1100">
                <a:latin typeface="Nunito"/>
                <a:ea typeface="Nunito"/>
                <a:cs typeface="Nunito"/>
                <a:sym typeface="Nunito"/>
              </a:rPr>
              <a:t> </a:t>
            </a:r>
            <a:r>
              <a:rPr lang="en" sz="1100" b="1">
                <a:latin typeface="Nunito"/>
                <a:ea typeface="Nunito"/>
                <a:cs typeface="Nunito"/>
                <a:sym typeface="Nunito"/>
              </a:rPr>
              <a:t>19.8%</a:t>
            </a:r>
            <a:r>
              <a:rPr lang="en" sz="1100">
                <a:latin typeface="Nunito"/>
                <a:ea typeface="Nunito"/>
                <a:cs typeface="Nunito"/>
                <a:sym typeface="Nunito"/>
              </a:rPr>
              <a:t> (</a:t>
            </a:r>
            <a:r>
              <a:rPr lang="en" sz="1100" b="1">
                <a:latin typeface="Nunito"/>
                <a:ea typeface="Nunito"/>
                <a:cs typeface="Nunito"/>
                <a:sym typeface="Nunito"/>
              </a:rPr>
              <a:t>Decent</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Font typeface="Nunito"/>
              <a:buChar char="●"/>
            </a:pPr>
            <a:r>
              <a:rPr lang="en" sz="1100" b="1">
                <a:latin typeface="Nunito"/>
                <a:ea typeface="Nunito"/>
                <a:cs typeface="Nunito"/>
                <a:sym typeface="Nunito"/>
              </a:rPr>
              <a:t>EPS Growth:</a:t>
            </a:r>
            <a:r>
              <a:rPr lang="en" sz="1100">
                <a:latin typeface="Nunito"/>
                <a:ea typeface="Nunito"/>
                <a:cs typeface="Nunito"/>
                <a:sym typeface="Nunito"/>
              </a:rPr>
              <a:t> </a:t>
            </a:r>
            <a:r>
              <a:rPr lang="en" sz="1100" b="1">
                <a:latin typeface="Nunito"/>
                <a:ea typeface="Nunito"/>
                <a:cs typeface="Nunito"/>
                <a:sym typeface="Nunito"/>
              </a:rPr>
              <a:t>+40.4%</a:t>
            </a:r>
            <a:r>
              <a:rPr lang="en" sz="1100">
                <a:latin typeface="Nunito"/>
                <a:ea typeface="Nunito"/>
                <a:cs typeface="Nunito"/>
                <a:sym typeface="Nunito"/>
              </a:rPr>
              <a:t> (</a:t>
            </a:r>
            <a:r>
              <a:rPr lang="en" sz="1100" b="1">
                <a:latin typeface="Nunito"/>
                <a:ea typeface="Nunito"/>
                <a:cs typeface="Nunito"/>
                <a:sym typeface="Nunito"/>
              </a:rPr>
              <a:t>Very Strong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Font typeface="Nunito"/>
              <a:buChar char="●"/>
            </a:pPr>
            <a:r>
              <a:rPr lang="en" sz="1100" b="1">
                <a:latin typeface="Nunito"/>
                <a:ea typeface="Nunito"/>
                <a:cs typeface="Nunito"/>
                <a:sym typeface="Nunito"/>
              </a:rPr>
              <a:t>Interest Coverage Ratio:</a:t>
            </a:r>
            <a:r>
              <a:rPr lang="en" sz="1100">
                <a:latin typeface="Nunito"/>
                <a:ea typeface="Nunito"/>
                <a:cs typeface="Nunito"/>
                <a:sym typeface="Nunito"/>
              </a:rPr>
              <a:t> </a:t>
            </a:r>
            <a:r>
              <a:rPr lang="en" sz="1100" b="1">
                <a:latin typeface="Nunito"/>
                <a:ea typeface="Nunito"/>
                <a:cs typeface="Nunito"/>
                <a:sym typeface="Nunito"/>
              </a:rPr>
              <a:t>3.8</a:t>
            </a:r>
            <a:r>
              <a:rPr lang="en" sz="1100">
                <a:latin typeface="Nunito"/>
                <a:ea typeface="Nunito"/>
                <a:cs typeface="Nunito"/>
                <a:sym typeface="Nunito"/>
              </a:rPr>
              <a:t> (</a:t>
            </a:r>
            <a:r>
              <a:rPr lang="en" sz="1100" b="1">
                <a:latin typeface="Nunito"/>
                <a:ea typeface="Nunito"/>
                <a:cs typeface="Nunito"/>
                <a:sym typeface="Nunito"/>
              </a:rPr>
              <a:t>Borderline Risky</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Font typeface="Nunito"/>
              <a:buChar char="●"/>
            </a:pPr>
            <a:r>
              <a:rPr lang="en" sz="1100" b="1">
                <a:latin typeface="Nunito"/>
                <a:ea typeface="Nunito"/>
                <a:cs typeface="Nunito"/>
                <a:sym typeface="Nunito"/>
              </a:rPr>
              <a:t>Dividend Yield:</a:t>
            </a:r>
            <a:r>
              <a:rPr lang="en" sz="1100">
                <a:latin typeface="Nunito"/>
                <a:ea typeface="Nunito"/>
                <a:cs typeface="Nunito"/>
                <a:sym typeface="Nunito"/>
              </a:rPr>
              <a:t> </a:t>
            </a:r>
            <a:r>
              <a:rPr lang="en" sz="1100" b="1">
                <a:latin typeface="Nunito"/>
                <a:ea typeface="Nunito"/>
                <a:cs typeface="Nunito"/>
                <a:sym typeface="Nunito"/>
              </a:rPr>
              <a:t>2.48%</a:t>
            </a:r>
            <a:r>
              <a:rPr lang="en" sz="1100">
                <a:latin typeface="Nunito"/>
                <a:ea typeface="Nunito"/>
                <a:cs typeface="Nunito"/>
                <a:sym typeface="Nunito"/>
              </a:rPr>
              <a:t> (</a:t>
            </a:r>
            <a:r>
              <a:rPr lang="en" sz="1100" b="1">
                <a:latin typeface="Nunito"/>
                <a:ea typeface="Nunito"/>
                <a:cs typeface="Nunito"/>
                <a:sym typeface="Nunito"/>
              </a:rPr>
              <a:t>Decent Yield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Font typeface="Nunito"/>
              <a:buChar char="●"/>
            </a:pPr>
            <a:r>
              <a:rPr lang="en" sz="1100" b="1">
                <a:latin typeface="Nunito"/>
                <a:ea typeface="Nunito"/>
                <a:cs typeface="Nunito"/>
                <a:sym typeface="Nunito"/>
              </a:rPr>
              <a:t>ROE:</a:t>
            </a:r>
            <a:r>
              <a:rPr lang="en" sz="1100">
                <a:latin typeface="Nunito"/>
                <a:ea typeface="Nunito"/>
                <a:cs typeface="Nunito"/>
                <a:sym typeface="Nunito"/>
              </a:rPr>
              <a:t> </a:t>
            </a:r>
            <a:r>
              <a:rPr lang="en" sz="1100" b="1">
                <a:latin typeface="Nunito"/>
                <a:ea typeface="Nunito"/>
                <a:cs typeface="Nunito"/>
                <a:sym typeface="Nunito"/>
              </a:rPr>
              <a:t>9.82%</a:t>
            </a:r>
            <a:r>
              <a:rPr lang="en" sz="1100">
                <a:latin typeface="Nunito"/>
                <a:ea typeface="Nunito"/>
                <a:cs typeface="Nunito"/>
                <a:sym typeface="Nunito"/>
              </a:rPr>
              <a:t> (</a:t>
            </a:r>
            <a:r>
              <a:rPr lang="en" sz="1100" b="1">
                <a:latin typeface="Nunito"/>
                <a:ea typeface="Nunito"/>
                <a:cs typeface="Nunito"/>
                <a:sym typeface="Nunito"/>
              </a:rPr>
              <a:t>Moderate</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Font typeface="Nunito"/>
              <a:buChar char="●"/>
            </a:pPr>
            <a:r>
              <a:rPr lang="en" sz="1100" b="1">
                <a:latin typeface="Nunito"/>
                <a:ea typeface="Nunito"/>
                <a:cs typeface="Nunito"/>
                <a:sym typeface="Nunito"/>
              </a:rPr>
              <a:t>ROIC:</a:t>
            </a:r>
            <a:r>
              <a:rPr lang="en" sz="1100">
                <a:latin typeface="Nunito"/>
                <a:ea typeface="Nunito"/>
                <a:cs typeface="Nunito"/>
                <a:sym typeface="Nunito"/>
              </a:rPr>
              <a:t> </a:t>
            </a:r>
            <a:r>
              <a:rPr lang="en" sz="1100" b="1">
                <a:latin typeface="Nunito"/>
                <a:ea typeface="Nunito"/>
                <a:cs typeface="Nunito"/>
                <a:sym typeface="Nunito"/>
              </a:rPr>
              <a:t>-2.48%</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Font typeface="Nunito"/>
              <a:buChar char="●"/>
            </a:pPr>
            <a:r>
              <a:rPr lang="en" sz="1100" b="1">
                <a:latin typeface="Nunito"/>
                <a:ea typeface="Nunito"/>
                <a:cs typeface="Nunito"/>
                <a:sym typeface="Nunito"/>
              </a:rPr>
              <a:t>ROA:</a:t>
            </a:r>
            <a:r>
              <a:rPr lang="en" sz="1100">
                <a:latin typeface="Nunito"/>
                <a:ea typeface="Nunito"/>
                <a:cs typeface="Nunito"/>
                <a:sym typeface="Nunito"/>
              </a:rPr>
              <a:t> </a:t>
            </a:r>
            <a:r>
              <a:rPr lang="en" sz="1100" b="1">
                <a:latin typeface="Nunito"/>
                <a:ea typeface="Nunito"/>
                <a:cs typeface="Nunito"/>
                <a:sym typeface="Nunito"/>
              </a:rPr>
              <a:t>158.65%</a:t>
            </a:r>
            <a:r>
              <a:rPr lang="en" sz="1100">
                <a:latin typeface="Nunito"/>
                <a:ea typeface="Nunito"/>
                <a:cs typeface="Nunito"/>
                <a:sym typeface="Nunito"/>
              </a:rPr>
              <a:t> (</a:t>
            </a:r>
            <a:r>
              <a:rPr lang="en" sz="1100" b="1">
                <a:latin typeface="Nunito"/>
                <a:ea typeface="Nunito"/>
                <a:cs typeface="Nunito"/>
                <a:sym typeface="Nunito"/>
              </a:rPr>
              <a:t>Strong</a:t>
            </a:r>
            <a:r>
              <a:rPr lang="en" sz="1100">
                <a:latin typeface="Nunito"/>
                <a:ea typeface="Nunito"/>
                <a:cs typeface="Nunito"/>
                <a:sym typeface="Nunito"/>
              </a:rPr>
              <a:t> ✅)</a:t>
            </a:r>
            <a:endParaRPr sz="1100">
              <a:latin typeface="Nunito"/>
              <a:ea typeface="Nunito"/>
              <a:cs typeface="Nunito"/>
              <a:sym typeface="Nunito"/>
            </a:endParaRPr>
          </a:p>
          <a:p>
            <a:pPr marL="457200" lvl="0" indent="0" algn="l" rtl="0">
              <a:lnSpc>
                <a:spcPct val="115000"/>
              </a:lnSpc>
              <a:spcBef>
                <a:spcPts val="1200"/>
              </a:spcBef>
              <a:spcAft>
                <a:spcPts val="0"/>
              </a:spcAft>
              <a:buNone/>
            </a:pPr>
            <a:r>
              <a:rPr lang="en" sz="1100">
                <a:latin typeface="Nunito"/>
                <a:ea typeface="Nunito"/>
                <a:cs typeface="Nunito"/>
                <a:sym typeface="Nunito"/>
              </a:rPr>
              <a:t>📌 </a:t>
            </a:r>
            <a:r>
              <a:rPr lang="en" sz="1100" b="1">
                <a:latin typeface="Nunito"/>
                <a:ea typeface="Nunito"/>
                <a:cs typeface="Nunito"/>
                <a:sym typeface="Nunito"/>
              </a:rPr>
              <a:t>Final Verdict:</a:t>
            </a:r>
            <a:r>
              <a:rPr lang="en" sz="1100">
                <a:latin typeface="Nunito"/>
                <a:ea typeface="Nunito"/>
                <a:cs typeface="Nunito"/>
                <a:sym typeface="Nunito"/>
              </a:rPr>
              <a:t> ⚠️ </a:t>
            </a:r>
            <a:r>
              <a:rPr lang="en" sz="1100" b="1">
                <a:latin typeface="Nunito"/>
                <a:ea typeface="Nunito"/>
                <a:cs typeface="Nunito"/>
                <a:sym typeface="Nunito"/>
              </a:rPr>
              <a:t>Good for aggressive investors, but valuation is high, and some financial risks exist.</a:t>
            </a:r>
            <a:endParaRPr sz="1100" b="1">
              <a:latin typeface="Nunito"/>
              <a:ea typeface="Nunito"/>
              <a:cs typeface="Nunito"/>
              <a:sym typeface="Nunito"/>
            </a:endParaRPr>
          </a:p>
          <a:p>
            <a:pPr marL="0" lvl="0" indent="0" algn="l" rtl="0">
              <a:lnSpc>
                <a:spcPct val="115000"/>
              </a:lnSpc>
              <a:spcBef>
                <a:spcPts val="1200"/>
              </a:spcBef>
              <a:spcAft>
                <a:spcPts val="0"/>
              </a:spcAft>
              <a:buNone/>
            </a:pPr>
            <a:endParaRPr sz="1700" b="1"/>
          </a:p>
          <a:p>
            <a:pPr marL="0" lvl="0" indent="0" algn="l" rtl="0">
              <a:lnSpc>
                <a:spcPct val="115000"/>
              </a:lnSpc>
              <a:spcBef>
                <a:spcPts val="1200"/>
              </a:spcBef>
              <a:spcAft>
                <a:spcPts val="0"/>
              </a:spcAft>
              <a:buNone/>
            </a:pPr>
            <a:endParaRPr sz="1700" b="1"/>
          </a:p>
        </p:txBody>
      </p:sp>
      <p:sp>
        <p:nvSpPr>
          <p:cNvPr id="407" name="Google Shape;407;p30"/>
          <p:cNvSpPr/>
          <p:nvPr/>
        </p:nvSpPr>
        <p:spPr>
          <a:xfrm>
            <a:off x="2428375" y="298775"/>
            <a:ext cx="3895200" cy="4437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08" name="Google Shape;408;p30"/>
          <p:cNvSpPr txBox="1">
            <a:spLocks noGrp="1"/>
          </p:cNvSpPr>
          <p:nvPr>
            <p:ph type="title"/>
          </p:nvPr>
        </p:nvSpPr>
        <p:spPr>
          <a:xfrm>
            <a:off x="1510450" y="215550"/>
            <a:ext cx="56934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Stock Portfolio Analysis</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31"/>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1"/>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415" name="Google Shape;415;p31"/>
          <p:cNvSpPr/>
          <p:nvPr/>
        </p:nvSpPr>
        <p:spPr>
          <a:xfrm>
            <a:off x="1067300" y="885325"/>
            <a:ext cx="3707100" cy="4962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16" name="Google Shape;416;p31"/>
          <p:cNvSpPr txBox="1"/>
          <p:nvPr/>
        </p:nvSpPr>
        <p:spPr>
          <a:xfrm>
            <a:off x="578500" y="775535"/>
            <a:ext cx="6720300" cy="4478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t> </a:t>
            </a:r>
            <a:r>
              <a:rPr lang="en" sz="1700" b="1"/>
              <a:t>7️⃣   </a:t>
            </a:r>
            <a:r>
              <a:rPr lang="en" sz="1700" b="1">
                <a:solidFill>
                  <a:schemeClr val="dk1"/>
                </a:solidFill>
              </a:rPr>
              <a:t>Stock G - Stable But Slow Growth</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5.8/10</a:t>
            </a:r>
            <a:br>
              <a:rPr lang="en" sz="1100" b="1">
                <a:latin typeface="Nunito"/>
                <a:ea typeface="Nunito"/>
                <a:cs typeface="Nunito"/>
                <a:sym typeface="Nunito"/>
              </a:rPr>
            </a:br>
            <a:r>
              <a:rPr lang="en" sz="1100">
                <a:latin typeface="Nunito"/>
                <a:ea typeface="Nunito"/>
                <a:cs typeface="Nunito"/>
                <a:sym typeface="Nunito"/>
              </a:rPr>
              <a:t> </a:t>
            </a:r>
            <a:r>
              <a:rPr lang="en" sz="1100">
                <a:solidFill>
                  <a:schemeClr val="dk2"/>
                </a:solidFill>
                <a:latin typeface="Nunito"/>
                <a:ea typeface="Nunito"/>
                <a:cs typeface="Nunito"/>
                <a:sym typeface="Nunito"/>
              </a:rPr>
              <a:t>Stock G has </a:t>
            </a:r>
            <a:r>
              <a:rPr lang="en" sz="1100" b="1">
                <a:solidFill>
                  <a:schemeClr val="dk2"/>
                </a:solidFill>
                <a:latin typeface="Nunito"/>
                <a:ea typeface="Nunito"/>
                <a:cs typeface="Nunito"/>
                <a:sym typeface="Nunito"/>
              </a:rPr>
              <a:t>solid profitability</a:t>
            </a:r>
            <a:r>
              <a:rPr lang="en" sz="1100">
                <a:solidFill>
                  <a:schemeClr val="dk2"/>
                </a:solidFill>
                <a:latin typeface="Nunito"/>
                <a:ea typeface="Nunito"/>
                <a:cs typeface="Nunito"/>
                <a:sym typeface="Nunito"/>
              </a:rPr>
              <a:t>, but </a:t>
            </a:r>
            <a:r>
              <a:rPr lang="en" sz="1100" b="1">
                <a:solidFill>
                  <a:schemeClr val="dk2"/>
                </a:solidFill>
                <a:latin typeface="Nunito"/>
                <a:ea typeface="Nunito"/>
                <a:cs typeface="Nunito"/>
                <a:sym typeface="Nunito"/>
              </a:rPr>
              <a:t>its growth is slow</a:t>
            </a:r>
            <a:r>
              <a:rPr lang="en" sz="1100">
                <a:solidFill>
                  <a:schemeClr val="dk2"/>
                </a:solidFill>
                <a:latin typeface="Nunito"/>
                <a:ea typeface="Nunito"/>
                <a:cs typeface="Nunito"/>
                <a:sym typeface="Nunito"/>
              </a:rPr>
              <a:t>, making it a </a:t>
            </a:r>
            <a:r>
              <a:rPr lang="en" sz="1100" b="1">
                <a:solidFill>
                  <a:schemeClr val="dk2"/>
                </a:solidFill>
                <a:latin typeface="Nunito"/>
                <a:ea typeface="Nunito"/>
                <a:cs typeface="Nunito"/>
                <a:sym typeface="Nunito"/>
              </a:rPr>
              <a:t>safe but not exciting investment</a:t>
            </a:r>
            <a:r>
              <a:rPr lang="en" sz="1100">
                <a:solidFill>
                  <a:schemeClr val="dk2"/>
                </a:solidFill>
                <a:latin typeface="Nunito"/>
                <a:ea typeface="Nunito"/>
                <a:cs typeface="Nunito"/>
                <a:sym typeface="Nunito"/>
              </a:rPr>
              <a:t>.</a:t>
            </a:r>
            <a:endParaRPr sz="1100">
              <a:solidFill>
                <a:schemeClr val="dk2"/>
              </a:solidFill>
              <a:latin typeface="Nunito"/>
              <a:ea typeface="Nunito"/>
              <a:cs typeface="Nunito"/>
              <a:sym typeface="Nunito"/>
            </a:endParaRPr>
          </a:p>
          <a:p>
            <a:pPr marL="457200" lvl="0" indent="-298450" algn="l" rtl="0">
              <a:lnSpc>
                <a:spcPct val="115000"/>
              </a:lnSpc>
              <a:spcBef>
                <a:spcPts val="1200"/>
              </a:spcBef>
              <a:spcAft>
                <a:spcPts val="0"/>
              </a:spcAft>
              <a:buClr>
                <a:schemeClr val="dk2"/>
              </a:buClr>
              <a:buSzPts val="1100"/>
              <a:buChar char="●"/>
            </a:pPr>
            <a:r>
              <a:rPr lang="en" sz="1100" b="1">
                <a:solidFill>
                  <a:schemeClr val="dk2"/>
                </a:solidFill>
                <a:latin typeface="Nunito"/>
                <a:ea typeface="Nunito"/>
                <a:cs typeface="Nunito"/>
                <a:sym typeface="Nunito"/>
              </a:rPr>
              <a:t>P/E Ratio:</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17.49</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Fairly Valued</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Revenue Growth:</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+7.4%</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Moderate</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EBITDA Growth:</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+1.3%</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Weak</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Net Profit Margin:</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22.7%</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Strong</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Debt-to-EBITDA:</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2.05</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Manageable Risk</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EBITDA Margin:</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25.6%</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Strong</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EPS Growth:</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+10.5%</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Good</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Interest Coverage Ratio:</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6.9</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Safe</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Dividend Yield:</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3.24%</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Decent Yield</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ROE:</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18.13%</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Strong</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ROIC:</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-7.12%</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Weak</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ROA:</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271.85%</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Strong</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0" algn="l" rtl="0">
              <a:lnSpc>
                <a:spcPct val="115000"/>
              </a:lnSpc>
              <a:spcBef>
                <a:spcPts val="1200"/>
              </a:spcBef>
              <a:spcAft>
                <a:spcPts val="0"/>
              </a:spcAft>
              <a:buNone/>
            </a:pP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Final Verdict:</a:t>
            </a:r>
            <a:r>
              <a:rPr lang="en" sz="1100">
                <a:solidFill>
                  <a:schemeClr val="dk2"/>
                </a:solidFill>
                <a:latin typeface="Nunito"/>
                <a:ea typeface="Nunito"/>
                <a:cs typeface="Nunito"/>
                <a:sym typeface="Nunito"/>
              </a:rPr>
              <a:t> ⚠️ </a:t>
            </a:r>
            <a:r>
              <a:rPr lang="en" sz="1100" b="1">
                <a:solidFill>
                  <a:schemeClr val="dk2"/>
                </a:solidFill>
                <a:latin typeface="Nunito"/>
                <a:ea typeface="Nunito"/>
                <a:cs typeface="Nunito"/>
                <a:sym typeface="Nunito"/>
              </a:rPr>
              <a:t>A safe stock, but growth is too slow for aggressive investors. Good for conservative portfolios.</a:t>
            </a:r>
            <a:endParaRPr sz="1100" b="1">
              <a:solidFill>
                <a:schemeClr val="dk2"/>
              </a:solidFill>
              <a:latin typeface="Nunito"/>
              <a:ea typeface="Nunito"/>
              <a:cs typeface="Nunito"/>
              <a:sym typeface="Nunito"/>
            </a:endParaRPr>
          </a:p>
          <a:p>
            <a:pPr marL="0" lvl="0" indent="0" algn="l" rtl="0">
              <a:lnSpc>
                <a:spcPct val="115000"/>
              </a:lnSpc>
              <a:spcBef>
                <a:spcPts val="1200"/>
              </a:spcBef>
              <a:spcAft>
                <a:spcPts val="0"/>
              </a:spcAft>
              <a:buNone/>
            </a:pPr>
            <a:endParaRPr sz="1700" b="1"/>
          </a:p>
        </p:txBody>
      </p:sp>
      <p:sp>
        <p:nvSpPr>
          <p:cNvPr id="417" name="Google Shape;417;p31"/>
          <p:cNvSpPr/>
          <p:nvPr/>
        </p:nvSpPr>
        <p:spPr>
          <a:xfrm>
            <a:off x="2428375" y="298775"/>
            <a:ext cx="3895200" cy="4437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18" name="Google Shape;418;p31"/>
          <p:cNvSpPr txBox="1">
            <a:spLocks noGrp="1"/>
          </p:cNvSpPr>
          <p:nvPr>
            <p:ph type="title"/>
          </p:nvPr>
        </p:nvSpPr>
        <p:spPr>
          <a:xfrm>
            <a:off x="1510450" y="215550"/>
            <a:ext cx="56934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Stock Portfolio Analysis</a:t>
            </a: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32"/>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2"/>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425" name="Google Shape;425;p32"/>
          <p:cNvSpPr/>
          <p:nvPr/>
        </p:nvSpPr>
        <p:spPr>
          <a:xfrm>
            <a:off x="1074825" y="945475"/>
            <a:ext cx="4436700" cy="4119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26" name="Google Shape;426;p32"/>
          <p:cNvSpPr txBox="1"/>
          <p:nvPr/>
        </p:nvSpPr>
        <p:spPr>
          <a:xfrm>
            <a:off x="578500" y="785695"/>
            <a:ext cx="6720300" cy="4478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t> </a:t>
            </a:r>
            <a:r>
              <a:rPr lang="en" sz="1700" b="1"/>
              <a:t>8️⃣   </a:t>
            </a:r>
            <a:r>
              <a:rPr lang="en" sz="1700" b="1">
                <a:solidFill>
                  <a:schemeClr val="dk1"/>
                </a:solidFill>
              </a:rPr>
              <a:t>Stock Q - Fair Valuation But Low Growth</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4.5/10</a:t>
            </a:r>
            <a:br>
              <a:rPr lang="en" sz="1100" b="1">
                <a:latin typeface="Nunito"/>
                <a:ea typeface="Nunito"/>
                <a:cs typeface="Nunito"/>
                <a:sym typeface="Nunito"/>
              </a:rPr>
            </a:br>
            <a:r>
              <a:rPr lang="en" sz="1100">
                <a:latin typeface="Nunito"/>
                <a:ea typeface="Nunito"/>
                <a:cs typeface="Nunito"/>
                <a:sym typeface="Nunito"/>
              </a:rPr>
              <a:t> </a:t>
            </a:r>
            <a:r>
              <a:rPr lang="en" sz="1100">
                <a:solidFill>
                  <a:schemeClr val="dk2"/>
                </a:solidFill>
                <a:latin typeface="Nunito"/>
                <a:ea typeface="Nunito"/>
                <a:cs typeface="Nunito"/>
                <a:sym typeface="Nunito"/>
              </a:rPr>
              <a:t>Stock Q is fairly valued, but </a:t>
            </a:r>
            <a:r>
              <a:rPr lang="en" sz="1100" b="1">
                <a:solidFill>
                  <a:schemeClr val="dk2"/>
                </a:solidFill>
                <a:latin typeface="Nunito"/>
                <a:ea typeface="Nunito"/>
                <a:cs typeface="Nunito"/>
                <a:sym typeface="Nunito"/>
              </a:rPr>
              <a:t>its growth is too slow</a:t>
            </a:r>
            <a:r>
              <a:rPr lang="en" sz="1100">
                <a:solidFill>
                  <a:schemeClr val="dk2"/>
                </a:solidFill>
                <a:latin typeface="Nunito"/>
                <a:ea typeface="Nunito"/>
                <a:cs typeface="Nunito"/>
                <a:sym typeface="Nunito"/>
              </a:rPr>
              <a:t> to make it a strong pick.</a:t>
            </a:r>
            <a:endParaRPr sz="1100">
              <a:solidFill>
                <a:schemeClr val="dk2"/>
              </a:solidFill>
              <a:latin typeface="Nunito"/>
              <a:ea typeface="Nunito"/>
              <a:cs typeface="Nunito"/>
              <a:sym typeface="Nunito"/>
            </a:endParaRPr>
          </a:p>
          <a:p>
            <a:pPr marL="457200" lvl="0" indent="-298450" algn="l" rtl="0">
              <a:lnSpc>
                <a:spcPct val="115000"/>
              </a:lnSpc>
              <a:spcBef>
                <a:spcPts val="1200"/>
              </a:spcBef>
              <a:spcAft>
                <a:spcPts val="0"/>
              </a:spcAft>
              <a:buClr>
                <a:schemeClr val="dk2"/>
              </a:buClr>
              <a:buSzPts val="1100"/>
              <a:buChar char="●"/>
            </a:pPr>
            <a:r>
              <a:rPr lang="en" sz="1100" b="1">
                <a:solidFill>
                  <a:schemeClr val="dk2"/>
                </a:solidFill>
                <a:latin typeface="Nunito"/>
                <a:ea typeface="Nunito"/>
                <a:cs typeface="Nunito"/>
                <a:sym typeface="Nunito"/>
              </a:rPr>
              <a:t>P/E Ratio:</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19.22</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Fair Valuation</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Revenue Growth:</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+2.2%</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Weak</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EBITDA Growth:</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+1.9%</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Very Weak</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Net Profit Margin:</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13.9%</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Moderate</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Debt-to-EBITDA:</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2.75</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Manageable Risk</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EBITDA Margin:</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19.8%</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Good</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EPS Growth:</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+4.3%</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Weak</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Interest Coverage Ratio:</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3.9</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Borderline Risky</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Dividend Yield:</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2.68%</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Average</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ROE:</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6.67%</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Weak</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ROIC:</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-4.20%</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Poor</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298450" algn="l" rtl="0">
              <a:lnSpc>
                <a:spcPct val="115000"/>
              </a:lnSpc>
              <a:spcBef>
                <a:spcPts val="0"/>
              </a:spcBef>
              <a:spcAft>
                <a:spcPts val="0"/>
              </a:spcAft>
              <a:buClr>
                <a:schemeClr val="dk2"/>
              </a:buClr>
              <a:buSzPts val="1100"/>
              <a:buChar char="●"/>
            </a:pPr>
            <a:r>
              <a:rPr lang="en" sz="1100" b="1">
                <a:solidFill>
                  <a:schemeClr val="dk2"/>
                </a:solidFill>
                <a:latin typeface="Nunito"/>
                <a:ea typeface="Nunito"/>
                <a:cs typeface="Nunito"/>
                <a:sym typeface="Nunito"/>
              </a:rPr>
              <a:t>ROA:</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145.67%</a:t>
            </a: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Moderate</a:t>
            </a:r>
            <a:r>
              <a:rPr lang="en" sz="1100">
                <a:solidFill>
                  <a:schemeClr val="dk2"/>
                </a:solidFill>
                <a:latin typeface="Nunito"/>
                <a:ea typeface="Nunito"/>
                <a:cs typeface="Nunito"/>
                <a:sym typeface="Nunito"/>
              </a:rPr>
              <a:t> ✅)</a:t>
            </a:r>
            <a:endParaRPr sz="1100">
              <a:solidFill>
                <a:schemeClr val="dk2"/>
              </a:solidFill>
              <a:latin typeface="Nunito"/>
              <a:ea typeface="Nunito"/>
              <a:cs typeface="Nunito"/>
              <a:sym typeface="Nunito"/>
            </a:endParaRPr>
          </a:p>
          <a:p>
            <a:pPr marL="457200" lvl="0" indent="0" algn="l" rtl="0">
              <a:lnSpc>
                <a:spcPct val="115000"/>
              </a:lnSpc>
              <a:spcBef>
                <a:spcPts val="1200"/>
              </a:spcBef>
              <a:spcAft>
                <a:spcPts val="0"/>
              </a:spcAft>
              <a:buNone/>
            </a:pPr>
            <a:r>
              <a:rPr lang="en" sz="1100">
                <a:solidFill>
                  <a:schemeClr val="dk2"/>
                </a:solidFill>
                <a:latin typeface="Nunito"/>
                <a:ea typeface="Nunito"/>
                <a:cs typeface="Nunito"/>
                <a:sym typeface="Nunito"/>
              </a:rPr>
              <a:t>📌 </a:t>
            </a:r>
            <a:r>
              <a:rPr lang="en" sz="1100" b="1">
                <a:solidFill>
                  <a:schemeClr val="dk2"/>
                </a:solidFill>
                <a:latin typeface="Nunito"/>
                <a:ea typeface="Nunito"/>
                <a:cs typeface="Nunito"/>
                <a:sym typeface="Nunito"/>
              </a:rPr>
              <a:t>Final Verdict:</a:t>
            </a:r>
            <a:r>
              <a:rPr lang="en" sz="1100">
                <a:solidFill>
                  <a:schemeClr val="dk2"/>
                </a:solidFill>
                <a:latin typeface="Nunito"/>
                <a:ea typeface="Nunito"/>
                <a:cs typeface="Nunito"/>
                <a:sym typeface="Nunito"/>
              </a:rPr>
              <a:t> ⚠️ </a:t>
            </a:r>
            <a:r>
              <a:rPr lang="en" sz="1100" b="1">
                <a:solidFill>
                  <a:schemeClr val="dk2"/>
                </a:solidFill>
                <a:latin typeface="Nunito"/>
                <a:ea typeface="Nunito"/>
                <a:cs typeface="Nunito"/>
                <a:sym typeface="Nunito"/>
              </a:rPr>
              <a:t>Decent valuation but too slow to grow significantly. Only invest if you want stability.</a:t>
            </a:r>
            <a:endParaRPr sz="1100" b="1">
              <a:solidFill>
                <a:schemeClr val="dk2"/>
              </a:solidFill>
              <a:latin typeface="Nunito"/>
              <a:ea typeface="Nunito"/>
              <a:cs typeface="Nunito"/>
              <a:sym typeface="Nunito"/>
            </a:endParaRPr>
          </a:p>
          <a:p>
            <a:pPr marL="0" lvl="0" indent="0" algn="l" rtl="0">
              <a:lnSpc>
                <a:spcPct val="115000"/>
              </a:lnSpc>
              <a:spcBef>
                <a:spcPts val="1200"/>
              </a:spcBef>
              <a:spcAft>
                <a:spcPts val="0"/>
              </a:spcAft>
              <a:buNone/>
            </a:pPr>
            <a:endParaRPr sz="1700" b="1"/>
          </a:p>
        </p:txBody>
      </p:sp>
      <p:sp>
        <p:nvSpPr>
          <p:cNvPr id="427" name="Google Shape;427;p32"/>
          <p:cNvSpPr/>
          <p:nvPr/>
        </p:nvSpPr>
        <p:spPr>
          <a:xfrm>
            <a:off x="2428375" y="298775"/>
            <a:ext cx="3895200" cy="4437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28" name="Google Shape;428;p32"/>
          <p:cNvSpPr txBox="1">
            <a:spLocks noGrp="1"/>
          </p:cNvSpPr>
          <p:nvPr>
            <p:ph type="title"/>
          </p:nvPr>
        </p:nvSpPr>
        <p:spPr>
          <a:xfrm>
            <a:off x="1510450" y="215550"/>
            <a:ext cx="56934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Stock Portfolio Analysis</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3"/>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3"/>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pic>
        <p:nvPicPr>
          <p:cNvPr id="435" name="Google Shape;435;p33"/>
          <p:cNvPicPr preferRelativeResize="0"/>
          <p:nvPr/>
        </p:nvPicPr>
        <p:blipFill rotWithShape="1">
          <a:blip r:embed="rId3">
            <a:alphaModFix/>
          </a:blip>
          <a:srcRect r="-23915" b="-17674"/>
          <a:stretch/>
        </p:blipFill>
        <p:spPr>
          <a:xfrm>
            <a:off x="334250" y="1410025"/>
            <a:ext cx="5686101" cy="3249825"/>
          </a:xfrm>
          <a:prstGeom prst="rect">
            <a:avLst/>
          </a:prstGeom>
          <a:noFill/>
          <a:ln>
            <a:noFill/>
          </a:ln>
        </p:spPr>
      </p:pic>
      <p:pic>
        <p:nvPicPr>
          <p:cNvPr id="436" name="Google Shape;436;p33"/>
          <p:cNvPicPr preferRelativeResize="0"/>
          <p:nvPr/>
        </p:nvPicPr>
        <p:blipFill>
          <a:blip r:embed="rId4">
            <a:alphaModFix/>
          </a:blip>
          <a:stretch>
            <a:fillRect/>
          </a:stretch>
        </p:blipFill>
        <p:spPr>
          <a:xfrm>
            <a:off x="4159275" y="1410025"/>
            <a:ext cx="4597575" cy="2767100"/>
          </a:xfrm>
          <a:prstGeom prst="rect">
            <a:avLst/>
          </a:prstGeom>
          <a:noFill/>
          <a:ln>
            <a:noFill/>
          </a:ln>
        </p:spPr>
      </p:pic>
      <p:sp>
        <p:nvSpPr>
          <p:cNvPr id="437" name="Google Shape;437;p33"/>
          <p:cNvSpPr/>
          <p:nvPr/>
        </p:nvSpPr>
        <p:spPr>
          <a:xfrm>
            <a:off x="2428375" y="298775"/>
            <a:ext cx="3895200" cy="4437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38" name="Google Shape;438;p33"/>
          <p:cNvSpPr txBox="1">
            <a:spLocks noGrp="1"/>
          </p:cNvSpPr>
          <p:nvPr>
            <p:ph type="title"/>
          </p:nvPr>
        </p:nvSpPr>
        <p:spPr>
          <a:xfrm>
            <a:off x="1510450" y="215550"/>
            <a:ext cx="5693400" cy="44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2500">
                <a:solidFill>
                  <a:schemeClr val="dk1"/>
                </a:solidFill>
              </a:rPr>
              <a:t>Stock Portfolio Allocation</a:t>
            </a:r>
            <a:endParaRPr sz="25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34"/>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4"/>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445" name="Google Shape;445;p34"/>
          <p:cNvSpPr/>
          <p:nvPr/>
        </p:nvSpPr>
        <p:spPr>
          <a:xfrm>
            <a:off x="379700" y="801697"/>
            <a:ext cx="4643100" cy="308400"/>
          </a:xfrm>
          <a:prstGeom prst="homePlate">
            <a:avLst>
              <a:gd name="adj" fmla="val 26719"/>
            </a:avLst>
          </a:pr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4"/>
          <p:cNvSpPr txBox="1"/>
          <p:nvPr/>
        </p:nvSpPr>
        <p:spPr>
          <a:xfrm>
            <a:off x="524050" y="559595"/>
            <a:ext cx="7666200" cy="4531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dirty="0">
                <a:latin typeface="Nunito"/>
                <a:ea typeface="Nunito"/>
                <a:cs typeface="Nunito"/>
                <a:sym typeface="Nunito"/>
              </a:rPr>
              <a:t>Justification for High-Growth Portfolio Allocation</a:t>
            </a:r>
            <a:endParaRPr sz="1300" b="1" dirty="0">
              <a:latin typeface="Nunito"/>
              <a:ea typeface="Nunito"/>
              <a:cs typeface="Nunito"/>
              <a:sym typeface="Nunito"/>
            </a:endParaRPr>
          </a:p>
          <a:p>
            <a:pPr marL="0" lvl="0" indent="0" algn="l" rtl="0">
              <a:lnSpc>
                <a:spcPct val="115000"/>
              </a:lnSpc>
              <a:spcBef>
                <a:spcPts val="1200"/>
              </a:spcBef>
              <a:spcAft>
                <a:spcPts val="0"/>
              </a:spcAft>
              <a:buNone/>
            </a:pPr>
            <a:r>
              <a:rPr lang="en" sz="1100" b="1" dirty="0">
                <a:solidFill>
                  <a:schemeClr val="accent1"/>
                </a:solidFill>
              </a:rPr>
              <a:t>Stock O (₹6,00,000 - 30%)</a:t>
            </a:r>
            <a:r>
              <a:rPr lang="en" sz="1100" dirty="0"/>
              <a:t> → </a:t>
            </a:r>
            <a:r>
              <a:rPr lang="en" sz="1100" b="1" dirty="0"/>
              <a:t>Fastest-growing stock</a:t>
            </a:r>
            <a:r>
              <a:rPr lang="en" sz="1100" dirty="0"/>
              <a:t>, massive </a:t>
            </a:r>
            <a:r>
              <a:rPr lang="en" sz="1100" b="1" dirty="0"/>
              <a:t>+739.5% revenue growth</a:t>
            </a:r>
            <a:r>
              <a:rPr lang="en" sz="1100" dirty="0"/>
              <a:t>, strong </a:t>
            </a:r>
            <a:r>
              <a:rPr lang="en" sz="1100" b="1" dirty="0"/>
              <a:t>EPS and EBITDA expansion</a:t>
            </a:r>
            <a:r>
              <a:rPr lang="en" sz="1100" dirty="0"/>
              <a:t>, making it the core of this high-growth portfolio.</a:t>
            </a:r>
            <a:endParaRPr sz="1100" dirty="0"/>
          </a:p>
          <a:p>
            <a:pPr marL="0" lvl="0" indent="0" algn="l" rtl="0">
              <a:lnSpc>
                <a:spcPct val="115000"/>
              </a:lnSpc>
              <a:spcBef>
                <a:spcPts val="1200"/>
              </a:spcBef>
              <a:spcAft>
                <a:spcPts val="0"/>
              </a:spcAft>
              <a:buNone/>
            </a:pPr>
            <a:r>
              <a:rPr lang="en" sz="1100" b="1" dirty="0">
                <a:solidFill>
                  <a:schemeClr val="accent1"/>
                </a:solidFill>
              </a:rPr>
              <a:t>Stock M (₹5,00,000 - 25%)</a:t>
            </a:r>
            <a:r>
              <a:rPr lang="en" sz="1100" dirty="0"/>
              <a:t> → </a:t>
            </a:r>
            <a:r>
              <a:rPr lang="en" sz="1100" b="1" dirty="0"/>
              <a:t>Stable high-growth stock</a:t>
            </a:r>
            <a:r>
              <a:rPr lang="en" sz="1100" dirty="0"/>
              <a:t>, offering a </a:t>
            </a:r>
            <a:r>
              <a:rPr lang="en" sz="1100" b="1" dirty="0"/>
              <a:t>low-risk balance with strong profitability</a:t>
            </a:r>
            <a:r>
              <a:rPr lang="en" sz="1100" dirty="0"/>
              <a:t> and </a:t>
            </a:r>
            <a:r>
              <a:rPr lang="en" sz="1100" b="1" dirty="0"/>
              <a:t>consistent earnings expansion</a:t>
            </a:r>
            <a:r>
              <a:rPr lang="en" sz="1100" dirty="0"/>
              <a:t>.</a:t>
            </a:r>
            <a:endParaRPr sz="1100" dirty="0"/>
          </a:p>
          <a:p>
            <a:pPr marL="0" lvl="0" indent="0" algn="l" rtl="0">
              <a:lnSpc>
                <a:spcPct val="115000"/>
              </a:lnSpc>
              <a:spcBef>
                <a:spcPts val="1200"/>
              </a:spcBef>
              <a:spcAft>
                <a:spcPts val="0"/>
              </a:spcAft>
              <a:buNone/>
            </a:pPr>
            <a:r>
              <a:rPr lang="en" sz="1100" b="1" dirty="0">
                <a:solidFill>
                  <a:schemeClr val="accent1"/>
                </a:solidFill>
              </a:rPr>
              <a:t>Stock J (₹4,00,000 - 20%)</a:t>
            </a:r>
            <a:r>
              <a:rPr lang="en" sz="1100" dirty="0"/>
              <a:t> → </a:t>
            </a:r>
            <a:r>
              <a:rPr lang="en" sz="1100" b="1" dirty="0"/>
              <a:t>Reliable growth performer</a:t>
            </a:r>
            <a:r>
              <a:rPr lang="en" sz="1100" dirty="0"/>
              <a:t>, </a:t>
            </a:r>
            <a:r>
              <a:rPr lang="en" sz="1100" b="1" dirty="0"/>
              <a:t>steady profit margins</a:t>
            </a:r>
            <a:r>
              <a:rPr lang="en" sz="1100" dirty="0"/>
              <a:t>, and </a:t>
            </a:r>
            <a:r>
              <a:rPr lang="en" sz="1100" b="1" dirty="0"/>
              <a:t>strong operational efficiency</a:t>
            </a:r>
            <a:r>
              <a:rPr lang="en" sz="1100" dirty="0"/>
              <a:t>, making it a must-have for sustainable long-term gains.</a:t>
            </a:r>
            <a:endParaRPr sz="1100" dirty="0"/>
          </a:p>
          <a:p>
            <a:pPr marL="0" lvl="0" indent="0" algn="l" rtl="0">
              <a:lnSpc>
                <a:spcPct val="115000"/>
              </a:lnSpc>
              <a:spcBef>
                <a:spcPts val="1200"/>
              </a:spcBef>
              <a:spcAft>
                <a:spcPts val="0"/>
              </a:spcAft>
              <a:buNone/>
            </a:pPr>
            <a:r>
              <a:rPr lang="en" sz="1100" b="1" dirty="0">
                <a:solidFill>
                  <a:schemeClr val="accent1"/>
                </a:solidFill>
              </a:rPr>
              <a:t>Stock I (₹3,00,000 - 15%)</a:t>
            </a:r>
            <a:r>
              <a:rPr lang="en" sz="1100" dirty="0"/>
              <a:t> → </a:t>
            </a:r>
            <a:r>
              <a:rPr lang="en" sz="1100" b="1" dirty="0"/>
              <a:t>High EPS growth (+40.4%)</a:t>
            </a:r>
            <a:r>
              <a:rPr lang="en" sz="1100" dirty="0"/>
              <a:t>, but slightly overvalued—still a </a:t>
            </a:r>
            <a:r>
              <a:rPr lang="en" sz="1100" b="1" dirty="0"/>
              <a:t>solid long-term high-growth candidate</a:t>
            </a:r>
            <a:r>
              <a:rPr lang="en" sz="1100" dirty="0"/>
              <a:t> that warrants increased allocation.</a:t>
            </a:r>
            <a:endParaRPr sz="1100" dirty="0"/>
          </a:p>
          <a:p>
            <a:pPr marL="0" lvl="0" indent="0" algn="l" rtl="0">
              <a:lnSpc>
                <a:spcPct val="115000"/>
              </a:lnSpc>
              <a:spcBef>
                <a:spcPts val="1200"/>
              </a:spcBef>
              <a:spcAft>
                <a:spcPts val="0"/>
              </a:spcAft>
              <a:buNone/>
            </a:pPr>
            <a:r>
              <a:rPr lang="en" sz="1100" b="1" dirty="0">
                <a:solidFill>
                  <a:schemeClr val="accent1"/>
                </a:solidFill>
              </a:rPr>
              <a:t>Stock P (₹1,00,000 - 5%)</a:t>
            </a:r>
            <a:r>
              <a:rPr lang="en" sz="1100" dirty="0"/>
              <a:t> → </a:t>
            </a:r>
            <a:r>
              <a:rPr lang="en" sz="1100" b="1" dirty="0"/>
              <a:t>More of a value &amp; dividend stock</a:t>
            </a:r>
            <a:r>
              <a:rPr lang="en" sz="1100" dirty="0"/>
              <a:t>, not a true growth play, so the allocation is reduced.</a:t>
            </a:r>
            <a:endParaRPr sz="1100" dirty="0"/>
          </a:p>
          <a:p>
            <a:pPr marL="0" lvl="0" indent="0" algn="l" rtl="0">
              <a:lnSpc>
                <a:spcPct val="115000"/>
              </a:lnSpc>
              <a:spcBef>
                <a:spcPts val="1200"/>
              </a:spcBef>
              <a:spcAft>
                <a:spcPts val="0"/>
              </a:spcAft>
              <a:buNone/>
            </a:pPr>
            <a:r>
              <a:rPr lang="en" sz="1100" b="1" dirty="0">
                <a:solidFill>
                  <a:schemeClr val="accent1"/>
                </a:solidFill>
              </a:rPr>
              <a:t>Stock A (₹60,000 - 3%)</a:t>
            </a:r>
            <a:r>
              <a:rPr lang="en" sz="1100" dirty="0"/>
              <a:t> → </a:t>
            </a:r>
            <a:r>
              <a:rPr lang="en" sz="1100" b="1" dirty="0"/>
              <a:t>Dividend-focused, but weak revenue growth (-10.9%)</a:t>
            </a:r>
            <a:r>
              <a:rPr lang="en" sz="1100" dirty="0"/>
              <a:t>; included only for minor diversification.</a:t>
            </a:r>
            <a:endParaRPr sz="1100" dirty="0"/>
          </a:p>
          <a:p>
            <a:pPr marL="0" lvl="0" indent="0" algn="l" rtl="0">
              <a:lnSpc>
                <a:spcPct val="115000"/>
              </a:lnSpc>
              <a:spcBef>
                <a:spcPts val="1200"/>
              </a:spcBef>
              <a:spcAft>
                <a:spcPts val="0"/>
              </a:spcAft>
              <a:buNone/>
            </a:pPr>
            <a:r>
              <a:rPr lang="en" sz="1100" b="1" dirty="0">
                <a:solidFill>
                  <a:schemeClr val="accent1"/>
                </a:solidFill>
              </a:rPr>
              <a:t>Stock G (₹20,000 - 1%)</a:t>
            </a:r>
            <a:r>
              <a:rPr lang="en" sz="1100" dirty="0"/>
              <a:t> → </a:t>
            </a:r>
            <a:r>
              <a:rPr lang="en" sz="1100" b="1" dirty="0"/>
              <a:t>Too slow-growing (+7.4% revenue growth)</a:t>
            </a:r>
            <a:r>
              <a:rPr lang="en" sz="1100" dirty="0"/>
              <a:t>, but small allocation as a stability cushion.</a:t>
            </a:r>
            <a:endParaRPr sz="1100" dirty="0"/>
          </a:p>
          <a:p>
            <a:pPr marL="0" lvl="0" indent="0" algn="l" rtl="0">
              <a:lnSpc>
                <a:spcPct val="115000"/>
              </a:lnSpc>
              <a:spcBef>
                <a:spcPts val="1200"/>
              </a:spcBef>
              <a:spcAft>
                <a:spcPts val="0"/>
              </a:spcAft>
              <a:buNone/>
            </a:pPr>
            <a:r>
              <a:rPr lang="en" sz="1100" b="1" dirty="0">
                <a:solidFill>
                  <a:schemeClr val="accent1"/>
                </a:solidFill>
              </a:rPr>
              <a:t>Stock Q (₹20,000 - 1%)</a:t>
            </a:r>
            <a:r>
              <a:rPr lang="en" sz="1100" dirty="0"/>
              <a:t> → </a:t>
            </a:r>
            <a:r>
              <a:rPr lang="en" sz="1100" b="1" dirty="0"/>
              <a:t>Minimal allocation</a:t>
            </a:r>
            <a:r>
              <a:rPr lang="en" sz="1100" dirty="0"/>
              <a:t>, included as a hedge despite </a:t>
            </a:r>
            <a:r>
              <a:rPr lang="en" sz="1100" b="1" dirty="0"/>
              <a:t>slow +2.2% revenue growth</a:t>
            </a:r>
            <a:r>
              <a:rPr lang="en" sz="1100" dirty="0"/>
              <a:t>.</a:t>
            </a:r>
            <a:endParaRPr sz="1100" dirty="0"/>
          </a:p>
          <a:p>
            <a:pPr marL="0" lvl="0" indent="0" algn="l" rtl="0">
              <a:lnSpc>
                <a:spcPct val="115000"/>
              </a:lnSpc>
              <a:spcBef>
                <a:spcPts val="1200"/>
              </a:spcBef>
              <a:spcAft>
                <a:spcPts val="0"/>
              </a:spcAft>
              <a:buNone/>
            </a:pPr>
            <a:endParaRPr sz="1300" b="1" dirty="0"/>
          </a:p>
        </p:txBody>
      </p:sp>
      <p:sp>
        <p:nvSpPr>
          <p:cNvPr id="447" name="Google Shape;447;p34"/>
          <p:cNvSpPr/>
          <p:nvPr/>
        </p:nvSpPr>
        <p:spPr>
          <a:xfrm>
            <a:off x="2428375" y="298775"/>
            <a:ext cx="3895200" cy="4437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48" name="Google Shape;448;p34"/>
          <p:cNvSpPr txBox="1">
            <a:spLocks noGrp="1"/>
          </p:cNvSpPr>
          <p:nvPr>
            <p:ph type="title"/>
          </p:nvPr>
        </p:nvSpPr>
        <p:spPr>
          <a:xfrm>
            <a:off x="1510450" y="215550"/>
            <a:ext cx="56934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Stock Portfolio Analysis</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35"/>
          <p:cNvSpPr/>
          <p:nvPr/>
        </p:nvSpPr>
        <p:spPr>
          <a:xfrm>
            <a:off x="41992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5"/>
          <p:cNvSpPr txBox="1">
            <a:spLocks noGrp="1"/>
          </p:cNvSpPr>
          <p:nvPr>
            <p:ph type="body" idx="4294967295"/>
          </p:nvPr>
        </p:nvSpPr>
        <p:spPr>
          <a:xfrm>
            <a:off x="41992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455" name="Google Shape;455;p35"/>
          <p:cNvSpPr txBox="1">
            <a:spLocks noGrp="1"/>
          </p:cNvSpPr>
          <p:nvPr>
            <p:ph type="title"/>
          </p:nvPr>
        </p:nvSpPr>
        <p:spPr>
          <a:xfrm>
            <a:off x="1083975" y="215550"/>
            <a:ext cx="66507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Impact of ESG factors on stock prices</a:t>
            </a:r>
            <a:endParaRPr/>
          </a:p>
        </p:txBody>
      </p:sp>
      <p:sp>
        <p:nvSpPr>
          <p:cNvPr id="456" name="Google Shape;456;p35"/>
          <p:cNvSpPr txBox="1"/>
          <p:nvPr/>
        </p:nvSpPr>
        <p:spPr>
          <a:xfrm>
            <a:off x="0" y="-648100"/>
            <a:ext cx="71553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200">
              <a:highlight>
                <a:srgbClr val="22242B"/>
              </a:highlight>
            </a:endParaRPr>
          </a:p>
        </p:txBody>
      </p:sp>
      <p:sp>
        <p:nvSpPr>
          <p:cNvPr id="457" name="Google Shape;457;p35"/>
          <p:cNvSpPr txBox="1"/>
          <p:nvPr/>
        </p:nvSpPr>
        <p:spPr>
          <a:xfrm>
            <a:off x="651900" y="917775"/>
            <a:ext cx="7840200" cy="3879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Nunito"/>
                <a:ea typeface="Nunito"/>
                <a:cs typeface="Nunito"/>
                <a:sym typeface="Nunito"/>
              </a:rPr>
              <a:t>The impact of Environmental, Social, and Governance (ESG) factors on stock prices is a multifaceted and ever-changing field. The following is an explanation of how ESG affects stock prices, its pros, and cons:</a:t>
            </a:r>
            <a:endParaRPr sz="1000">
              <a:latin typeface="Nunito"/>
              <a:ea typeface="Nunito"/>
              <a:cs typeface="Nunito"/>
              <a:sym typeface="Nunito"/>
            </a:endParaRPr>
          </a:p>
          <a:p>
            <a:pPr marL="0" lvl="0" indent="0" algn="l" rtl="0">
              <a:spcBef>
                <a:spcPts val="0"/>
              </a:spcBef>
              <a:spcAft>
                <a:spcPts val="0"/>
              </a:spcAft>
              <a:buNone/>
            </a:pPr>
            <a:endParaRPr sz="1000">
              <a:latin typeface="Nunito"/>
              <a:ea typeface="Nunito"/>
              <a:cs typeface="Nunito"/>
              <a:sym typeface="Nunito"/>
            </a:endParaRPr>
          </a:p>
          <a:p>
            <a:pPr marL="0" lvl="0" indent="0" algn="l" rtl="0">
              <a:spcBef>
                <a:spcPts val="0"/>
              </a:spcBef>
              <a:spcAft>
                <a:spcPts val="0"/>
              </a:spcAft>
              <a:buNone/>
            </a:pPr>
            <a:r>
              <a:rPr lang="en" sz="1000">
                <a:solidFill>
                  <a:schemeClr val="accent1"/>
                </a:solidFill>
                <a:latin typeface="Nunito"/>
                <a:ea typeface="Nunito"/>
                <a:cs typeface="Nunito"/>
                <a:sym typeface="Nunito"/>
              </a:rPr>
              <a:t>How ESG Impacts Stock Prices:</a:t>
            </a:r>
            <a:endParaRPr sz="1000">
              <a:solidFill>
                <a:schemeClr val="accent1"/>
              </a:solidFill>
              <a:latin typeface="Nunito"/>
              <a:ea typeface="Nunito"/>
              <a:cs typeface="Nunito"/>
              <a:sym typeface="Nunito"/>
            </a:endParaRPr>
          </a:p>
          <a:p>
            <a:pPr marL="0" lvl="0" indent="0" algn="l" rtl="0">
              <a:spcBef>
                <a:spcPts val="0"/>
              </a:spcBef>
              <a:spcAft>
                <a:spcPts val="0"/>
              </a:spcAft>
              <a:buNone/>
            </a:pPr>
            <a:endParaRPr sz="1000">
              <a:latin typeface="Nunito"/>
              <a:ea typeface="Nunito"/>
              <a:cs typeface="Nunito"/>
              <a:sym typeface="Nunito"/>
            </a:endParaRPr>
          </a:p>
          <a:p>
            <a:pPr marL="0" lvl="0" indent="0" algn="l" rtl="0">
              <a:spcBef>
                <a:spcPts val="0"/>
              </a:spcBef>
              <a:spcAft>
                <a:spcPts val="0"/>
              </a:spcAft>
              <a:buNone/>
            </a:pPr>
            <a:r>
              <a:rPr lang="en" sz="1000" b="1">
                <a:solidFill>
                  <a:schemeClr val="accent5"/>
                </a:solidFill>
                <a:latin typeface="Nunito"/>
                <a:ea typeface="Nunito"/>
                <a:cs typeface="Nunito"/>
                <a:sym typeface="Nunito"/>
              </a:rPr>
              <a:t>Investor Sentiment:</a:t>
            </a:r>
            <a:endParaRPr sz="1000" b="1">
              <a:solidFill>
                <a:schemeClr val="accent5"/>
              </a:solidFill>
              <a:latin typeface="Nunito"/>
              <a:ea typeface="Nunito"/>
              <a:cs typeface="Nunito"/>
              <a:sym typeface="Nunito"/>
            </a:endParaRPr>
          </a:p>
          <a:p>
            <a:pPr marL="0" lvl="0" indent="0" algn="l" rtl="0">
              <a:spcBef>
                <a:spcPts val="0"/>
              </a:spcBef>
              <a:spcAft>
                <a:spcPts val="0"/>
              </a:spcAft>
              <a:buNone/>
            </a:pPr>
            <a:r>
              <a:rPr lang="en" sz="1000">
                <a:latin typeface="Nunito"/>
                <a:ea typeface="Nunito"/>
                <a:cs typeface="Nunito"/>
                <a:sym typeface="Nunito"/>
              </a:rPr>
              <a:t>Investors, especially institutional investors, increasingly place importance on ESG considerations when making investment decisions. Strong ESG performance by companies attracts more investment, boosting demand and consequently stock prices.</a:t>
            </a:r>
            <a:endParaRPr sz="1000">
              <a:latin typeface="Nunito"/>
              <a:ea typeface="Nunito"/>
              <a:cs typeface="Nunito"/>
              <a:sym typeface="Nunito"/>
            </a:endParaRPr>
          </a:p>
          <a:p>
            <a:pPr marL="0" lvl="0" indent="0" algn="l" rtl="0">
              <a:spcBef>
                <a:spcPts val="0"/>
              </a:spcBef>
              <a:spcAft>
                <a:spcPts val="0"/>
              </a:spcAft>
              <a:buNone/>
            </a:pPr>
            <a:r>
              <a:rPr lang="en" sz="1000">
                <a:latin typeface="Nunito"/>
                <a:ea typeface="Nunito"/>
                <a:cs typeface="Nunito"/>
                <a:sym typeface="Nunito"/>
              </a:rPr>
              <a:t>On the other hand, firms with adverse ESG profiles could be divested, which would result in reduced demand and lower share prices.</a:t>
            </a:r>
            <a:endParaRPr sz="1000">
              <a:latin typeface="Nunito"/>
              <a:ea typeface="Nunito"/>
              <a:cs typeface="Nunito"/>
              <a:sym typeface="Nunito"/>
            </a:endParaRPr>
          </a:p>
          <a:p>
            <a:pPr marL="0" lvl="0" indent="0" algn="l" rtl="0">
              <a:spcBef>
                <a:spcPts val="0"/>
              </a:spcBef>
              <a:spcAft>
                <a:spcPts val="0"/>
              </a:spcAft>
              <a:buNone/>
            </a:pPr>
            <a:endParaRPr sz="1000">
              <a:latin typeface="Nunito"/>
              <a:ea typeface="Nunito"/>
              <a:cs typeface="Nunito"/>
              <a:sym typeface="Nunito"/>
            </a:endParaRPr>
          </a:p>
          <a:p>
            <a:pPr marL="0" lvl="0" indent="0" algn="l" rtl="0">
              <a:spcBef>
                <a:spcPts val="0"/>
              </a:spcBef>
              <a:spcAft>
                <a:spcPts val="0"/>
              </a:spcAft>
              <a:buNone/>
            </a:pPr>
            <a:r>
              <a:rPr lang="en" sz="1000" b="1">
                <a:solidFill>
                  <a:schemeClr val="accent5"/>
                </a:solidFill>
                <a:latin typeface="Nunito"/>
                <a:ea typeface="Nunito"/>
                <a:cs typeface="Nunito"/>
                <a:sym typeface="Nunito"/>
              </a:rPr>
              <a:t>Risk Mitigation:</a:t>
            </a:r>
            <a:endParaRPr sz="1000" b="1">
              <a:solidFill>
                <a:schemeClr val="accent5"/>
              </a:solidFill>
              <a:latin typeface="Nunito"/>
              <a:ea typeface="Nunito"/>
              <a:cs typeface="Nunito"/>
              <a:sym typeface="Nunito"/>
            </a:endParaRPr>
          </a:p>
          <a:p>
            <a:pPr marL="0" lvl="0" indent="0" algn="l" rtl="0">
              <a:spcBef>
                <a:spcPts val="0"/>
              </a:spcBef>
              <a:spcAft>
                <a:spcPts val="0"/>
              </a:spcAft>
              <a:buNone/>
            </a:pPr>
            <a:r>
              <a:rPr lang="en" sz="1000">
                <a:latin typeface="Nunito"/>
                <a:ea typeface="Nunito"/>
                <a:cs typeface="Nunito"/>
                <a:sym typeface="Nunito"/>
              </a:rPr>
              <a:t>Good ESG behavior can signal that a firm is more capable of dealing with long-term risks, including climate change, regulatory shocks, and social instability. This can result in more stability and less volatility in share prices.</a:t>
            </a:r>
            <a:endParaRPr sz="1000">
              <a:latin typeface="Nunito"/>
              <a:ea typeface="Nunito"/>
              <a:cs typeface="Nunito"/>
              <a:sym typeface="Nunito"/>
            </a:endParaRPr>
          </a:p>
          <a:p>
            <a:pPr marL="0" lvl="0" indent="0" algn="l" rtl="0">
              <a:spcBef>
                <a:spcPts val="0"/>
              </a:spcBef>
              <a:spcAft>
                <a:spcPts val="0"/>
              </a:spcAft>
              <a:buNone/>
            </a:pPr>
            <a:r>
              <a:rPr lang="en" sz="1000">
                <a:latin typeface="Nunito"/>
                <a:ea typeface="Nunito"/>
                <a:cs typeface="Nunito"/>
                <a:sym typeface="Nunito"/>
              </a:rPr>
              <a:t>For instance, firms that have invested in clean energy can be less exposed to fossil fuel price volatility.</a:t>
            </a:r>
            <a:endParaRPr sz="1000">
              <a:latin typeface="Nunito"/>
              <a:ea typeface="Nunito"/>
              <a:cs typeface="Nunito"/>
              <a:sym typeface="Nunito"/>
            </a:endParaRPr>
          </a:p>
          <a:p>
            <a:pPr marL="0" lvl="0" indent="0" algn="l" rtl="0">
              <a:spcBef>
                <a:spcPts val="0"/>
              </a:spcBef>
              <a:spcAft>
                <a:spcPts val="0"/>
              </a:spcAft>
              <a:buNone/>
            </a:pPr>
            <a:endParaRPr sz="1000">
              <a:latin typeface="Nunito"/>
              <a:ea typeface="Nunito"/>
              <a:cs typeface="Nunito"/>
              <a:sym typeface="Nunito"/>
            </a:endParaRPr>
          </a:p>
          <a:p>
            <a:pPr marL="0" lvl="0" indent="0" algn="l" rtl="0">
              <a:spcBef>
                <a:spcPts val="0"/>
              </a:spcBef>
              <a:spcAft>
                <a:spcPts val="0"/>
              </a:spcAft>
              <a:buNone/>
            </a:pPr>
            <a:r>
              <a:rPr lang="en" sz="1000" b="1">
                <a:solidFill>
                  <a:schemeClr val="accent5"/>
                </a:solidFill>
                <a:latin typeface="Nunito"/>
                <a:ea typeface="Nunito"/>
                <a:cs typeface="Nunito"/>
                <a:sym typeface="Nunito"/>
              </a:rPr>
              <a:t>Financial Performance:</a:t>
            </a:r>
            <a:endParaRPr sz="1000" b="1">
              <a:solidFill>
                <a:schemeClr val="accent5"/>
              </a:solidFill>
              <a:latin typeface="Nunito"/>
              <a:ea typeface="Nunito"/>
              <a:cs typeface="Nunito"/>
              <a:sym typeface="Nunito"/>
            </a:endParaRPr>
          </a:p>
          <a:p>
            <a:pPr marL="0" lvl="0" indent="0" algn="l" rtl="0">
              <a:spcBef>
                <a:spcPts val="0"/>
              </a:spcBef>
              <a:spcAft>
                <a:spcPts val="0"/>
              </a:spcAft>
              <a:buNone/>
            </a:pPr>
            <a:r>
              <a:rPr lang="en" sz="1000">
                <a:latin typeface="Nunito"/>
                <a:ea typeface="Nunito"/>
                <a:cs typeface="Nunito"/>
                <a:sym typeface="Nunito"/>
              </a:rPr>
              <a:t>Empirical research indicates that firms that have high ESG performance can generally perform well financially in the long run. This can result from reasons such as better business efficiency, stronger brand reputation, and more supportive stakeholders.</a:t>
            </a:r>
            <a:endParaRPr sz="1000">
              <a:latin typeface="Nunito"/>
              <a:ea typeface="Nunito"/>
              <a:cs typeface="Nunito"/>
              <a:sym typeface="Nunito"/>
            </a:endParaRPr>
          </a:p>
          <a:p>
            <a:pPr marL="0" lvl="0" indent="0" algn="l" rtl="0">
              <a:spcBef>
                <a:spcPts val="0"/>
              </a:spcBef>
              <a:spcAft>
                <a:spcPts val="0"/>
              </a:spcAft>
              <a:buNone/>
            </a:pPr>
            <a:r>
              <a:rPr lang="en" sz="1000">
                <a:latin typeface="Nunito"/>
                <a:ea typeface="Nunito"/>
                <a:cs typeface="Nunito"/>
                <a:sym typeface="Nunito"/>
              </a:rPr>
              <a:t>Strong governance practices, for example, can minimize corporate scandal and accounting malpractices.</a:t>
            </a:r>
            <a:endParaRPr sz="1000">
              <a:latin typeface="Nunito"/>
              <a:ea typeface="Nunito"/>
              <a:cs typeface="Nunito"/>
              <a:sym typeface="Nunito"/>
            </a:endParaRPr>
          </a:p>
          <a:p>
            <a:pPr marL="0" lvl="0" indent="0" algn="l" rtl="0">
              <a:spcBef>
                <a:spcPts val="0"/>
              </a:spcBef>
              <a:spcAft>
                <a:spcPts val="0"/>
              </a:spcAft>
              <a:buNone/>
            </a:pPr>
            <a:endParaRPr sz="1000">
              <a:latin typeface="Nunito"/>
              <a:ea typeface="Nunito"/>
              <a:cs typeface="Nunito"/>
              <a:sym typeface="Nunito"/>
            </a:endParaRPr>
          </a:p>
          <a:p>
            <a:pPr marL="0" lvl="0" indent="0" algn="l" rtl="0">
              <a:spcBef>
                <a:spcPts val="0"/>
              </a:spcBef>
              <a:spcAft>
                <a:spcPts val="0"/>
              </a:spcAft>
              <a:buNone/>
            </a:pPr>
            <a:r>
              <a:rPr lang="en" sz="1000" b="1">
                <a:solidFill>
                  <a:schemeClr val="accent5"/>
                </a:solidFill>
                <a:latin typeface="Nunito"/>
                <a:ea typeface="Nunito"/>
                <a:cs typeface="Nunito"/>
                <a:sym typeface="Nunito"/>
              </a:rPr>
              <a:t>Regulatory and Policy Changes:</a:t>
            </a:r>
            <a:endParaRPr sz="1000" b="1">
              <a:solidFill>
                <a:schemeClr val="accent5"/>
              </a:solidFill>
              <a:latin typeface="Nunito"/>
              <a:ea typeface="Nunito"/>
              <a:cs typeface="Nunito"/>
              <a:sym typeface="Nunito"/>
            </a:endParaRPr>
          </a:p>
          <a:p>
            <a:pPr marL="0" lvl="0" indent="0" algn="l" rtl="0">
              <a:spcBef>
                <a:spcPts val="0"/>
              </a:spcBef>
              <a:spcAft>
                <a:spcPts val="0"/>
              </a:spcAft>
              <a:buNone/>
            </a:pPr>
            <a:r>
              <a:rPr lang="en" sz="1000">
                <a:latin typeface="Nunito"/>
                <a:ea typeface="Nunito"/>
                <a:cs typeface="Nunito"/>
                <a:sym typeface="Nunito"/>
              </a:rPr>
              <a:t>With governments across the globe enforcing tougher environmental and social regulations, proactive ESG compliance companies could be at a competitive edge.</a:t>
            </a:r>
            <a:endParaRPr sz="1000">
              <a:latin typeface="Nunito"/>
              <a:ea typeface="Nunito"/>
              <a:cs typeface="Nunito"/>
              <a:sym typeface="Nunito"/>
            </a:endParaRPr>
          </a:p>
          <a:p>
            <a:pPr marL="0" lvl="0" indent="0" algn="l" rtl="0">
              <a:spcBef>
                <a:spcPts val="0"/>
              </a:spcBef>
              <a:spcAft>
                <a:spcPts val="0"/>
              </a:spcAft>
              <a:buNone/>
            </a:pPr>
            <a:endParaRPr sz="1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36"/>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6"/>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464" name="Google Shape;464;p36"/>
          <p:cNvSpPr txBox="1"/>
          <p:nvPr/>
        </p:nvSpPr>
        <p:spPr>
          <a:xfrm>
            <a:off x="578500" y="917775"/>
            <a:ext cx="67203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t> </a:t>
            </a:r>
            <a:endParaRPr sz="1700" b="1"/>
          </a:p>
        </p:txBody>
      </p:sp>
      <p:sp>
        <p:nvSpPr>
          <p:cNvPr id="465" name="Google Shape;465;p36"/>
          <p:cNvSpPr txBox="1"/>
          <p:nvPr/>
        </p:nvSpPr>
        <p:spPr>
          <a:xfrm>
            <a:off x="422400" y="1378800"/>
            <a:ext cx="8299200" cy="306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chemeClr val="accent2"/>
                </a:solidFill>
              </a:rPr>
              <a:t>Disadvantages:</a:t>
            </a:r>
            <a:endParaRPr sz="1100" b="1">
              <a:solidFill>
                <a:schemeClr val="accent2"/>
              </a:solidFill>
            </a:endParaRPr>
          </a:p>
          <a:p>
            <a:pPr marL="0" lvl="0" indent="0" algn="l" rtl="0">
              <a:spcBef>
                <a:spcPts val="0"/>
              </a:spcBef>
              <a:spcAft>
                <a:spcPts val="0"/>
              </a:spcAft>
              <a:buNone/>
            </a:pPr>
            <a:endParaRPr sz="1100"/>
          </a:p>
          <a:p>
            <a:pPr marL="0" lvl="0" indent="0" algn="l" rtl="0">
              <a:spcBef>
                <a:spcPts val="0"/>
              </a:spcBef>
              <a:spcAft>
                <a:spcPts val="0"/>
              </a:spcAft>
              <a:buNone/>
            </a:pPr>
            <a:r>
              <a:rPr lang="en" sz="1100" b="1">
                <a:solidFill>
                  <a:schemeClr val="accent5"/>
                </a:solidFill>
              </a:rPr>
              <a:t>ESG Rating Variation:</a:t>
            </a:r>
            <a:endParaRPr sz="1100" b="1">
              <a:solidFill>
                <a:schemeClr val="accent5"/>
              </a:solidFill>
            </a:endParaRPr>
          </a:p>
          <a:p>
            <a:pPr marL="0" lvl="0" indent="0" algn="l" rtl="0">
              <a:spcBef>
                <a:spcPts val="0"/>
              </a:spcBef>
              <a:spcAft>
                <a:spcPts val="0"/>
              </a:spcAft>
              <a:buNone/>
            </a:pPr>
            <a:r>
              <a:rPr lang="en" sz="1100"/>
              <a:t>ESG ratings may significantly differ among rating agencies, complicating the ability to compare companies.</a:t>
            </a:r>
            <a:endParaRPr sz="1100"/>
          </a:p>
          <a:p>
            <a:pPr marL="0" lvl="0" indent="0" algn="l" rtl="0">
              <a:spcBef>
                <a:spcPts val="0"/>
              </a:spcBef>
              <a:spcAft>
                <a:spcPts val="0"/>
              </a:spcAft>
              <a:buNone/>
            </a:pPr>
            <a:r>
              <a:rPr lang="en" sz="1100"/>
              <a:t>This lack of standardization has the potential to confuse and frustrate investors.</a:t>
            </a:r>
            <a:endParaRPr sz="1100"/>
          </a:p>
          <a:p>
            <a:pPr marL="0" lvl="0" indent="0" algn="l" rtl="0">
              <a:spcBef>
                <a:spcPts val="0"/>
              </a:spcBef>
              <a:spcAft>
                <a:spcPts val="0"/>
              </a:spcAft>
              <a:buNone/>
            </a:pPr>
            <a:r>
              <a:rPr lang="en" sz="1100" b="1">
                <a:solidFill>
                  <a:schemeClr val="accent5"/>
                </a:solidFill>
              </a:rPr>
              <a:t>"Greenwashing" Risk:</a:t>
            </a:r>
            <a:endParaRPr sz="1100" b="1">
              <a:solidFill>
                <a:schemeClr val="accent5"/>
              </a:solidFill>
            </a:endParaRPr>
          </a:p>
          <a:p>
            <a:pPr marL="0" lvl="0" indent="0" algn="l" rtl="0">
              <a:spcBef>
                <a:spcPts val="0"/>
              </a:spcBef>
              <a:spcAft>
                <a:spcPts val="0"/>
              </a:spcAft>
              <a:buNone/>
            </a:pPr>
            <a:r>
              <a:rPr lang="en" sz="1100"/>
              <a:t>Certain companies have been known to overstate their ESG efforts in an attempt to appeal to investors, something referred to as "greenwashing."</a:t>
            </a:r>
            <a:endParaRPr sz="1100"/>
          </a:p>
          <a:p>
            <a:pPr marL="0" lvl="0" indent="0" algn="l" rtl="0">
              <a:spcBef>
                <a:spcPts val="0"/>
              </a:spcBef>
              <a:spcAft>
                <a:spcPts val="0"/>
              </a:spcAft>
              <a:buNone/>
            </a:pPr>
            <a:r>
              <a:rPr lang="en" sz="1100"/>
              <a:t>Investors must exercise prudence and rigorously examine companies' claims on ESG.</a:t>
            </a:r>
            <a:endParaRPr sz="1100"/>
          </a:p>
          <a:p>
            <a:pPr marL="0" lvl="0" indent="0" algn="l" rtl="0">
              <a:spcBef>
                <a:spcPts val="0"/>
              </a:spcBef>
              <a:spcAft>
                <a:spcPts val="0"/>
              </a:spcAft>
              <a:buNone/>
            </a:pPr>
            <a:r>
              <a:rPr lang="en" sz="1100" b="1">
                <a:solidFill>
                  <a:schemeClr val="accent5"/>
                </a:solidFill>
              </a:rPr>
              <a:t>Risk of Short-Term Volatility:</a:t>
            </a:r>
            <a:endParaRPr sz="1100" b="1">
              <a:solidFill>
                <a:schemeClr val="accent5"/>
              </a:solidFill>
            </a:endParaRPr>
          </a:p>
          <a:p>
            <a:pPr marL="0" lvl="0" indent="0" algn="l" rtl="0">
              <a:spcBef>
                <a:spcPts val="0"/>
              </a:spcBef>
              <a:spcAft>
                <a:spcPts val="0"/>
              </a:spcAft>
              <a:buNone/>
            </a:pPr>
            <a:r>
              <a:rPr lang="en" sz="1100"/>
              <a:t>The perception of the market regarding ESG can change suddenly, and this can bring about stock price volatility of heavily ESG dependency based companies.</a:t>
            </a:r>
            <a:endParaRPr sz="1100"/>
          </a:p>
          <a:p>
            <a:pPr marL="0" lvl="0" indent="0" algn="l" rtl="0">
              <a:spcBef>
                <a:spcPts val="0"/>
              </a:spcBef>
              <a:spcAft>
                <a:spcPts val="0"/>
              </a:spcAft>
              <a:buNone/>
            </a:pPr>
            <a:r>
              <a:rPr lang="en" sz="1100" b="1">
                <a:solidFill>
                  <a:schemeClr val="accent5"/>
                </a:solidFill>
              </a:rPr>
              <a:t>Data and Measurement Challenges:</a:t>
            </a:r>
            <a:endParaRPr sz="1100" b="1">
              <a:solidFill>
                <a:schemeClr val="accent5"/>
              </a:solidFill>
            </a:endParaRPr>
          </a:p>
          <a:p>
            <a:pPr marL="0" lvl="0" indent="0" algn="l" rtl="0">
              <a:spcBef>
                <a:spcPts val="0"/>
              </a:spcBef>
              <a:spcAft>
                <a:spcPts val="0"/>
              </a:spcAft>
              <a:buNone/>
            </a:pPr>
            <a:r>
              <a:rPr lang="en" sz="1100"/>
              <a:t>Obtaining and accurately measuring ESG data might be challenging. This may bring about inconsistencies and inaccuracies in ESG assessments and ratings.</a:t>
            </a:r>
            <a:endParaRPr sz="1100"/>
          </a:p>
          <a:p>
            <a:pPr marL="0" lvl="0" indent="0" algn="l" rtl="0">
              <a:spcBef>
                <a:spcPts val="0"/>
              </a:spcBef>
              <a:spcAft>
                <a:spcPts val="0"/>
              </a:spcAft>
              <a:buNone/>
            </a:pPr>
            <a:endParaRPr sz="1100"/>
          </a:p>
          <a:p>
            <a:pPr marL="0" lvl="0" indent="0" algn="l" rtl="0">
              <a:spcBef>
                <a:spcPts val="0"/>
              </a:spcBef>
              <a:spcAft>
                <a:spcPts val="0"/>
              </a:spcAft>
              <a:buNone/>
            </a:pPr>
            <a:endParaRPr sz="1100"/>
          </a:p>
        </p:txBody>
      </p:sp>
      <p:sp>
        <p:nvSpPr>
          <p:cNvPr id="466" name="Google Shape;466;p36"/>
          <p:cNvSpPr/>
          <p:nvPr/>
        </p:nvSpPr>
        <p:spPr>
          <a:xfrm>
            <a:off x="379700" y="801700"/>
            <a:ext cx="4643100" cy="375300"/>
          </a:xfrm>
          <a:prstGeom prst="homePlate">
            <a:avLst>
              <a:gd name="adj" fmla="val 26719"/>
            </a:avLst>
          </a:pr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6"/>
          <p:cNvSpPr txBox="1">
            <a:spLocks noGrp="1"/>
          </p:cNvSpPr>
          <p:nvPr>
            <p:ph type="title"/>
          </p:nvPr>
        </p:nvSpPr>
        <p:spPr>
          <a:xfrm>
            <a:off x="379700" y="734950"/>
            <a:ext cx="6650700" cy="44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900">
                <a:solidFill>
                  <a:schemeClr val="accent5"/>
                </a:solidFill>
              </a:rPr>
              <a:t>Impact of ESG factors on stock prices</a:t>
            </a:r>
            <a:endParaRPr sz="1900">
              <a:solidFill>
                <a:schemeClr val="accent5"/>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37"/>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7"/>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474" name="Google Shape;474;p37"/>
          <p:cNvSpPr txBox="1"/>
          <p:nvPr/>
        </p:nvSpPr>
        <p:spPr>
          <a:xfrm>
            <a:off x="422400" y="1378800"/>
            <a:ext cx="8299200" cy="272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Those that do not keep up with changes risk fines and loss of reputation, which could be damaging to their share prices.</a:t>
            </a:r>
            <a:endParaRPr sz="1100">
              <a:latin typeface="Nunito"/>
              <a:ea typeface="Nunito"/>
              <a:cs typeface="Nunito"/>
              <a:sym typeface="Nunito"/>
            </a:endParaRPr>
          </a:p>
          <a:p>
            <a:pPr marL="0" lvl="0" indent="0" algn="l" rtl="0">
              <a:spcBef>
                <a:spcPts val="0"/>
              </a:spcBef>
              <a:spcAft>
                <a:spcPts val="0"/>
              </a:spcAft>
              <a:buNone/>
            </a:pPr>
            <a:r>
              <a:rPr lang="en" sz="1100">
                <a:latin typeface="Nunito"/>
                <a:ea typeface="Nunito"/>
                <a:cs typeface="Nunito"/>
                <a:sym typeface="Nunito"/>
              </a:rPr>
              <a:t>How One Can Capitalize on ESG:</a:t>
            </a:r>
            <a:endParaRPr sz="1100">
              <a:latin typeface="Nunito"/>
              <a:ea typeface="Nunito"/>
              <a:cs typeface="Nunito"/>
              <a:sym typeface="Nunito"/>
            </a:endParaRPr>
          </a:p>
          <a:p>
            <a:pPr marL="0" lvl="0" indent="0" algn="l" rtl="0">
              <a:spcBef>
                <a:spcPts val="0"/>
              </a:spcBef>
              <a:spcAft>
                <a:spcPts val="0"/>
              </a:spcAft>
              <a:buNone/>
            </a:pPr>
            <a:endParaRPr sz="1100">
              <a:latin typeface="Nunito"/>
              <a:ea typeface="Nunito"/>
              <a:cs typeface="Nunito"/>
              <a:sym typeface="Nunito"/>
            </a:endParaRPr>
          </a:p>
          <a:p>
            <a:pPr marL="0" lvl="0" indent="0" algn="l" rtl="0">
              <a:spcBef>
                <a:spcPts val="0"/>
              </a:spcBef>
              <a:spcAft>
                <a:spcPts val="0"/>
              </a:spcAft>
              <a:buNone/>
            </a:pPr>
            <a:r>
              <a:rPr lang="en" sz="1100" b="1">
                <a:solidFill>
                  <a:schemeClr val="accent5"/>
                </a:solidFill>
                <a:latin typeface="Nunito"/>
                <a:ea typeface="Nunito"/>
                <a:cs typeface="Nunito"/>
                <a:sym typeface="Nunito"/>
              </a:rPr>
              <a:t>ESG Investing:</a:t>
            </a:r>
            <a:endParaRPr sz="1100" b="1">
              <a:solidFill>
                <a:schemeClr val="accent5"/>
              </a:solidFill>
              <a:latin typeface="Nunito"/>
              <a:ea typeface="Nunito"/>
              <a:cs typeface="Nunito"/>
              <a:sym typeface="Nunito"/>
            </a:endParaRPr>
          </a:p>
          <a:p>
            <a:pPr marL="0" lvl="0" indent="0" algn="l" rtl="0">
              <a:spcBef>
                <a:spcPts val="0"/>
              </a:spcBef>
              <a:spcAft>
                <a:spcPts val="0"/>
              </a:spcAft>
              <a:buNone/>
            </a:pPr>
            <a:r>
              <a:rPr lang="en" sz="1100">
                <a:latin typeface="Nunito"/>
                <a:ea typeface="Nunito"/>
                <a:cs typeface="Nunito"/>
                <a:sym typeface="Nunito"/>
              </a:rPr>
              <a:t>Investors can opt to invest in funds that are ESG-oriented or specific shares of ESG strong-rated companies.</a:t>
            </a:r>
            <a:endParaRPr sz="1100">
              <a:latin typeface="Nunito"/>
              <a:ea typeface="Nunito"/>
              <a:cs typeface="Nunito"/>
              <a:sym typeface="Nunito"/>
            </a:endParaRPr>
          </a:p>
          <a:p>
            <a:pPr marL="0" lvl="0" indent="0" algn="l" rtl="0">
              <a:spcBef>
                <a:spcPts val="0"/>
              </a:spcBef>
              <a:spcAft>
                <a:spcPts val="0"/>
              </a:spcAft>
              <a:buNone/>
            </a:pPr>
            <a:r>
              <a:rPr lang="en" sz="1100">
                <a:latin typeface="Nunito"/>
                <a:ea typeface="Nunito"/>
                <a:cs typeface="Nunito"/>
                <a:sym typeface="Nunito"/>
              </a:rPr>
              <a:t>This approach is intended to earn financial returns alongside positive social and environmental impact.</a:t>
            </a:r>
            <a:endParaRPr sz="1100">
              <a:latin typeface="Nunito"/>
              <a:ea typeface="Nunito"/>
              <a:cs typeface="Nunito"/>
              <a:sym typeface="Nunito"/>
            </a:endParaRPr>
          </a:p>
          <a:p>
            <a:pPr marL="0" lvl="0" indent="0" algn="l" rtl="0">
              <a:spcBef>
                <a:spcPts val="0"/>
              </a:spcBef>
              <a:spcAft>
                <a:spcPts val="0"/>
              </a:spcAft>
              <a:buNone/>
            </a:pPr>
            <a:endParaRPr sz="1100">
              <a:latin typeface="Nunito"/>
              <a:ea typeface="Nunito"/>
              <a:cs typeface="Nunito"/>
              <a:sym typeface="Nunito"/>
            </a:endParaRPr>
          </a:p>
          <a:p>
            <a:pPr marL="0" lvl="0" indent="0" algn="l" rtl="0">
              <a:spcBef>
                <a:spcPts val="0"/>
              </a:spcBef>
              <a:spcAft>
                <a:spcPts val="0"/>
              </a:spcAft>
              <a:buNone/>
            </a:pPr>
            <a:r>
              <a:rPr lang="en" sz="1100" b="1">
                <a:solidFill>
                  <a:schemeClr val="accent5"/>
                </a:solidFill>
                <a:latin typeface="Nunito"/>
                <a:ea typeface="Nunito"/>
                <a:cs typeface="Nunito"/>
                <a:sym typeface="Nunito"/>
              </a:rPr>
              <a:t>Finding Undervalued ESG Leaders:</a:t>
            </a:r>
            <a:endParaRPr sz="1100" b="1">
              <a:solidFill>
                <a:schemeClr val="accent5"/>
              </a:solidFill>
              <a:latin typeface="Nunito"/>
              <a:ea typeface="Nunito"/>
              <a:cs typeface="Nunito"/>
              <a:sym typeface="Nunito"/>
            </a:endParaRPr>
          </a:p>
          <a:p>
            <a:pPr marL="0" lvl="0" indent="0" algn="l" rtl="0">
              <a:spcBef>
                <a:spcPts val="0"/>
              </a:spcBef>
              <a:spcAft>
                <a:spcPts val="0"/>
              </a:spcAft>
              <a:buNone/>
            </a:pPr>
            <a:r>
              <a:rPr lang="en" sz="1100">
                <a:latin typeface="Nunito"/>
                <a:ea typeface="Nunito"/>
                <a:cs typeface="Nunito"/>
                <a:sym typeface="Nunito"/>
              </a:rPr>
              <a:t>Investors may search for companies with sound ESG fundamentals that are undervalued in the market.</a:t>
            </a:r>
            <a:endParaRPr sz="1100">
              <a:latin typeface="Nunito"/>
              <a:ea typeface="Nunito"/>
              <a:cs typeface="Nunito"/>
              <a:sym typeface="Nunito"/>
            </a:endParaRPr>
          </a:p>
          <a:p>
            <a:pPr marL="0" lvl="0" indent="0" algn="l" rtl="0">
              <a:spcBef>
                <a:spcPts val="0"/>
              </a:spcBef>
              <a:spcAft>
                <a:spcPts val="0"/>
              </a:spcAft>
              <a:buNone/>
            </a:pPr>
            <a:r>
              <a:rPr lang="en" sz="1100">
                <a:latin typeface="Nunito"/>
                <a:ea typeface="Nunito"/>
                <a:cs typeface="Nunito"/>
                <a:sym typeface="Nunito"/>
              </a:rPr>
              <a:t>With increased awareness of ESG, such companies are likely to face heightened demand and appreciation in stock price.</a:t>
            </a:r>
            <a:endParaRPr sz="1100">
              <a:latin typeface="Nunito"/>
              <a:ea typeface="Nunito"/>
              <a:cs typeface="Nunito"/>
              <a:sym typeface="Nunito"/>
            </a:endParaRPr>
          </a:p>
          <a:p>
            <a:pPr marL="0" lvl="0" indent="0" algn="l" rtl="0">
              <a:spcBef>
                <a:spcPts val="0"/>
              </a:spcBef>
              <a:spcAft>
                <a:spcPts val="0"/>
              </a:spcAft>
              <a:buNone/>
            </a:pPr>
            <a:endParaRPr sz="1100">
              <a:latin typeface="Nunito"/>
              <a:ea typeface="Nunito"/>
              <a:cs typeface="Nunito"/>
              <a:sym typeface="Nunito"/>
            </a:endParaRPr>
          </a:p>
          <a:p>
            <a:pPr marL="0" lvl="0" indent="0" algn="l" rtl="0">
              <a:spcBef>
                <a:spcPts val="0"/>
              </a:spcBef>
              <a:spcAft>
                <a:spcPts val="0"/>
              </a:spcAft>
              <a:buNone/>
            </a:pPr>
            <a:r>
              <a:rPr lang="en" sz="1100" b="1">
                <a:solidFill>
                  <a:schemeClr val="accent5"/>
                </a:solidFill>
                <a:latin typeface="Nunito"/>
                <a:ea typeface="Nunito"/>
                <a:cs typeface="Nunito"/>
                <a:sym typeface="Nunito"/>
              </a:rPr>
              <a:t>Talking to Companies:</a:t>
            </a:r>
            <a:endParaRPr sz="1100" b="1">
              <a:solidFill>
                <a:schemeClr val="accent5"/>
              </a:solidFill>
              <a:latin typeface="Nunito"/>
              <a:ea typeface="Nunito"/>
              <a:cs typeface="Nunito"/>
              <a:sym typeface="Nunito"/>
            </a:endParaRPr>
          </a:p>
          <a:p>
            <a:pPr marL="0" lvl="0" indent="0" algn="l" rtl="0">
              <a:spcBef>
                <a:spcPts val="0"/>
              </a:spcBef>
              <a:spcAft>
                <a:spcPts val="0"/>
              </a:spcAft>
              <a:buNone/>
            </a:pPr>
            <a:r>
              <a:rPr lang="en" sz="1100">
                <a:latin typeface="Nunito"/>
                <a:ea typeface="Nunito"/>
                <a:cs typeface="Nunito"/>
                <a:sym typeface="Nunito"/>
              </a:rPr>
              <a:t>Shareholders can speak to companies to motivate them to enhance their ESG performance.</a:t>
            </a:r>
            <a:endParaRPr sz="1100">
              <a:latin typeface="Nunito"/>
              <a:ea typeface="Nunito"/>
              <a:cs typeface="Nunito"/>
              <a:sym typeface="Nunito"/>
            </a:endParaRPr>
          </a:p>
          <a:p>
            <a:pPr marL="0" lvl="0" indent="0" algn="l" rtl="0">
              <a:spcBef>
                <a:spcPts val="0"/>
              </a:spcBef>
              <a:spcAft>
                <a:spcPts val="0"/>
              </a:spcAft>
              <a:buNone/>
            </a:pPr>
            <a:r>
              <a:rPr lang="en" sz="1100">
                <a:latin typeface="Nunito"/>
                <a:ea typeface="Nunito"/>
                <a:cs typeface="Nunito"/>
                <a:sym typeface="Nunito"/>
              </a:rPr>
              <a:t>This can be accomplished through shareholder proposals, communication with management, and proxy voting.</a:t>
            </a:r>
            <a:endParaRPr sz="1100">
              <a:latin typeface="Nunito"/>
              <a:ea typeface="Nunito"/>
              <a:cs typeface="Nunito"/>
              <a:sym typeface="Nunito"/>
            </a:endParaRPr>
          </a:p>
          <a:p>
            <a:pPr marL="0" lvl="0" indent="0" algn="l" rtl="0">
              <a:spcBef>
                <a:spcPts val="0"/>
              </a:spcBef>
              <a:spcAft>
                <a:spcPts val="0"/>
              </a:spcAft>
              <a:buNone/>
            </a:pPr>
            <a:endParaRPr sz="1100"/>
          </a:p>
        </p:txBody>
      </p:sp>
      <p:sp>
        <p:nvSpPr>
          <p:cNvPr id="475" name="Google Shape;475;p37"/>
          <p:cNvSpPr/>
          <p:nvPr/>
        </p:nvSpPr>
        <p:spPr>
          <a:xfrm>
            <a:off x="379700" y="801700"/>
            <a:ext cx="4643100" cy="375300"/>
          </a:xfrm>
          <a:prstGeom prst="homePlate">
            <a:avLst>
              <a:gd name="adj" fmla="val 26719"/>
            </a:avLst>
          </a:pr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7"/>
          <p:cNvSpPr txBox="1">
            <a:spLocks noGrp="1"/>
          </p:cNvSpPr>
          <p:nvPr>
            <p:ph type="title"/>
          </p:nvPr>
        </p:nvSpPr>
        <p:spPr>
          <a:xfrm>
            <a:off x="379700" y="734950"/>
            <a:ext cx="6650700" cy="44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900">
                <a:solidFill>
                  <a:schemeClr val="accent5"/>
                </a:solidFill>
              </a:rPr>
              <a:t>Impact of ESG factors on stock prices</a:t>
            </a:r>
            <a:endParaRPr sz="1900">
              <a:solidFill>
                <a:schemeClr val="accent5"/>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38"/>
          <p:cNvSpPr/>
          <p:nvPr/>
        </p:nvSpPr>
        <p:spPr>
          <a:xfrm>
            <a:off x="998925" y="947925"/>
            <a:ext cx="4032300" cy="412500"/>
          </a:xfrm>
          <a:prstGeom prst="flowChartAlternateProcess">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82" name="Google Shape;482;p38"/>
          <p:cNvSpPr txBox="1"/>
          <p:nvPr/>
        </p:nvSpPr>
        <p:spPr>
          <a:xfrm>
            <a:off x="578500" y="714575"/>
            <a:ext cx="8015400" cy="4222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 sz="1700" b="1"/>
              <a:t>9️⃣  </a:t>
            </a:r>
            <a:r>
              <a:rPr lang="en" sz="1700" b="1">
                <a:solidFill>
                  <a:schemeClr val="dk1"/>
                </a:solidFill>
              </a:rPr>
              <a:t>Stock B - Overpriced But Strong ROE</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4.4/10</a:t>
            </a:r>
            <a:br>
              <a:rPr lang="en" sz="1100" b="1">
                <a:latin typeface="Nunito"/>
                <a:ea typeface="Nunito"/>
                <a:cs typeface="Nunito"/>
                <a:sym typeface="Nunito"/>
              </a:rPr>
            </a:br>
            <a:r>
              <a:rPr lang="en" sz="1100">
                <a:latin typeface="Nunito"/>
                <a:ea typeface="Nunito"/>
                <a:cs typeface="Nunito"/>
                <a:sym typeface="Nunito"/>
              </a:rPr>
              <a:t> Stock B has </a:t>
            </a:r>
            <a:r>
              <a:rPr lang="en" sz="1100" b="1">
                <a:latin typeface="Nunito"/>
                <a:ea typeface="Nunito"/>
                <a:cs typeface="Nunito"/>
                <a:sym typeface="Nunito"/>
              </a:rPr>
              <a:t>excellent return on equity (ROE)</a:t>
            </a:r>
            <a:r>
              <a:rPr lang="en" sz="1100">
                <a:latin typeface="Nunito"/>
                <a:ea typeface="Nunito"/>
                <a:cs typeface="Nunito"/>
                <a:sym typeface="Nunito"/>
              </a:rPr>
              <a:t> but is </a:t>
            </a:r>
            <a:r>
              <a:rPr lang="en" sz="1100" b="1">
                <a:latin typeface="Nunito"/>
                <a:ea typeface="Nunito"/>
                <a:cs typeface="Nunito"/>
                <a:sym typeface="Nunito"/>
              </a:rPr>
              <a:t>too expensive</a:t>
            </a:r>
            <a:r>
              <a:rPr lang="en" sz="1100">
                <a:latin typeface="Nunito"/>
                <a:ea typeface="Nunito"/>
                <a:cs typeface="Nunito"/>
                <a:sym typeface="Nunito"/>
              </a:rPr>
              <a:t> right now.</a:t>
            </a:r>
            <a:endParaRPr sz="1100">
              <a:latin typeface="Nunito"/>
              <a:ea typeface="Nunito"/>
              <a:cs typeface="Nunito"/>
              <a:sym typeface="Nunito"/>
            </a:endParaRPr>
          </a:p>
          <a:p>
            <a:pPr marL="457200" lvl="0" indent="-298450" algn="l" rtl="0">
              <a:lnSpc>
                <a:spcPct val="115000"/>
              </a:lnSpc>
              <a:spcBef>
                <a:spcPts val="1200"/>
              </a:spcBef>
              <a:spcAft>
                <a:spcPts val="0"/>
              </a:spcAft>
              <a:buSzPts val="1100"/>
              <a:buChar char="●"/>
            </a:pPr>
            <a:r>
              <a:rPr lang="en" sz="1100" b="1">
                <a:latin typeface="Nunito"/>
                <a:ea typeface="Nunito"/>
                <a:cs typeface="Nunito"/>
                <a:sym typeface="Nunito"/>
              </a:rPr>
              <a:t>P/E Ratio:</a:t>
            </a:r>
            <a:r>
              <a:rPr lang="en" sz="1100">
                <a:latin typeface="Nunito"/>
                <a:ea typeface="Nunito"/>
                <a:cs typeface="Nunito"/>
                <a:sym typeface="Nunito"/>
              </a:rPr>
              <a:t> </a:t>
            </a:r>
            <a:r>
              <a:rPr lang="en" sz="1100" b="1">
                <a:latin typeface="Nunito"/>
                <a:ea typeface="Nunito"/>
                <a:cs typeface="Nunito"/>
                <a:sym typeface="Nunito"/>
              </a:rPr>
              <a:t>36.50</a:t>
            </a:r>
            <a:r>
              <a:rPr lang="en" sz="1100">
                <a:latin typeface="Nunito"/>
                <a:ea typeface="Nunito"/>
                <a:cs typeface="Nunito"/>
                <a:sym typeface="Nunito"/>
              </a:rPr>
              <a:t> (</a:t>
            </a:r>
            <a:r>
              <a:rPr lang="en" sz="1100" b="1">
                <a:latin typeface="Nunito"/>
                <a:ea typeface="Nunito"/>
                <a:cs typeface="Nunito"/>
                <a:sym typeface="Nunito"/>
              </a:rPr>
              <a:t>Overvalued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Revenue Growth:</a:t>
            </a:r>
            <a:r>
              <a:rPr lang="en" sz="1100">
                <a:latin typeface="Nunito"/>
                <a:ea typeface="Nunito"/>
                <a:cs typeface="Nunito"/>
                <a:sym typeface="Nunito"/>
              </a:rPr>
              <a:t> </a:t>
            </a:r>
            <a:r>
              <a:rPr lang="en" sz="1100" b="1">
                <a:latin typeface="Nunito"/>
                <a:ea typeface="Nunito"/>
                <a:cs typeface="Nunito"/>
                <a:sym typeface="Nunito"/>
              </a:rPr>
              <a:t>+5.8%</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Growth:</a:t>
            </a:r>
            <a:r>
              <a:rPr lang="en" sz="1100">
                <a:latin typeface="Nunito"/>
                <a:ea typeface="Nunito"/>
                <a:cs typeface="Nunito"/>
                <a:sym typeface="Nunito"/>
              </a:rPr>
              <a:t> </a:t>
            </a:r>
            <a:r>
              <a:rPr lang="en" sz="1100" b="1">
                <a:latin typeface="Nunito"/>
                <a:ea typeface="Nunito"/>
                <a:cs typeface="Nunito"/>
                <a:sym typeface="Nunito"/>
              </a:rPr>
              <a:t>+6.3%</a:t>
            </a:r>
            <a:r>
              <a:rPr lang="en" sz="1100">
                <a:latin typeface="Nunito"/>
                <a:ea typeface="Nunito"/>
                <a:cs typeface="Nunito"/>
                <a:sym typeface="Nunito"/>
              </a:rPr>
              <a:t> (</a:t>
            </a:r>
            <a:r>
              <a:rPr lang="en" sz="1100" b="1">
                <a:latin typeface="Nunito"/>
                <a:ea typeface="Nunito"/>
                <a:cs typeface="Nunito"/>
                <a:sym typeface="Nunito"/>
              </a:rPr>
              <a:t>Moderate</a:t>
            </a:r>
            <a:r>
              <a:rPr lang="en" sz="1100">
                <a:latin typeface="Nunito"/>
                <a:ea typeface="Nunito"/>
                <a:cs typeface="Nunito"/>
                <a:sym typeface="Nunito"/>
              </a:rPr>
              <a:t> ✅)</a:t>
            </a:r>
            <a:br>
              <a:rPr lang="en" sz="1100">
                <a:latin typeface="Nunito"/>
                <a:ea typeface="Nunito"/>
                <a:cs typeface="Nunito"/>
                <a:sym typeface="Nunito"/>
              </a:rPr>
            </a:br>
            <a:r>
              <a:rPr lang="en" sz="1100" b="1">
                <a:latin typeface="Nunito"/>
                <a:ea typeface="Nunito"/>
                <a:cs typeface="Nunito"/>
                <a:sym typeface="Nunito"/>
              </a:rPr>
              <a:t>Net Profit Margin:</a:t>
            </a:r>
            <a:r>
              <a:rPr lang="en" sz="1100">
                <a:latin typeface="Nunito"/>
                <a:ea typeface="Nunito"/>
                <a:cs typeface="Nunito"/>
                <a:sym typeface="Nunito"/>
              </a:rPr>
              <a:t> </a:t>
            </a:r>
            <a:r>
              <a:rPr lang="en" sz="1100" b="1">
                <a:latin typeface="Nunito"/>
                <a:ea typeface="Nunito"/>
                <a:cs typeface="Nunito"/>
                <a:sym typeface="Nunito"/>
              </a:rPr>
              <a:t>18.2%</a:t>
            </a:r>
            <a:r>
              <a:rPr lang="en" sz="1100">
                <a:latin typeface="Nunito"/>
                <a:ea typeface="Nunito"/>
                <a:cs typeface="Nunito"/>
                <a:sym typeface="Nunito"/>
              </a:rPr>
              <a:t> (</a:t>
            </a:r>
            <a:r>
              <a:rPr lang="en" sz="1100" b="1">
                <a:latin typeface="Nunito"/>
                <a:ea typeface="Nunito"/>
                <a:cs typeface="Nunito"/>
                <a:sym typeface="Nunito"/>
              </a:rPr>
              <a:t>Good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Debt-to-EBITDA:</a:t>
            </a:r>
            <a:r>
              <a:rPr lang="en" sz="1100">
                <a:latin typeface="Nunito"/>
                <a:ea typeface="Nunito"/>
                <a:cs typeface="Nunito"/>
                <a:sym typeface="Nunito"/>
              </a:rPr>
              <a:t> </a:t>
            </a:r>
            <a:r>
              <a:rPr lang="en" sz="1100" b="1">
                <a:latin typeface="Nunito"/>
                <a:ea typeface="Nunito"/>
                <a:cs typeface="Nunito"/>
                <a:sym typeface="Nunito"/>
              </a:rPr>
              <a:t>2.50</a:t>
            </a:r>
            <a:r>
              <a:rPr lang="en" sz="1100">
                <a:latin typeface="Nunito"/>
                <a:ea typeface="Nunito"/>
                <a:cs typeface="Nunito"/>
                <a:sym typeface="Nunito"/>
              </a:rPr>
              <a:t> (</a:t>
            </a:r>
            <a:r>
              <a:rPr lang="en" sz="1100" b="1">
                <a:latin typeface="Nunito"/>
                <a:ea typeface="Nunito"/>
                <a:cs typeface="Nunito"/>
                <a:sym typeface="Nunito"/>
              </a:rPr>
              <a:t>Manageable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Margin:</a:t>
            </a:r>
            <a:r>
              <a:rPr lang="en" sz="1100">
                <a:latin typeface="Nunito"/>
                <a:ea typeface="Nunito"/>
                <a:cs typeface="Nunito"/>
                <a:sym typeface="Nunito"/>
              </a:rPr>
              <a:t> </a:t>
            </a:r>
            <a:r>
              <a:rPr lang="en" sz="1100" b="1">
                <a:latin typeface="Nunito"/>
                <a:ea typeface="Nunito"/>
                <a:cs typeface="Nunito"/>
                <a:sym typeface="Nunito"/>
              </a:rPr>
              <a:t>21.7%</a:t>
            </a:r>
            <a:r>
              <a:rPr lang="en" sz="1100">
                <a:latin typeface="Nunito"/>
                <a:ea typeface="Nunito"/>
                <a:cs typeface="Nunito"/>
                <a:sym typeface="Nunito"/>
              </a:rPr>
              <a:t> (</a:t>
            </a:r>
            <a:r>
              <a:rPr lang="en" sz="1100" b="1">
                <a:latin typeface="Nunito"/>
                <a:ea typeface="Nunito"/>
                <a:cs typeface="Nunito"/>
                <a:sym typeface="Nunito"/>
              </a:rPr>
              <a:t>Good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EPS Growth:</a:t>
            </a:r>
            <a:r>
              <a:rPr lang="en" sz="1100">
                <a:latin typeface="Nunito"/>
                <a:ea typeface="Nunito"/>
                <a:cs typeface="Nunito"/>
                <a:sym typeface="Nunito"/>
              </a:rPr>
              <a:t> </a:t>
            </a:r>
            <a:r>
              <a:rPr lang="en" sz="1100" b="1">
                <a:latin typeface="Nunito"/>
                <a:ea typeface="Nunito"/>
                <a:cs typeface="Nunito"/>
                <a:sym typeface="Nunito"/>
              </a:rPr>
              <a:t>+5.9%</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Interest Coverage Ratio:</a:t>
            </a:r>
            <a:r>
              <a:rPr lang="en" sz="1100">
                <a:latin typeface="Nunito"/>
                <a:ea typeface="Nunito"/>
                <a:cs typeface="Nunito"/>
                <a:sym typeface="Nunito"/>
              </a:rPr>
              <a:t> </a:t>
            </a:r>
            <a:r>
              <a:rPr lang="en" sz="1100" b="1">
                <a:latin typeface="Nunito"/>
                <a:ea typeface="Nunito"/>
                <a:cs typeface="Nunito"/>
                <a:sym typeface="Nunito"/>
              </a:rPr>
              <a:t>4.3</a:t>
            </a:r>
            <a:r>
              <a:rPr lang="en" sz="1100">
                <a:latin typeface="Nunito"/>
                <a:ea typeface="Nunito"/>
                <a:cs typeface="Nunito"/>
                <a:sym typeface="Nunito"/>
              </a:rPr>
              <a:t> (</a:t>
            </a:r>
            <a:r>
              <a:rPr lang="en" sz="1100" b="1">
                <a:latin typeface="Nunito"/>
                <a:ea typeface="Nunito"/>
                <a:cs typeface="Nunito"/>
                <a:sym typeface="Nunito"/>
              </a:rPr>
              <a:t>Average</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Dividend Yield:</a:t>
            </a:r>
            <a:r>
              <a:rPr lang="en" sz="1100">
                <a:latin typeface="Nunito"/>
                <a:ea typeface="Nunito"/>
                <a:cs typeface="Nunito"/>
                <a:sym typeface="Nunito"/>
              </a:rPr>
              <a:t> </a:t>
            </a:r>
            <a:r>
              <a:rPr lang="en" sz="1100" b="1">
                <a:latin typeface="Nunito"/>
                <a:ea typeface="Nunito"/>
                <a:cs typeface="Nunito"/>
                <a:sym typeface="Nunito"/>
              </a:rPr>
              <a:t>1.64%</a:t>
            </a:r>
            <a:r>
              <a:rPr lang="en" sz="1100">
                <a:latin typeface="Nunito"/>
                <a:ea typeface="Nunito"/>
                <a:cs typeface="Nunito"/>
                <a:sym typeface="Nunito"/>
              </a:rPr>
              <a:t> (</a:t>
            </a:r>
            <a:r>
              <a:rPr lang="en" sz="1100" b="1">
                <a:latin typeface="Nunito"/>
                <a:ea typeface="Nunito"/>
                <a:cs typeface="Nunito"/>
                <a:sym typeface="Nunito"/>
              </a:rPr>
              <a:t>Low Yield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ROE:</a:t>
            </a:r>
            <a:r>
              <a:rPr lang="en" sz="1100">
                <a:latin typeface="Nunito"/>
                <a:ea typeface="Nunito"/>
                <a:cs typeface="Nunito"/>
                <a:sym typeface="Nunito"/>
              </a:rPr>
              <a:t> </a:t>
            </a:r>
            <a:r>
              <a:rPr lang="en" sz="1100" b="1">
                <a:latin typeface="Nunito"/>
                <a:ea typeface="Nunito"/>
                <a:cs typeface="Nunito"/>
                <a:sym typeface="Nunito"/>
              </a:rPr>
              <a:t>41.67%</a:t>
            </a:r>
            <a:r>
              <a:rPr lang="en" sz="1100">
                <a:latin typeface="Nunito"/>
                <a:ea typeface="Nunito"/>
                <a:cs typeface="Nunito"/>
                <a:sym typeface="Nunito"/>
              </a:rPr>
              <a:t> (</a:t>
            </a:r>
            <a:r>
              <a:rPr lang="en" sz="1100" b="1">
                <a:latin typeface="Nunito"/>
                <a:ea typeface="Nunito"/>
                <a:cs typeface="Nunito"/>
                <a:sym typeface="Nunito"/>
              </a:rPr>
              <a:t>Exceptional</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ROIC:</a:t>
            </a:r>
            <a:r>
              <a:rPr lang="en" sz="1100">
                <a:latin typeface="Nunito"/>
                <a:ea typeface="Nunito"/>
                <a:cs typeface="Nunito"/>
                <a:sym typeface="Nunito"/>
              </a:rPr>
              <a:t> </a:t>
            </a:r>
            <a:r>
              <a:rPr lang="en" sz="1100" b="1">
                <a:latin typeface="Nunito"/>
                <a:ea typeface="Nunito"/>
                <a:cs typeface="Nunito"/>
                <a:sym typeface="Nunito"/>
              </a:rPr>
              <a:t>-17.43%</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ROA:</a:t>
            </a:r>
            <a:r>
              <a:rPr lang="en" sz="1100">
                <a:latin typeface="Nunito"/>
                <a:ea typeface="Nunito"/>
                <a:cs typeface="Nunito"/>
                <a:sym typeface="Nunito"/>
              </a:rPr>
              <a:t> </a:t>
            </a:r>
            <a:r>
              <a:rPr lang="en" sz="1100" b="1">
                <a:latin typeface="Nunito"/>
                <a:ea typeface="Nunito"/>
                <a:cs typeface="Nunito"/>
                <a:sym typeface="Nunito"/>
              </a:rPr>
              <a:t>1126.90%</a:t>
            </a:r>
            <a:r>
              <a:rPr lang="en" sz="1100">
                <a:latin typeface="Nunito"/>
                <a:ea typeface="Nunito"/>
                <a:cs typeface="Nunito"/>
                <a:sym typeface="Nunito"/>
              </a:rPr>
              <a:t> (</a:t>
            </a:r>
            <a:r>
              <a:rPr lang="en" sz="1100" b="1">
                <a:latin typeface="Nunito"/>
                <a:ea typeface="Nunito"/>
                <a:cs typeface="Nunito"/>
                <a:sym typeface="Nunito"/>
              </a:rPr>
              <a:t>Excellent</a:t>
            </a:r>
            <a:r>
              <a:rPr lang="en" sz="1100">
                <a:latin typeface="Nunito"/>
                <a:ea typeface="Nunito"/>
                <a:cs typeface="Nunito"/>
                <a:sym typeface="Nunito"/>
              </a:rPr>
              <a:t> ✅)</a:t>
            </a:r>
            <a:endParaRPr sz="1100">
              <a:latin typeface="Nunito"/>
              <a:ea typeface="Nunito"/>
              <a:cs typeface="Nunito"/>
              <a:sym typeface="Nunito"/>
            </a:endParaRPr>
          </a:p>
          <a:p>
            <a:pPr marL="0" lvl="0" indent="0" algn="l" rtl="0">
              <a:lnSpc>
                <a:spcPct val="115000"/>
              </a:lnSpc>
              <a:spcBef>
                <a:spcPts val="1200"/>
              </a:spcBef>
              <a:spcAft>
                <a:spcPts val="0"/>
              </a:spcAft>
              <a:buNone/>
            </a:pPr>
            <a:r>
              <a:rPr lang="en" sz="1100">
                <a:latin typeface="Nunito"/>
                <a:ea typeface="Nunito"/>
                <a:cs typeface="Nunito"/>
                <a:sym typeface="Nunito"/>
              </a:rPr>
              <a:t>📌 </a:t>
            </a:r>
            <a:r>
              <a:rPr lang="en" sz="1100" b="1">
                <a:latin typeface="Nunito"/>
                <a:ea typeface="Nunito"/>
                <a:cs typeface="Nunito"/>
                <a:sym typeface="Nunito"/>
              </a:rPr>
              <a:t>Final Verdict:</a:t>
            </a:r>
            <a:r>
              <a:rPr lang="en" sz="1100">
                <a:latin typeface="Nunito"/>
                <a:ea typeface="Nunito"/>
                <a:cs typeface="Nunito"/>
                <a:sym typeface="Nunito"/>
              </a:rPr>
              <a:t> ❌ </a:t>
            </a:r>
            <a:r>
              <a:rPr lang="en" sz="1100" b="1">
                <a:latin typeface="Nunito"/>
                <a:ea typeface="Nunito"/>
                <a:cs typeface="Nunito"/>
                <a:sym typeface="Nunito"/>
              </a:rPr>
              <a:t>Too expensive right now. If the price drops, it could be a strong investment.</a:t>
            </a:r>
            <a:endParaRPr sz="1100" b="1">
              <a:latin typeface="Nunito"/>
              <a:ea typeface="Nunito"/>
              <a:cs typeface="Nunito"/>
              <a:sym typeface="Nunito"/>
            </a:endParaRPr>
          </a:p>
          <a:p>
            <a:pPr marL="0" lvl="0" indent="0" algn="l" rtl="0">
              <a:lnSpc>
                <a:spcPct val="115000"/>
              </a:lnSpc>
              <a:spcBef>
                <a:spcPts val="1200"/>
              </a:spcBef>
              <a:spcAft>
                <a:spcPts val="0"/>
              </a:spcAft>
              <a:buNone/>
            </a:pPr>
            <a:endParaRPr sz="1300" b="1"/>
          </a:p>
        </p:txBody>
      </p:sp>
      <p:sp>
        <p:nvSpPr>
          <p:cNvPr id="483" name="Google Shape;483;p38"/>
          <p:cNvSpPr/>
          <p:nvPr/>
        </p:nvSpPr>
        <p:spPr>
          <a:xfrm>
            <a:off x="1129650" y="327000"/>
            <a:ext cx="6884700" cy="5271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84" name="Google Shape;484;p38"/>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485" name="Google Shape;485;p38"/>
          <p:cNvSpPr txBox="1">
            <a:spLocks noGrp="1"/>
          </p:cNvSpPr>
          <p:nvPr>
            <p:ph type="title"/>
          </p:nvPr>
        </p:nvSpPr>
        <p:spPr>
          <a:xfrm>
            <a:off x="793500" y="293400"/>
            <a:ext cx="75570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Unutilized/Non-performing Stocks Analysis</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39"/>
          <p:cNvSpPr/>
          <p:nvPr/>
        </p:nvSpPr>
        <p:spPr>
          <a:xfrm>
            <a:off x="1376950" y="970825"/>
            <a:ext cx="4902900" cy="4353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91" name="Google Shape;491;p39"/>
          <p:cNvSpPr txBox="1"/>
          <p:nvPr/>
        </p:nvSpPr>
        <p:spPr>
          <a:xfrm>
            <a:off x="664860" y="808265"/>
            <a:ext cx="7557000" cy="4738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t> </a:t>
            </a:r>
            <a:r>
              <a:rPr lang="en" sz="1700" b="1"/>
              <a:t>1️⃣0️⃣  </a:t>
            </a:r>
            <a:r>
              <a:rPr lang="en" sz="1700" b="1">
                <a:solidFill>
                  <a:schemeClr val="dk1"/>
                </a:solidFill>
              </a:rPr>
              <a:t>Stock N - Declining Earnings, Moderate Risk</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4.0/10</a:t>
            </a:r>
            <a:br>
              <a:rPr lang="en" sz="1100" b="1">
                <a:latin typeface="Nunito"/>
                <a:ea typeface="Nunito"/>
                <a:cs typeface="Nunito"/>
                <a:sym typeface="Nunito"/>
              </a:rPr>
            </a:br>
            <a:r>
              <a:rPr lang="en" sz="1100">
                <a:latin typeface="Nunito"/>
                <a:ea typeface="Nunito"/>
                <a:cs typeface="Nunito"/>
                <a:sym typeface="Nunito"/>
              </a:rPr>
              <a:t> Stock N has </a:t>
            </a:r>
            <a:r>
              <a:rPr lang="en" sz="1100" b="1">
                <a:latin typeface="Nunito"/>
                <a:ea typeface="Nunito"/>
                <a:cs typeface="Nunito"/>
                <a:sym typeface="Nunito"/>
              </a:rPr>
              <a:t>some strengths, but its declining earnings make it risky</a:t>
            </a:r>
            <a:r>
              <a:rPr lang="en" sz="1100">
                <a:latin typeface="Nunito"/>
                <a:ea typeface="Nunito"/>
                <a:cs typeface="Nunito"/>
                <a:sym typeface="Nunito"/>
              </a:rPr>
              <a:t>.</a:t>
            </a:r>
            <a:endParaRPr sz="1100">
              <a:latin typeface="Nunito"/>
              <a:ea typeface="Nunito"/>
              <a:cs typeface="Nunito"/>
              <a:sym typeface="Nunito"/>
            </a:endParaRPr>
          </a:p>
          <a:p>
            <a:pPr marL="457200" lvl="0" indent="-298450" algn="l" rtl="0">
              <a:lnSpc>
                <a:spcPct val="115000"/>
              </a:lnSpc>
              <a:spcBef>
                <a:spcPts val="1200"/>
              </a:spcBef>
              <a:spcAft>
                <a:spcPts val="0"/>
              </a:spcAft>
              <a:buSzPts val="1100"/>
              <a:buChar char="●"/>
            </a:pPr>
            <a:r>
              <a:rPr lang="en" sz="1100" b="1">
                <a:latin typeface="Nunito"/>
                <a:ea typeface="Nunito"/>
                <a:cs typeface="Nunito"/>
                <a:sym typeface="Nunito"/>
              </a:rPr>
              <a:t>P/E Ratio:</a:t>
            </a:r>
            <a:r>
              <a:rPr lang="en" sz="1100">
                <a:latin typeface="Nunito"/>
                <a:ea typeface="Nunito"/>
                <a:cs typeface="Nunito"/>
                <a:sym typeface="Nunito"/>
              </a:rPr>
              <a:t> </a:t>
            </a:r>
            <a:r>
              <a:rPr lang="en" sz="1100" b="1">
                <a:latin typeface="Nunito"/>
                <a:ea typeface="Nunito"/>
                <a:cs typeface="Nunito"/>
                <a:sym typeface="Nunito"/>
              </a:rPr>
              <a:t>29.08</a:t>
            </a:r>
            <a:r>
              <a:rPr lang="en" sz="1100">
                <a:latin typeface="Nunito"/>
                <a:ea typeface="Nunito"/>
                <a:cs typeface="Nunito"/>
                <a:sym typeface="Nunito"/>
              </a:rPr>
              <a:t> (</a:t>
            </a:r>
            <a:r>
              <a:rPr lang="en" sz="1100" b="1">
                <a:latin typeface="Nunito"/>
                <a:ea typeface="Nunito"/>
                <a:cs typeface="Nunito"/>
                <a:sym typeface="Nunito"/>
              </a:rPr>
              <a:t>Overvalued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Revenue Growth:</a:t>
            </a:r>
            <a:r>
              <a:rPr lang="en" sz="1100">
                <a:latin typeface="Nunito"/>
                <a:ea typeface="Nunito"/>
                <a:cs typeface="Nunito"/>
                <a:sym typeface="Nunito"/>
              </a:rPr>
              <a:t> </a:t>
            </a:r>
            <a:r>
              <a:rPr lang="en" sz="1100" b="1">
                <a:latin typeface="Nunito"/>
                <a:ea typeface="Nunito"/>
                <a:cs typeface="Nunito"/>
                <a:sym typeface="Nunito"/>
              </a:rPr>
              <a:t>+4.5%</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Growth:</a:t>
            </a:r>
            <a:r>
              <a:rPr lang="en" sz="1100">
                <a:latin typeface="Nunito"/>
                <a:ea typeface="Nunito"/>
                <a:cs typeface="Nunito"/>
                <a:sym typeface="Nunito"/>
              </a:rPr>
              <a:t> </a:t>
            </a:r>
            <a:r>
              <a:rPr lang="en" sz="1100" b="1">
                <a:latin typeface="Nunito"/>
                <a:ea typeface="Nunito"/>
                <a:cs typeface="Nunito"/>
                <a:sym typeface="Nunito"/>
              </a:rPr>
              <a:t>-3.2%</a:t>
            </a:r>
            <a:r>
              <a:rPr lang="en" sz="1100">
                <a:latin typeface="Nunito"/>
                <a:ea typeface="Nunito"/>
                <a:cs typeface="Nunito"/>
                <a:sym typeface="Nunito"/>
              </a:rPr>
              <a:t> (</a:t>
            </a:r>
            <a:r>
              <a:rPr lang="en" sz="1100" b="1">
                <a:latin typeface="Nunito"/>
                <a:ea typeface="Nunito"/>
                <a:cs typeface="Nunito"/>
                <a:sym typeface="Nunito"/>
              </a:rPr>
              <a:t>Negative Growth</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Net Profit Margin:</a:t>
            </a:r>
            <a:r>
              <a:rPr lang="en" sz="1100">
                <a:latin typeface="Nunito"/>
                <a:ea typeface="Nunito"/>
                <a:cs typeface="Nunito"/>
                <a:sym typeface="Nunito"/>
              </a:rPr>
              <a:t> </a:t>
            </a:r>
            <a:r>
              <a:rPr lang="en" sz="1100" b="1">
                <a:latin typeface="Nunito"/>
                <a:ea typeface="Nunito"/>
                <a:cs typeface="Nunito"/>
                <a:sym typeface="Nunito"/>
              </a:rPr>
              <a:t>14.8%</a:t>
            </a:r>
            <a:r>
              <a:rPr lang="en" sz="1100">
                <a:latin typeface="Nunito"/>
                <a:ea typeface="Nunito"/>
                <a:cs typeface="Nunito"/>
                <a:sym typeface="Nunito"/>
              </a:rPr>
              <a:t> (</a:t>
            </a:r>
            <a:r>
              <a:rPr lang="en" sz="1100" b="1">
                <a:latin typeface="Nunito"/>
                <a:ea typeface="Nunito"/>
                <a:cs typeface="Nunito"/>
                <a:sym typeface="Nunito"/>
              </a:rPr>
              <a:t>Moderate</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Debt-to-EBITDA:</a:t>
            </a:r>
            <a:r>
              <a:rPr lang="en" sz="1100">
                <a:latin typeface="Nunito"/>
                <a:ea typeface="Nunito"/>
                <a:cs typeface="Nunito"/>
                <a:sym typeface="Nunito"/>
              </a:rPr>
              <a:t> </a:t>
            </a:r>
            <a:r>
              <a:rPr lang="en" sz="1100" b="1">
                <a:latin typeface="Nunito"/>
                <a:ea typeface="Nunito"/>
                <a:cs typeface="Nunito"/>
                <a:sym typeface="Nunito"/>
              </a:rPr>
              <a:t>3.02</a:t>
            </a:r>
            <a:r>
              <a:rPr lang="en" sz="1100">
                <a:latin typeface="Nunito"/>
                <a:ea typeface="Nunito"/>
                <a:cs typeface="Nunito"/>
                <a:sym typeface="Nunito"/>
              </a:rPr>
              <a:t> (</a:t>
            </a:r>
            <a:r>
              <a:rPr lang="en" sz="1100" b="1">
                <a:latin typeface="Nunito"/>
                <a:ea typeface="Nunito"/>
                <a:cs typeface="Nunito"/>
                <a:sym typeface="Nunito"/>
              </a:rPr>
              <a:t>High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Margin:</a:t>
            </a:r>
            <a:r>
              <a:rPr lang="en" sz="1100">
                <a:latin typeface="Nunito"/>
                <a:ea typeface="Nunito"/>
                <a:cs typeface="Nunito"/>
                <a:sym typeface="Nunito"/>
              </a:rPr>
              <a:t> </a:t>
            </a:r>
            <a:r>
              <a:rPr lang="en" sz="1100" b="1">
                <a:latin typeface="Nunito"/>
                <a:ea typeface="Nunito"/>
                <a:cs typeface="Nunito"/>
                <a:sym typeface="Nunito"/>
              </a:rPr>
              <a:t>20.4%</a:t>
            </a:r>
            <a:r>
              <a:rPr lang="en" sz="1100">
                <a:latin typeface="Nunito"/>
                <a:ea typeface="Nunito"/>
                <a:cs typeface="Nunito"/>
                <a:sym typeface="Nunito"/>
              </a:rPr>
              <a:t> (</a:t>
            </a:r>
            <a:r>
              <a:rPr lang="en" sz="1100" b="1">
                <a:latin typeface="Nunito"/>
                <a:ea typeface="Nunito"/>
                <a:cs typeface="Nunito"/>
                <a:sym typeface="Nunito"/>
              </a:rPr>
              <a:t>Good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EPS Growth:</a:t>
            </a:r>
            <a:r>
              <a:rPr lang="en" sz="1100">
                <a:latin typeface="Nunito"/>
                <a:ea typeface="Nunito"/>
                <a:cs typeface="Nunito"/>
                <a:sym typeface="Nunito"/>
              </a:rPr>
              <a:t> </a:t>
            </a:r>
            <a:r>
              <a:rPr lang="en" sz="1100" b="1">
                <a:latin typeface="Nunito"/>
                <a:ea typeface="Nunito"/>
                <a:cs typeface="Nunito"/>
                <a:sym typeface="Nunito"/>
              </a:rPr>
              <a:t>+7.5%</a:t>
            </a:r>
            <a:r>
              <a:rPr lang="en" sz="1100">
                <a:latin typeface="Nunito"/>
                <a:ea typeface="Nunito"/>
                <a:cs typeface="Nunito"/>
                <a:sym typeface="Nunito"/>
              </a:rPr>
              <a:t> (</a:t>
            </a:r>
            <a:r>
              <a:rPr lang="en" sz="1100" b="1">
                <a:latin typeface="Nunito"/>
                <a:ea typeface="Nunito"/>
                <a:cs typeface="Nunito"/>
                <a:sym typeface="Nunito"/>
              </a:rPr>
              <a:t>Moderate</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Interest Coverage Ratio:</a:t>
            </a:r>
            <a:r>
              <a:rPr lang="en" sz="1100">
                <a:latin typeface="Nunito"/>
                <a:ea typeface="Nunito"/>
                <a:cs typeface="Nunito"/>
                <a:sym typeface="Nunito"/>
              </a:rPr>
              <a:t> </a:t>
            </a:r>
            <a:r>
              <a:rPr lang="en" sz="1100" b="1">
                <a:latin typeface="Nunito"/>
                <a:ea typeface="Nunito"/>
                <a:cs typeface="Nunito"/>
                <a:sym typeface="Nunito"/>
              </a:rPr>
              <a:t>4.9</a:t>
            </a:r>
            <a:r>
              <a:rPr lang="en" sz="1100">
                <a:latin typeface="Nunito"/>
                <a:ea typeface="Nunito"/>
                <a:cs typeface="Nunito"/>
                <a:sym typeface="Nunito"/>
              </a:rPr>
              <a:t> (</a:t>
            </a:r>
            <a:r>
              <a:rPr lang="en" sz="1100" b="1">
                <a:latin typeface="Nunito"/>
                <a:ea typeface="Nunito"/>
                <a:cs typeface="Nunito"/>
                <a:sym typeface="Nunito"/>
              </a:rPr>
              <a:t>Average</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Dividend Yield:</a:t>
            </a:r>
            <a:r>
              <a:rPr lang="en" sz="1100">
                <a:latin typeface="Nunito"/>
                <a:ea typeface="Nunito"/>
                <a:cs typeface="Nunito"/>
                <a:sym typeface="Nunito"/>
              </a:rPr>
              <a:t> </a:t>
            </a:r>
            <a:r>
              <a:rPr lang="en" sz="1100" b="1">
                <a:latin typeface="Nunito"/>
                <a:ea typeface="Nunito"/>
                <a:cs typeface="Nunito"/>
                <a:sym typeface="Nunito"/>
              </a:rPr>
              <a:t>1.64%</a:t>
            </a:r>
            <a:r>
              <a:rPr lang="en" sz="1100">
                <a:latin typeface="Nunito"/>
                <a:ea typeface="Nunito"/>
                <a:cs typeface="Nunito"/>
                <a:sym typeface="Nunito"/>
              </a:rPr>
              <a:t> (</a:t>
            </a:r>
            <a:r>
              <a:rPr lang="en" sz="1100" b="1">
                <a:latin typeface="Nunito"/>
                <a:ea typeface="Nunito"/>
                <a:cs typeface="Nunito"/>
                <a:sym typeface="Nunito"/>
              </a:rPr>
              <a:t>Low Yield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ROE:</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ROIC:</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ROA:</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0" lvl="0" indent="0" algn="l" rtl="0">
              <a:lnSpc>
                <a:spcPct val="115000"/>
              </a:lnSpc>
              <a:spcBef>
                <a:spcPts val="1200"/>
              </a:spcBef>
              <a:spcAft>
                <a:spcPts val="0"/>
              </a:spcAft>
              <a:buNone/>
            </a:pPr>
            <a:r>
              <a:rPr lang="en" sz="1100">
                <a:latin typeface="Nunito"/>
                <a:ea typeface="Nunito"/>
                <a:cs typeface="Nunito"/>
                <a:sym typeface="Nunito"/>
              </a:rPr>
              <a:t>📌 </a:t>
            </a:r>
            <a:r>
              <a:rPr lang="en" sz="1100" b="1">
                <a:latin typeface="Nunito"/>
                <a:ea typeface="Nunito"/>
                <a:cs typeface="Nunito"/>
                <a:sym typeface="Nunito"/>
              </a:rPr>
              <a:t>Final Verdict:</a:t>
            </a:r>
            <a:r>
              <a:rPr lang="en" sz="1100">
                <a:latin typeface="Nunito"/>
                <a:ea typeface="Nunito"/>
                <a:cs typeface="Nunito"/>
                <a:sym typeface="Nunito"/>
              </a:rPr>
              <a:t> ⚠️ </a:t>
            </a:r>
            <a:r>
              <a:rPr lang="en" sz="1100" b="1">
                <a:latin typeface="Nunito"/>
                <a:ea typeface="Nunito"/>
                <a:cs typeface="Nunito"/>
                <a:sym typeface="Nunito"/>
              </a:rPr>
              <a:t>Too much risk and slowing growth make this a weaker investment choice.</a:t>
            </a:r>
            <a:endParaRPr sz="1100" b="1">
              <a:latin typeface="Nunito"/>
              <a:ea typeface="Nunito"/>
              <a:cs typeface="Nunito"/>
              <a:sym typeface="Nunito"/>
            </a:endParaRPr>
          </a:p>
          <a:p>
            <a:pPr marL="0" lvl="0" indent="0" algn="l" rtl="0">
              <a:lnSpc>
                <a:spcPct val="115000"/>
              </a:lnSpc>
              <a:spcBef>
                <a:spcPts val="1200"/>
              </a:spcBef>
              <a:spcAft>
                <a:spcPts val="0"/>
              </a:spcAft>
              <a:buNone/>
            </a:pPr>
            <a:endParaRPr sz="1700" b="1"/>
          </a:p>
          <a:p>
            <a:pPr marL="0" lvl="0" indent="0" algn="l" rtl="0">
              <a:lnSpc>
                <a:spcPct val="115000"/>
              </a:lnSpc>
              <a:spcBef>
                <a:spcPts val="1200"/>
              </a:spcBef>
              <a:spcAft>
                <a:spcPts val="0"/>
              </a:spcAft>
              <a:buNone/>
            </a:pPr>
            <a:endParaRPr sz="1700" b="1"/>
          </a:p>
        </p:txBody>
      </p:sp>
      <p:sp>
        <p:nvSpPr>
          <p:cNvPr id="492" name="Google Shape;492;p39"/>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493" name="Google Shape;493;p39"/>
          <p:cNvSpPr/>
          <p:nvPr/>
        </p:nvSpPr>
        <p:spPr>
          <a:xfrm>
            <a:off x="1129650" y="327000"/>
            <a:ext cx="6884700" cy="5271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94" name="Google Shape;494;p39"/>
          <p:cNvSpPr txBox="1">
            <a:spLocks noGrp="1"/>
          </p:cNvSpPr>
          <p:nvPr>
            <p:ph type="title"/>
          </p:nvPr>
        </p:nvSpPr>
        <p:spPr>
          <a:xfrm>
            <a:off x="793500" y="293400"/>
            <a:ext cx="75570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Unutilized/Non-performing Stocks Analysis</a:t>
            </a:r>
            <a:endParaRPr>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40"/>
          <p:cNvSpPr/>
          <p:nvPr/>
        </p:nvSpPr>
        <p:spPr>
          <a:xfrm>
            <a:off x="1365500" y="966850"/>
            <a:ext cx="5338200" cy="4008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00" name="Google Shape;500;p40"/>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501" name="Google Shape;501;p40"/>
          <p:cNvSpPr/>
          <p:nvPr/>
        </p:nvSpPr>
        <p:spPr>
          <a:xfrm>
            <a:off x="1129650" y="327000"/>
            <a:ext cx="6884700" cy="5271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02" name="Google Shape;502;p40"/>
          <p:cNvSpPr txBox="1">
            <a:spLocks noGrp="1"/>
          </p:cNvSpPr>
          <p:nvPr>
            <p:ph type="title"/>
          </p:nvPr>
        </p:nvSpPr>
        <p:spPr>
          <a:xfrm>
            <a:off x="793500" y="293400"/>
            <a:ext cx="75570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Unutilized/Non-performing Stocks Analysis</a:t>
            </a:r>
            <a:endParaRPr>
              <a:solidFill>
                <a:schemeClr val="dk1"/>
              </a:solidFill>
            </a:endParaRPr>
          </a:p>
        </p:txBody>
      </p:sp>
      <p:sp>
        <p:nvSpPr>
          <p:cNvPr id="503" name="Google Shape;503;p40"/>
          <p:cNvSpPr txBox="1"/>
          <p:nvPr/>
        </p:nvSpPr>
        <p:spPr>
          <a:xfrm>
            <a:off x="578500" y="714575"/>
            <a:ext cx="6720300" cy="4222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 sz="1700" b="1"/>
              <a:t> 1️⃣1️⃣  </a:t>
            </a:r>
            <a:r>
              <a:rPr lang="en" sz="1700" b="1">
                <a:solidFill>
                  <a:schemeClr val="dk1"/>
                </a:solidFill>
              </a:rPr>
              <a:t>Stock D - Weak Performance But Decent Dividend</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3.5/10</a:t>
            </a:r>
            <a:br>
              <a:rPr lang="en" sz="1100" b="1">
                <a:latin typeface="Nunito"/>
                <a:ea typeface="Nunito"/>
                <a:cs typeface="Nunito"/>
                <a:sym typeface="Nunito"/>
              </a:rPr>
            </a:br>
            <a:r>
              <a:rPr lang="en" sz="1100">
                <a:latin typeface="Nunito"/>
                <a:ea typeface="Nunito"/>
                <a:cs typeface="Nunito"/>
                <a:sym typeface="Nunito"/>
              </a:rPr>
              <a:t> Stock D is </a:t>
            </a:r>
            <a:r>
              <a:rPr lang="en" sz="1100" b="1">
                <a:latin typeface="Nunito"/>
                <a:ea typeface="Nunito"/>
                <a:cs typeface="Nunito"/>
                <a:sym typeface="Nunito"/>
              </a:rPr>
              <a:t>not growing</a:t>
            </a:r>
            <a:r>
              <a:rPr lang="en" sz="1100">
                <a:latin typeface="Nunito"/>
                <a:ea typeface="Nunito"/>
                <a:cs typeface="Nunito"/>
                <a:sym typeface="Nunito"/>
              </a:rPr>
              <a:t>, but it </a:t>
            </a:r>
            <a:r>
              <a:rPr lang="en" sz="1100" b="1">
                <a:latin typeface="Nunito"/>
                <a:ea typeface="Nunito"/>
                <a:cs typeface="Nunito"/>
                <a:sym typeface="Nunito"/>
              </a:rPr>
              <a:t>pays a decent dividend</a:t>
            </a:r>
            <a:r>
              <a:rPr lang="en" sz="1100">
                <a:latin typeface="Nunito"/>
                <a:ea typeface="Nunito"/>
                <a:cs typeface="Nunito"/>
                <a:sym typeface="Nunito"/>
              </a:rPr>
              <a:t>.</a:t>
            </a:r>
            <a:endParaRPr sz="1100">
              <a:latin typeface="Nunito"/>
              <a:ea typeface="Nunito"/>
              <a:cs typeface="Nunito"/>
              <a:sym typeface="Nunito"/>
            </a:endParaRPr>
          </a:p>
          <a:p>
            <a:pPr marL="457200" lvl="0" indent="-298450" algn="l" rtl="0">
              <a:lnSpc>
                <a:spcPct val="115000"/>
              </a:lnSpc>
              <a:spcBef>
                <a:spcPts val="1200"/>
              </a:spcBef>
              <a:spcAft>
                <a:spcPts val="0"/>
              </a:spcAft>
              <a:buSzPts val="1100"/>
              <a:buChar char="●"/>
            </a:pPr>
            <a:r>
              <a:rPr lang="en" sz="1100" b="1">
                <a:latin typeface="Nunito"/>
                <a:ea typeface="Nunito"/>
                <a:cs typeface="Nunito"/>
                <a:sym typeface="Nunito"/>
              </a:rPr>
              <a:t>P/E Ratio:</a:t>
            </a:r>
            <a:r>
              <a:rPr lang="en" sz="1100">
                <a:latin typeface="Nunito"/>
                <a:ea typeface="Nunito"/>
                <a:cs typeface="Nunito"/>
                <a:sym typeface="Nunito"/>
              </a:rPr>
              <a:t> </a:t>
            </a:r>
            <a:r>
              <a:rPr lang="en" sz="1100" b="1">
                <a:latin typeface="Nunito"/>
                <a:ea typeface="Nunito"/>
                <a:cs typeface="Nunito"/>
                <a:sym typeface="Nunito"/>
              </a:rPr>
              <a:t>21.89</a:t>
            </a:r>
            <a:r>
              <a:rPr lang="en" sz="1100">
                <a:latin typeface="Nunito"/>
                <a:ea typeface="Nunito"/>
                <a:cs typeface="Nunito"/>
                <a:sym typeface="Nunito"/>
              </a:rPr>
              <a:t> (</a:t>
            </a:r>
            <a:r>
              <a:rPr lang="en" sz="1100" b="1">
                <a:latin typeface="Nunito"/>
                <a:ea typeface="Nunito"/>
                <a:cs typeface="Nunito"/>
                <a:sym typeface="Nunito"/>
              </a:rPr>
              <a:t>Overpriced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Revenue Growth:</a:t>
            </a:r>
            <a:r>
              <a:rPr lang="en" sz="1100">
                <a:latin typeface="Nunito"/>
                <a:ea typeface="Nunito"/>
                <a:cs typeface="Nunito"/>
                <a:sym typeface="Nunito"/>
              </a:rPr>
              <a:t> </a:t>
            </a:r>
            <a:r>
              <a:rPr lang="en" sz="1100" b="1">
                <a:latin typeface="Nunito"/>
                <a:ea typeface="Nunito"/>
                <a:cs typeface="Nunito"/>
                <a:sym typeface="Nunito"/>
              </a:rPr>
              <a:t>-3.9%</a:t>
            </a:r>
            <a:r>
              <a:rPr lang="en" sz="1100">
                <a:latin typeface="Nunito"/>
                <a:ea typeface="Nunito"/>
                <a:cs typeface="Nunito"/>
                <a:sym typeface="Nunito"/>
              </a:rPr>
              <a:t> (</a:t>
            </a:r>
            <a:r>
              <a:rPr lang="en" sz="1100" b="1">
                <a:latin typeface="Nunito"/>
                <a:ea typeface="Nunito"/>
                <a:cs typeface="Nunito"/>
                <a:sym typeface="Nunito"/>
              </a:rPr>
              <a:t>Declining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Growth:</a:t>
            </a:r>
            <a:r>
              <a:rPr lang="en" sz="1100">
                <a:latin typeface="Nunito"/>
                <a:ea typeface="Nunito"/>
                <a:cs typeface="Nunito"/>
                <a:sym typeface="Nunito"/>
              </a:rPr>
              <a:t> </a:t>
            </a:r>
            <a:r>
              <a:rPr lang="en" sz="1100" b="1">
                <a:latin typeface="Nunito"/>
                <a:ea typeface="Nunito"/>
                <a:cs typeface="Nunito"/>
                <a:sym typeface="Nunito"/>
              </a:rPr>
              <a:t>-7.4%</a:t>
            </a:r>
            <a:r>
              <a:rPr lang="en" sz="1100">
                <a:latin typeface="Nunito"/>
                <a:ea typeface="Nunito"/>
                <a:cs typeface="Nunito"/>
                <a:sym typeface="Nunito"/>
              </a:rPr>
              <a:t> (</a:t>
            </a:r>
            <a:r>
              <a:rPr lang="en" sz="1100" b="1">
                <a:latin typeface="Nunito"/>
                <a:ea typeface="Nunito"/>
                <a:cs typeface="Nunito"/>
                <a:sym typeface="Nunito"/>
              </a:rPr>
              <a:t>Negative Growth</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Net Profit Margin:</a:t>
            </a:r>
            <a:r>
              <a:rPr lang="en" sz="1100">
                <a:latin typeface="Nunito"/>
                <a:ea typeface="Nunito"/>
                <a:cs typeface="Nunito"/>
                <a:sym typeface="Nunito"/>
              </a:rPr>
              <a:t> </a:t>
            </a:r>
            <a:r>
              <a:rPr lang="en" sz="1100" b="1">
                <a:latin typeface="Nunito"/>
                <a:ea typeface="Nunito"/>
                <a:cs typeface="Nunito"/>
                <a:sym typeface="Nunito"/>
              </a:rPr>
              <a:t>10.5%</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Debt-to-EBITDA:</a:t>
            </a:r>
            <a:r>
              <a:rPr lang="en" sz="1100">
                <a:latin typeface="Nunito"/>
                <a:ea typeface="Nunito"/>
                <a:cs typeface="Nunito"/>
                <a:sym typeface="Nunito"/>
              </a:rPr>
              <a:t> </a:t>
            </a:r>
            <a:r>
              <a:rPr lang="en" sz="1100" b="1">
                <a:latin typeface="Nunito"/>
                <a:ea typeface="Nunito"/>
                <a:cs typeface="Nunito"/>
                <a:sym typeface="Nunito"/>
              </a:rPr>
              <a:t>3.25</a:t>
            </a:r>
            <a:r>
              <a:rPr lang="en" sz="1100">
                <a:latin typeface="Nunito"/>
                <a:ea typeface="Nunito"/>
                <a:cs typeface="Nunito"/>
                <a:sym typeface="Nunito"/>
              </a:rPr>
              <a:t> (</a:t>
            </a:r>
            <a:r>
              <a:rPr lang="en" sz="1100" b="1">
                <a:latin typeface="Nunito"/>
                <a:ea typeface="Nunito"/>
                <a:cs typeface="Nunito"/>
                <a:sym typeface="Nunito"/>
              </a:rPr>
              <a:t>High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Margin:</a:t>
            </a:r>
            <a:r>
              <a:rPr lang="en" sz="1100">
                <a:latin typeface="Nunito"/>
                <a:ea typeface="Nunito"/>
                <a:cs typeface="Nunito"/>
                <a:sym typeface="Nunito"/>
              </a:rPr>
              <a:t> </a:t>
            </a:r>
            <a:r>
              <a:rPr lang="en" sz="1100" b="1">
                <a:latin typeface="Nunito"/>
                <a:ea typeface="Nunito"/>
                <a:cs typeface="Nunito"/>
                <a:sym typeface="Nunito"/>
              </a:rPr>
              <a:t>18.5%</a:t>
            </a:r>
            <a:r>
              <a:rPr lang="en" sz="1100">
                <a:latin typeface="Nunito"/>
                <a:ea typeface="Nunito"/>
                <a:cs typeface="Nunito"/>
                <a:sym typeface="Nunito"/>
              </a:rPr>
              <a:t> (</a:t>
            </a:r>
            <a:r>
              <a:rPr lang="en" sz="1100" b="1">
                <a:latin typeface="Nunito"/>
                <a:ea typeface="Nunito"/>
                <a:cs typeface="Nunito"/>
                <a:sym typeface="Nunito"/>
              </a:rPr>
              <a:t>Average</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EPS Growth:</a:t>
            </a:r>
            <a:r>
              <a:rPr lang="en" sz="1100">
                <a:latin typeface="Nunito"/>
                <a:ea typeface="Nunito"/>
                <a:cs typeface="Nunito"/>
                <a:sym typeface="Nunito"/>
              </a:rPr>
              <a:t> </a:t>
            </a:r>
            <a:r>
              <a:rPr lang="en" sz="1100" b="1">
                <a:latin typeface="Nunito"/>
                <a:ea typeface="Nunito"/>
                <a:cs typeface="Nunito"/>
                <a:sym typeface="Nunito"/>
              </a:rPr>
              <a:t>+3.7%</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Interest Coverage Ratio:</a:t>
            </a:r>
            <a:r>
              <a:rPr lang="en" sz="1100">
                <a:latin typeface="Nunito"/>
                <a:ea typeface="Nunito"/>
                <a:cs typeface="Nunito"/>
                <a:sym typeface="Nunito"/>
              </a:rPr>
              <a:t> </a:t>
            </a:r>
            <a:r>
              <a:rPr lang="en" sz="1100" b="1">
                <a:latin typeface="Nunito"/>
                <a:ea typeface="Nunito"/>
                <a:cs typeface="Nunito"/>
                <a:sym typeface="Nunito"/>
              </a:rPr>
              <a:t>3.2</a:t>
            </a:r>
            <a:r>
              <a:rPr lang="en" sz="1100">
                <a:latin typeface="Nunito"/>
                <a:ea typeface="Nunito"/>
                <a:cs typeface="Nunito"/>
                <a:sym typeface="Nunito"/>
              </a:rPr>
              <a:t> (</a:t>
            </a:r>
            <a:r>
              <a:rPr lang="en" sz="1100" b="1">
                <a:latin typeface="Nunito"/>
                <a:ea typeface="Nunito"/>
                <a:cs typeface="Nunito"/>
                <a:sym typeface="Nunito"/>
              </a:rPr>
              <a:t>Risky</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Dividend Yield:</a:t>
            </a:r>
            <a:r>
              <a:rPr lang="en" sz="1100">
                <a:latin typeface="Nunito"/>
                <a:ea typeface="Nunito"/>
                <a:cs typeface="Nunito"/>
                <a:sym typeface="Nunito"/>
              </a:rPr>
              <a:t> </a:t>
            </a:r>
            <a:r>
              <a:rPr lang="en" sz="1100" b="1">
                <a:latin typeface="Nunito"/>
                <a:ea typeface="Nunito"/>
                <a:cs typeface="Nunito"/>
                <a:sym typeface="Nunito"/>
              </a:rPr>
              <a:t>5.81%</a:t>
            </a:r>
            <a:r>
              <a:rPr lang="en" sz="1100">
                <a:latin typeface="Nunito"/>
                <a:ea typeface="Nunito"/>
                <a:cs typeface="Nunito"/>
                <a:sym typeface="Nunito"/>
              </a:rPr>
              <a:t> (</a:t>
            </a:r>
            <a:r>
              <a:rPr lang="en" sz="1100" b="1">
                <a:latin typeface="Nunito"/>
                <a:ea typeface="Nunito"/>
                <a:cs typeface="Nunito"/>
                <a:sym typeface="Nunito"/>
              </a:rPr>
              <a:t>Good Yield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ROE:</a:t>
            </a:r>
            <a:r>
              <a:rPr lang="en" sz="1100">
                <a:latin typeface="Nunito"/>
                <a:ea typeface="Nunito"/>
                <a:cs typeface="Nunito"/>
                <a:sym typeface="Nunito"/>
              </a:rPr>
              <a:t> </a:t>
            </a:r>
            <a:r>
              <a:rPr lang="en" sz="1100" b="1">
                <a:latin typeface="Nunito"/>
                <a:ea typeface="Nunito"/>
                <a:cs typeface="Nunito"/>
                <a:sym typeface="Nunito"/>
              </a:rPr>
              <a:t>-9.39%</a:t>
            </a:r>
            <a:r>
              <a:rPr lang="en" sz="1100">
                <a:latin typeface="Nunito"/>
                <a:ea typeface="Nunito"/>
                <a:cs typeface="Nunito"/>
                <a:sym typeface="Nunito"/>
              </a:rPr>
              <a:t> (</a:t>
            </a:r>
            <a:r>
              <a:rPr lang="en" sz="1100" b="1">
                <a:latin typeface="Nunito"/>
                <a:ea typeface="Nunito"/>
                <a:cs typeface="Nunito"/>
                <a:sym typeface="Nunito"/>
              </a:rPr>
              <a:t>Loss-Making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ROIC:</a:t>
            </a:r>
            <a:r>
              <a:rPr lang="en" sz="1100">
                <a:latin typeface="Nunito"/>
                <a:ea typeface="Nunito"/>
                <a:cs typeface="Nunito"/>
                <a:sym typeface="Nunito"/>
              </a:rPr>
              <a:t> </a:t>
            </a:r>
            <a:r>
              <a:rPr lang="en" sz="1100" b="1">
                <a:latin typeface="Nunito"/>
                <a:ea typeface="Nunito"/>
                <a:cs typeface="Nunito"/>
                <a:sym typeface="Nunito"/>
              </a:rPr>
              <a:t>5.02%</a:t>
            </a:r>
            <a:r>
              <a:rPr lang="en" sz="1100">
                <a:latin typeface="Nunito"/>
                <a:ea typeface="Nunito"/>
                <a:cs typeface="Nunito"/>
                <a:sym typeface="Nunito"/>
              </a:rPr>
              <a:t> (</a:t>
            </a:r>
            <a:r>
              <a:rPr lang="en" sz="1100" b="1">
                <a:latin typeface="Nunito"/>
                <a:ea typeface="Nunito"/>
                <a:cs typeface="Nunito"/>
                <a:sym typeface="Nunito"/>
              </a:rPr>
              <a:t>Decent</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ROA:</a:t>
            </a:r>
            <a:r>
              <a:rPr lang="en" sz="1100">
                <a:latin typeface="Nunito"/>
                <a:ea typeface="Nunito"/>
                <a:cs typeface="Nunito"/>
                <a:sym typeface="Nunito"/>
              </a:rPr>
              <a:t> </a:t>
            </a:r>
            <a:r>
              <a:rPr lang="en" sz="1100" b="1">
                <a:latin typeface="Nunito"/>
                <a:ea typeface="Nunito"/>
                <a:cs typeface="Nunito"/>
                <a:sym typeface="Nunito"/>
              </a:rPr>
              <a:t>-13.86%</a:t>
            </a:r>
            <a:r>
              <a:rPr lang="en" sz="1100">
                <a:latin typeface="Nunito"/>
                <a:ea typeface="Nunito"/>
                <a:cs typeface="Nunito"/>
                <a:sym typeface="Nunito"/>
              </a:rPr>
              <a:t> (</a:t>
            </a:r>
            <a:r>
              <a:rPr lang="en" sz="1100" b="1">
                <a:latin typeface="Nunito"/>
                <a:ea typeface="Nunito"/>
                <a:cs typeface="Nunito"/>
                <a:sym typeface="Nunito"/>
              </a:rPr>
              <a:t>Poor</a:t>
            </a:r>
            <a:r>
              <a:rPr lang="en" sz="1100">
                <a:latin typeface="Nunito"/>
                <a:ea typeface="Nunito"/>
                <a:cs typeface="Nunito"/>
                <a:sym typeface="Nunito"/>
              </a:rPr>
              <a:t> ❌)</a:t>
            </a:r>
            <a:endParaRPr sz="1100">
              <a:latin typeface="Nunito"/>
              <a:ea typeface="Nunito"/>
              <a:cs typeface="Nunito"/>
              <a:sym typeface="Nunito"/>
            </a:endParaRPr>
          </a:p>
          <a:p>
            <a:pPr marL="0" lvl="0" indent="0" algn="l" rtl="0">
              <a:lnSpc>
                <a:spcPct val="115000"/>
              </a:lnSpc>
              <a:spcBef>
                <a:spcPts val="1200"/>
              </a:spcBef>
              <a:spcAft>
                <a:spcPts val="0"/>
              </a:spcAft>
              <a:buNone/>
            </a:pPr>
            <a:r>
              <a:rPr lang="en" sz="1100">
                <a:latin typeface="Nunito"/>
                <a:ea typeface="Nunito"/>
                <a:cs typeface="Nunito"/>
                <a:sym typeface="Nunito"/>
              </a:rPr>
              <a:t>📌 </a:t>
            </a:r>
            <a:r>
              <a:rPr lang="en" sz="1100" b="1">
                <a:latin typeface="Nunito"/>
                <a:ea typeface="Nunito"/>
                <a:cs typeface="Nunito"/>
                <a:sym typeface="Nunito"/>
              </a:rPr>
              <a:t>Final Verdict:</a:t>
            </a:r>
            <a:r>
              <a:rPr lang="en" sz="1100">
                <a:latin typeface="Nunito"/>
                <a:ea typeface="Nunito"/>
                <a:cs typeface="Nunito"/>
                <a:sym typeface="Nunito"/>
              </a:rPr>
              <a:t> ⚠️ </a:t>
            </a:r>
            <a:r>
              <a:rPr lang="en" sz="1100" b="1">
                <a:latin typeface="Nunito"/>
                <a:ea typeface="Nunito"/>
                <a:cs typeface="Nunito"/>
                <a:sym typeface="Nunito"/>
              </a:rPr>
              <a:t>Not a great stock, but the dividend may be attractive to income investors.</a:t>
            </a:r>
            <a:endParaRPr sz="1100" b="1">
              <a:latin typeface="Nunito"/>
              <a:ea typeface="Nunito"/>
              <a:cs typeface="Nunito"/>
              <a:sym typeface="Nunito"/>
            </a:endParaRPr>
          </a:p>
          <a:p>
            <a:pPr marL="0" lvl="0" indent="0" algn="l" rtl="0">
              <a:lnSpc>
                <a:spcPct val="115000"/>
              </a:lnSpc>
              <a:spcBef>
                <a:spcPts val="1200"/>
              </a:spcBef>
              <a:spcAft>
                <a:spcPts val="0"/>
              </a:spcAft>
              <a:buNone/>
            </a:pPr>
            <a:endParaRPr sz="1300" b="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41"/>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41"/>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510" name="Google Shape;510;p41"/>
          <p:cNvSpPr/>
          <p:nvPr/>
        </p:nvSpPr>
        <p:spPr>
          <a:xfrm>
            <a:off x="1342575" y="932475"/>
            <a:ext cx="3917700" cy="4419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11" name="Google Shape;511;p41"/>
          <p:cNvSpPr txBox="1"/>
          <p:nvPr/>
        </p:nvSpPr>
        <p:spPr>
          <a:xfrm>
            <a:off x="598820" y="785695"/>
            <a:ext cx="6720300" cy="4738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t> </a:t>
            </a:r>
            <a:r>
              <a:rPr lang="en" sz="1700" b="1"/>
              <a:t>1️⃣2️⃣  </a:t>
            </a:r>
            <a:r>
              <a:rPr lang="en" sz="1700" b="1">
                <a:solidFill>
                  <a:schemeClr val="dk1"/>
                </a:solidFill>
              </a:rPr>
              <a:t>Stock K - Expensive &amp; High Debt</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3.0/10</a:t>
            </a:r>
            <a:br>
              <a:rPr lang="en" sz="1100" b="1">
                <a:latin typeface="Nunito"/>
                <a:ea typeface="Nunito"/>
                <a:cs typeface="Nunito"/>
                <a:sym typeface="Nunito"/>
              </a:rPr>
            </a:br>
            <a:r>
              <a:rPr lang="en" sz="1100">
                <a:latin typeface="Nunito"/>
                <a:ea typeface="Nunito"/>
                <a:cs typeface="Nunito"/>
                <a:sym typeface="Nunito"/>
              </a:rPr>
              <a:t> Stock K is </a:t>
            </a:r>
            <a:r>
              <a:rPr lang="en" sz="1100" b="1">
                <a:latin typeface="Nunito"/>
                <a:ea typeface="Nunito"/>
                <a:cs typeface="Nunito"/>
                <a:sym typeface="Nunito"/>
              </a:rPr>
              <a:t>overvalued and has a high debt burden</a:t>
            </a:r>
            <a:r>
              <a:rPr lang="en" sz="1100">
                <a:latin typeface="Nunito"/>
                <a:ea typeface="Nunito"/>
                <a:cs typeface="Nunito"/>
                <a:sym typeface="Nunito"/>
              </a:rPr>
              <a:t>, making it risky.</a:t>
            </a:r>
            <a:endParaRPr sz="1100">
              <a:latin typeface="Nunito"/>
              <a:ea typeface="Nunito"/>
              <a:cs typeface="Nunito"/>
              <a:sym typeface="Nunito"/>
            </a:endParaRPr>
          </a:p>
          <a:p>
            <a:pPr marL="457200" lvl="0" indent="-298450" algn="l" rtl="0">
              <a:lnSpc>
                <a:spcPct val="115000"/>
              </a:lnSpc>
              <a:spcBef>
                <a:spcPts val="1200"/>
              </a:spcBef>
              <a:spcAft>
                <a:spcPts val="0"/>
              </a:spcAft>
              <a:buSzPts val="1100"/>
              <a:buChar char="●"/>
            </a:pPr>
            <a:r>
              <a:rPr lang="en" sz="1100" b="1">
                <a:latin typeface="Nunito"/>
                <a:ea typeface="Nunito"/>
                <a:cs typeface="Nunito"/>
                <a:sym typeface="Nunito"/>
              </a:rPr>
              <a:t>P/E Ratio:</a:t>
            </a:r>
            <a:r>
              <a:rPr lang="en" sz="1100">
                <a:latin typeface="Nunito"/>
                <a:ea typeface="Nunito"/>
                <a:cs typeface="Nunito"/>
                <a:sym typeface="Nunito"/>
              </a:rPr>
              <a:t> </a:t>
            </a:r>
            <a:r>
              <a:rPr lang="en" sz="1100" b="1">
                <a:latin typeface="Nunito"/>
                <a:ea typeface="Nunito"/>
                <a:cs typeface="Nunito"/>
                <a:sym typeface="Nunito"/>
              </a:rPr>
              <a:t>32.17</a:t>
            </a:r>
            <a:r>
              <a:rPr lang="en" sz="1100">
                <a:latin typeface="Nunito"/>
                <a:ea typeface="Nunito"/>
                <a:cs typeface="Nunito"/>
                <a:sym typeface="Nunito"/>
              </a:rPr>
              <a:t> (</a:t>
            </a:r>
            <a:r>
              <a:rPr lang="en" sz="1100" b="1">
                <a:latin typeface="Nunito"/>
                <a:ea typeface="Nunito"/>
                <a:cs typeface="Nunito"/>
                <a:sym typeface="Nunito"/>
              </a:rPr>
              <a:t>Overvalued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Revenue Growth:</a:t>
            </a:r>
            <a:r>
              <a:rPr lang="en" sz="1100">
                <a:latin typeface="Nunito"/>
                <a:ea typeface="Nunito"/>
                <a:cs typeface="Nunito"/>
                <a:sym typeface="Nunito"/>
              </a:rPr>
              <a:t> </a:t>
            </a:r>
            <a:r>
              <a:rPr lang="en" sz="1100" b="1">
                <a:latin typeface="Nunito"/>
                <a:ea typeface="Nunito"/>
                <a:cs typeface="Nunito"/>
                <a:sym typeface="Nunito"/>
              </a:rPr>
              <a:t>+1.1%</a:t>
            </a:r>
            <a:r>
              <a:rPr lang="en" sz="1100">
                <a:latin typeface="Nunito"/>
                <a:ea typeface="Nunito"/>
                <a:cs typeface="Nunito"/>
                <a:sym typeface="Nunito"/>
              </a:rPr>
              <a:t> (</a:t>
            </a:r>
            <a:r>
              <a:rPr lang="en" sz="1100" b="1">
                <a:latin typeface="Nunito"/>
                <a:ea typeface="Nunito"/>
                <a:cs typeface="Nunito"/>
                <a:sym typeface="Nunito"/>
              </a:rPr>
              <a:t>Very Low Growth</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Growth:</a:t>
            </a:r>
            <a:r>
              <a:rPr lang="en" sz="1100">
                <a:latin typeface="Nunito"/>
                <a:ea typeface="Nunito"/>
                <a:cs typeface="Nunito"/>
                <a:sym typeface="Nunito"/>
              </a:rPr>
              <a:t> </a:t>
            </a:r>
            <a:r>
              <a:rPr lang="en" sz="1100" b="1">
                <a:latin typeface="Nunito"/>
                <a:ea typeface="Nunito"/>
                <a:cs typeface="Nunito"/>
                <a:sym typeface="Nunito"/>
              </a:rPr>
              <a:t>-4.2%</a:t>
            </a:r>
            <a:r>
              <a:rPr lang="en" sz="1100">
                <a:latin typeface="Nunito"/>
                <a:ea typeface="Nunito"/>
                <a:cs typeface="Nunito"/>
                <a:sym typeface="Nunito"/>
              </a:rPr>
              <a:t> (</a:t>
            </a:r>
            <a:r>
              <a:rPr lang="en" sz="1100" b="1">
                <a:latin typeface="Nunito"/>
                <a:ea typeface="Nunito"/>
                <a:cs typeface="Nunito"/>
                <a:sym typeface="Nunito"/>
              </a:rPr>
              <a:t>Negative</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Net Profit Margin:</a:t>
            </a:r>
            <a:r>
              <a:rPr lang="en" sz="1100">
                <a:latin typeface="Nunito"/>
                <a:ea typeface="Nunito"/>
                <a:cs typeface="Nunito"/>
                <a:sym typeface="Nunito"/>
              </a:rPr>
              <a:t> </a:t>
            </a:r>
            <a:r>
              <a:rPr lang="en" sz="1100" b="1">
                <a:latin typeface="Nunito"/>
                <a:ea typeface="Nunito"/>
                <a:cs typeface="Nunito"/>
                <a:sym typeface="Nunito"/>
              </a:rPr>
              <a:t>11.8%</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Debt-to-EBITDA:</a:t>
            </a:r>
            <a:r>
              <a:rPr lang="en" sz="1100">
                <a:latin typeface="Nunito"/>
                <a:ea typeface="Nunito"/>
                <a:cs typeface="Nunito"/>
                <a:sym typeface="Nunito"/>
              </a:rPr>
              <a:t> </a:t>
            </a:r>
            <a:r>
              <a:rPr lang="en" sz="1100" b="1">
                <a:latin typeface="Nunito"/>
                <a:ea typeface="Nunito"/>
                <a:cs typeface="Nunito"/>
                <a:sym typeface="Nunito"/>
              </a:rPr>
              <a:t>3.50</a:t>
            </a:r>
            <a:r>
              <a:rPr lang="en" sz="1100">
                <a:latin typeface="Nunito"/>
                <a:ea typeface="Nunito"/>
                <a:cs typeface="Nunito"/>
                <a:sym typeface="Nunito"/>
              </a:rPr>
              <a:t> (</a:t>
            </a:r>
            <a:r>
              <a:rPr lang="en" sz="1100" b="1">
                <a:latin typeface="Nunito"/>
                <a:ea typeface="Nunito"/>
                <a:cs typeface="Nunito"/>
                <a:sym typeface="Nunito"/>
              </a:rPr>
              <a:t>High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Margin:</a:t>
            </a:r>
            <a:r>
              <a:rPr lang="en" sz="1100">
                <a:latin typeface="Nunito"/>
                <a:ea typeface="Nunito"/>
                <a:cs typeface="Nunito"/>
                <a:sym typeface="Nunito"/>
              </a:rPr>
              <a:t> </a:t>
            </a:r>
            <a:r>
              <a:rPr lang="en" sz="1100" b="1">
                <a:latin typeface="Nunito"/>
                <a:ea typeface="Nunito"/>
                <a:cs typeface="Nunito"/>
                <a:sym typeface="Nunito"/>
              </a:rPr>
              <a:t>16.9%</a:t>
            </a:r>
            <a:r>
              <a:rPr lang="en" sz="1100">
                <a:latin typeface="Nunito"/>
                <a:ea typeface="Nunito"/>
                <a:cs typeface="Nunito"/>
                <a:sym typeface="Nunito"/>
              </a:rPr>
              <a:t> (</a:t>
            </a:r>
            <a:r>
              <a:rPr lang="en" sz="1100" b="1">
                <a:latin typeface="Nunito"/>
                <a:ea typeface="Nunito"/>
                <a:cs typeface="Nunito"/>
                <a:sym typeface="Nunito"/>
              </a:rPr>
              <a:t>Low</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EPS Growth:</a:t>
            </a:r>
            <a:r>
              <a:rPr lang="en" sz="1100">
                <a:latin typeface="Nunito"/>
                <a:ea typeface="Nunito"/>
                <a:cs typeface="Nunito"/>
                <a:sym typeface="Nunito"/>
              </a:rPr>
              <a:t> </a:t>
            </a:r>
            <a:r>
              <a:rPr lang="en" sz="1100" b="1">
                <a:latin typeface="Nunito"/>
                <a:ea typeface="Nunito"/>
                <a:cs typeface="Nunito"/>
                <a:sym typeface="Nunito"/>
              </a:rPr>
              <a:t>+2.1%</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Interest Coverage Ratio:</a:t>
            </a:r>
            <a:r>
              <a:rPr lang="en" sz="1100">
                <a:latin typeface="Nunito"/>
                <a:ea typeface="Nunito"/>
                <a:cs typeface="Nunito"/>
                <a:sym typeface="Nunito"/>
              </a:rPr>
              <a:t> </a:t>
            </a:r>
            <a:r>
              <a:rPr lang="en" sz="1100" b="1">
                <a:latin typeface="Nunito"/>
                <a:ea typeface="Nunito"/>
                <a:cs typeface="Nunito"/>
                <a:sym typeface="Nunito"/>
              </a:rPr>
              <a:t>2.8</a:t>
            </a:r>
            <a:r>
              <a:rPr lang="en" sz="1100">
                <a:latin typeface="Nunito"/>
                <a:ea typeface="Nunito"/>
                <a:cs typeface="Nunito"/>
                <a:sym typeface="Nunito"/>
              </a:rPr>
              <a:t> (</a:t>
            </a:r>
            <a:r>
              <a:rPr lang="en" sz="1100" b="1">
                <a:latin typeface="Nunito"/>
                <a:ea typeface="Nunito"/>
                <a:cs typeface="Nunito"/>
                <a:sym typeface="Nunito"/>
              </a:rPr>
              <a:t>Risky</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Dividend Yield:</a:t>
            </a:r>
            <a:r>
              <a:rPr lang="en" sz="1100">
                <a:latin typeface="Nunito"/>
                <a:ea typeface="Nunito"/>
                <a:cs typeface="Nunito"/>
                <a:sym typeface="Nunito"/>
              </a:rPr>
              <a:t> </a:t>
            </a:r>
            <a:r>
              <a:rPr lang="en" sz="1100" b="1">
                <a:latin typeface="Nunito"/>
                <a:ea typeface="Nunito"/>
                <a:cs typeface="Nunito"/>
                <a:sym typeface="Nunito"/>
              </a:rPr>
              <a:t>2.73%</a:t>
            </a:r>
            <a:r>
              <a:rPr lang="en" sz="1100">
                <a:latin typeface="Nunito"/>
                <a:ea typeface="Nunito"/>
                <a:cs typeface="Nunito"/>
                <a:sym typeface="Nunito"/>
              </a:rPr>
              <a:t> (</a:t>
            </a:r>
            <a:r>
              <a:rPr lang="en" sz="1100" b="1">
                <a:latin typeface="Nunito"/>
                <a:ea typeface="Nunito"/>
                <a:cs typeface="Nunito"/>
                <a:sym typeface="Nunito"/>
              </a:rPr>
              <a:t>Low Yield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ROE:</a:t>
            </a:r>
            <a:r>
              <a:rPr lang="en" sz="1100">
                <a:latin typeface="Nunito"/>
                <a:ea typeface="Nunito"/>
                <a:cs typeface="Nunito"/>
                <a:sym typeface="Nunito"/>
              </a:rPr>
              <a:t> </a:t>
            </a:r>
            <a:r>
              <a:rPr lang="en" sz="1100" b="1">
                <a:latin typeface="Nunito"/>
                <a:ea typeface="Nunito"/>
                <a:cs typeface="Nunito"/>
                <a:sym typeface="Nunito"/>
              </a:rPr>
              <a:t>19.47%</a:t>
            </a:r>
            <a:r>
              <a:rPr lang="en" sz="1100">
                <a:latin typeface="Nunito"/>
                <a:ea typeface="Nunito"/>
                <a:cs typeface="Nunito"/>
                <a:sym typeface="Nunito"/>
              </a:rPr>
              <a:t> (</a:t>
            </a:r>
            <a:r>
              <a:rPr lang="en" sz="1100" b="1">
                <a:latin typeface="Nunito"/>
                <a:ea typeface="Nunito"/>
                <a:cs typeface="Nunito"/>
                <a:sym typeface="Nunito"/>
              </a:rPr>
              <a:t>Strong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ROIC:</a:t>
            </a:r>
            <a:r>
              <a:rPr lang="en" sz="1100">
                <a:latin typeface="Nunito"/>
                <a:ea typeface="Nunito"/>
                <a:cs typeface="Nunito"/>
                <a:sym typeface="Nunito"/>
              </a:rPr>
              <a:t> </a:t>
            </a:r>
            <a:r>
              <a:rPr lang="en" sz="1100" b="1">
                <a:latin typeface="Nunito"/>
                <a:ea typeface="Nunito"/>
                <a:cs typeface="Nunito"/>
                <a:sym typeface="Nunito"/>
              </a:rPr>
              <a:t>-6.92%</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ROA:</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0" lvl="0" indent="0" algn="l" rtl="0">
              <a:lnSpc>
                <a:spcPct val="115000"/>
              </a:lnSpc>
              <a:spcBef>
                <a:spcPts val="1200"/>
              </a:spcBef>
              <a:spcAft>
                <a:spcPts val="0"/>
              </a:spcAft>
              <a:buNone/>
            </a:pPr>
            <a:r>
              <a:rPr lang="en" sz="1100">
                <a:latin typeface="Nunito"/>
                <a:ea typeface="Nunito"/>
                <a:cs typeface="Nunito"/>
                <a:sym typeface="Nunito"/>
              </a:rPr>
              <a:t>📌 </a:t>
            </a:r>
            <a:r>
              <a:rPr lang="en" sz="1100" b="1">
                <a:latin typeface="Nunito"/>
                <a:ea typeface="Nunito"/>
                <a:cs typeface="Nunito"/>
                <a:sym typeface="Nunito"/>
              </a:rPr>
              <a:t>Final Verdict:</a:t>
            </a:r>
            <a:r>
              <a:rPr lang="en" sz="1100">
                <a:latin typeface="Nunito"/>
                <a:ea typeface="Nunito"/>
                <a:cs typeface="Nunito"/>
                <a:sym typeface="Nunito"/>
              </a:rPr>
              <a:t> ❌ </a:t>
            </a:r>
            <a:r>
              <a:rPr lang="en" sz="1100" b="1">
                <a:latin typeface="Nunito"/>
                <a:ea typeface="Nunito"/>
                <a:cs typeface="Nunito"/>
                <a:sym typeface="Nunito"/>
              </a:rPr>
              <a:t>Too expensive with high debt. Avoid.</a:t>
            </a:r>
            <a:endParaRPr sz="1100" b="1">
              <a:latin typeface="Nunito"/>
              <a:ea typeface="Nunito"/>
              <a:cs typeface="Nunito"/>
              <a:sym typeface="Nunito"/>
            </a:endParaRPr>
          </a:p>
          <a:p>
            <a:pPr marL="0" lvl="0" indent="0" algn="l" rtl="0">
              <a:lnSpc>
                <a:spcPct val="115000"/>
              </a:lnSpc>
              <a:spcBef>
                <a:spcPts val="1200"/>
              </a:spcBef>
              <a:spcAft>
                <a:spcPts val="0"/>
              </a:spcAft>
              <a:buNone/>
            </a:pPr>
            <a:r>
              <a:rPr lang="en" sz="1700" b="1"/>
              <a:t> </a:t>
            </a:r>
            <a:endParaRPr sz="1700" b="1"/>
          </a:p>
          <a:p>
            <a:pPr marL="0" lvl="0" indent="0" algn="l" rtl="0">
              <a:lnSpc>
                <a:spcPct val="115000"/>
              </a:lnSpc>
              <a:spcBef>
                <a:spcPts val="1200"/>
              </a:spcBef>
              <a:spcAft>
                <a:spcPts val="0"/>
              </a:spcAft>
              <a:buNone/>
            </a:pPr>
            <a:endParaRPr sz="1700" b="1"/>
          </a:p>
        </p:txBody>
      </p:sp>
      <p:sp>
        <p:nvSpPr>
          <p:cNvPr id="512" name="Google Shape;512;p41"/>
          <p:cNvSpPr/>
          <p:nvPr/>
        </p:nvSpPr>
        <p:spPr>
          <a:xfrm>
            <a:off x="1129650" y="327000"/>
            <a:ext cx="6884700" cy="5271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13" name="Google Shape;513;p41"/>
          <p:cNvSpPr txBox="1">
            <a:spLocks noGrp="1"/>
          </p:cNvSpPr>
          <p:nvPr>
            <p:ph type="title"/>
          </p:nvPr>
        </p:nvSpPr>
        <p:spPr>
          <a:xfrm>
            <a:off x="793500" y="293400"/>
            <a:ext cx="75570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Unutilized/Non-performing Stocks Analysis</a:t>
            </a:r>
            <a:endParaRPr>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42"/>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42"/>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520" name="Google Shape;520;p42"/>
          <p:cNvSpPr/>
          <p:nvPr/>
        </p:nvSpPr>
        <p:spPr>
          <a:xfrm>
            <a:off x="1365500" y="932475"/>
            <a:ext cx="3574200" cy="4581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21" name="Google Shape;521;p42"/>
          <p:cNvSpPr txBox="1"/>
          <p:nvPr/>
        </p:nvSpPr>
        <p:spPr>
          <a:xfrm>
            <a:off x="578500" y="785695"/>
            <a:ext cx="6720300" cy="4283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t> </a:t>
            </a:r>
            <a:r>
              <a:rPr lang="en" sz="1700" b="1"/>
              <a:t>1️⃣3️⃣   </a:t>
            </a:r>
            <a:r>
              <a:rPr lang="en" sz="1700" b="1">
                <a:solidFill>
                  <a:schemeClr val="dk1"/>
                </a:solidFill>
              </a:rPr>
              <a:t>Stock R - Declining Profitability</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2.8/10</a:t>
            </a:r>
            <a:br>
              <a:rPr lang="en" sz="1100" b="1">
                <a:solidFill>
                  <a:schemeClr val="accent1"/>
                </a:solidFill>
                <a:latin typeface="Nunito"/>
                <a:ea typeface="Nunito"/>
                <a:cs typeface="Nunito"/>
                <a:sym typeface="Nunito"/>
              </a:rPr>
            </a:br>
            <a:r>
              <a:rPr lang="en" sz="1100">
                <a:solidFill>
                  <a:schemeClr val="accent1"/>
                </a:solidFill>
                <a:latin typeface="Nunito"/>
                <a:ea typeface="Nunito"/>
                <a:cs typeface="Nunito"/>
                <a:sym typeface="Nunito"/>
              </a:rPr>
              <a:t> </a:t>
            </a:r>
            <a:r>
              <a:rPr lang="en" sz="1100">
                <a:latin typeface="Nunito"/>
                <a:ea typeface="Nunito"/>
                <a:cs typeface="Nunito"/>
                <a:sym typeface="Nunito"/>
              </a:rPr>
              <a:t>Stock R has </a:t>
            </a:r>
            <a:r>
              <a:rPr lang="en" sz="1100" b="1">
                <a:latin typeface="Nunito"/>
                <a:ea typeface="Nunito"/>
                <a:cs typeface="Nunito"/>
                <a:sym typeface="Nunito"/>
              </a:rPr>
              <a:t>weak earnings, declining profitability, and high debt levels</a:t>
            </a:r>
            <a:r>
              <a:rPr lang="en" sz="1100">
                <a:latin typeface="Nunito"/>
                <a:ea typeface="Nunito"/>
                <a:cs typeface="Nunito"/>
                <a:sym typeface="Nunito"/>
              </a:rPr>
              <a:t>.</a:t>
            </a:r>
            <a:endParaRPr sz="1100">
              <a:latin typeface="Nunito"/>
              <a:ea typeface="Nunito"/>
              <a:cs typeface="Nunito"/>
              <a:sym typeface="Nunito"/>
            </a:endParaRPr>
          </a:p>
          <a:p>
            <a:pPr marL="457200" lvl="0" indent="-298450" algn="l" rtl="0">
              <a:lnSpc>
                <a:spcPct val="115000"/>
              </a:lnSpc>
              <a:spcBef>
                <a:spcPts val="1200"/>
              </a:spcBef>
              <a:spcAft>
                <a:spcPts val="0"/>
              </a:spcAft>
              <a:buSzPts val="1100"/>
              <a:buChar char="●"/>
            </a:pPr>
            <a:r>
              <a:rPr lang="en" sz="1100" b="1">
                <a:latin typeface="Nunito"/>
                <a:ea typeface="Nunito"/>
                <a:cs typeface="Nunito"/>
                <a:sym typeface="Nunito"/>
              </a:rPr>
              <a:t>P/E Ratio:</a:t>
            </a:r>
            <a:r>
              <a:rPr lang="en" sz="1100">
                <a:latin typeface="Nunito"/>
                <a:ea typeface="Nunito"/>
                <a:cs typeface="Nunito"/>
                <a:sym typeface="Nunito"/>
              </a:rPr>
              <a:t> </a:t>
            </a:r>
            <a:r>
              <a:rPr lang="en" sz="1100" b="1">
                <a:latin typeface="Nunito"/>
                <a:ea typeface="Nunito"/>
                <a:cs typeface="Nunito"/>
                <a:sym typeface="Nunito"/>
              </a:rPr>
              <a:t>18.95</a:t>
            </a:r>
            <a:r>
              <a:rPr lang="en" sz="1100">
                <a:latin typeface="Nunito"/>
                <a:ea typeface="Nunito"/>
                <a:cs typeface="Nunito"/>
                <a:sym typeface="Nunito"/>
              </a:rPr>
              <a:t> (</a:t>
            </a:r>
            <a:r>
              <a:rPr lang="en" sz="1100" b="1">
                <a:latin typeface="Nunito"/>
                <a:ea typeface="Nunito"/>
                <a:cs typeface="Nunito"/>
                <a:sym typeface="Nunito"/>
              </a:rPr>
              <a:t>Overvalued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Revenue Growth:</a:t>
            </a:r>
            <a:r>
              <a:rPr lang="en" sz="1100">
                <a:latin typeface="Nunito"/>
                <a:ea typeface="Nunito"/>
                <a:cs typeface="Nunito"/>
                <a:sym typeface="Nunito"/>
              </a:rPr>
              <a:t> </a:t>
            </a:r>
            <a:r>
              <a:rPr lang="en" sz="1100" b="1">
                <a:latin typeface="Nunito"/>
                <a:ea typeface="Nunito"/>
                <a:cs typeface="Nunito"/>
                <a:sym typeface="Nunito"/>
              </a:rPr>
              <a:t>-6.7%</a:t>
            </a:r>
            <a:r>
              <a:rPr lang="en" sz="1100">
                <a:latin typeface="Nunito"/>
                <a:ea typeface="Nunito"/>
                <a:cs typeface="Nunito"/>
                <a:sym typeface="Nunito"/>
              </a:rPr>
              <a:t> (</a:t>
            </a:r>
            <a:r>
              <a:rPr lang="en" sz="1100" b="1">
                <a:latin typeface="Nunito"/>
                <a:ea typeface="Nunito"/>
                <a:cs typeface="Nunito"/>
                <a:sym typeface="Nunito"/>
              </a:rPr>
              <a:t>Declining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Growth:</a:t>
            </a:r>
            <a:r>
              <a:rPr lang="en" sz="1100">
                <a:latin typeface="Nunito"/>
                <a:ea typeface="Nunito"/>
                <a:cs typeface="Nunito"/>
                <a:sym typeface="Nunito"/>
              </a:rPr>
              <a:t> </a:t>
            </a:r>
            <a:r>
              <a:rPr lang="en" sz="1100" b="1">
                <a:latin typeface="Nunito"/>
                <a:ea typeface="Nunito"/>
                <a:cs typeface="Nunito"/>
                <a:sym typeface="Nunito"/>
              </a:rPr>
              <a:t>-8.3%</a:t>
            </a:r>
            <a:r>
              <a:rPr lang="en" sz="1100">
                <a:latin typeface="Nunito"/>
                <a:ea typeface="Nunito"/>
                <a:cs typeface="Nunito"/>
                <a:sym typeface="Nunito"/>
              </a:rPr>
              <a:t> (</a:t>
            </a:r>
            <a:r>
              <a:rPr lang="en" sz="1100" b="1">
                <a:latin typeface="Nunito"/>
                <a:ea typeface="Nunito"/>
                <a:cs typeface="Nunito"/>
                <a:sym typeface="Nunito"/>
              </a:rPr>
              <a:t>Negative Growth</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Net Profit Margin:</a:t>
            </a:r>
            <a:r>
              <a:rPr lang="en" sz="1100">
                <a:latin typeface="Nunito"/>
                <a:ea typeface="Nunito"/>
                <a:cs typeface="Nunito"/>
                <a:sym typeface="Nunito"/>
              </a:rPr>
              <a:t> </a:t>
            </a:r>
            <a:r>
              <a:rPr lang="en" sz="1100" b="1">
                <a:latin typeface="Nunito"/>
                <a:ea typeface="Nunito"/>
                <a:cs typeface="Nunito"/>
                <a:sym typeface="Nunito"/>
              </a:rPr>
              <a:t>7.1%</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Debt-to-EBITDA:</a:t>
            </a:r>
            <a:r>
              <a:rPr lang="en" sz="1100">
                <a:latin typeface="Nunito"/>
                <a:ea typeface="Nunito"/>
                <a:cs typeface="Nunito"/>
                <a:sym typeface="Nunito"/>
              </a:rPr>
              <a:t> </a:t>
            </a:r>
            <a:r>
              <a:rPr lang="en" sz="1100" b="1">
                <a:latin typeface="Nunito"/>
                <a:ea typeface="Nunito"/>
                <a:cs typeface="Nunito"/>
                <a:sym typeface="Nunito"/>
              </a:rPr>
              <a:t>4.25</a:t>
            </a:r>
            <a:r>
              <a:rPr lang="en" sz="1100">
                <a:latin typeface="Nunito"/>
                <a:ea typeface="Nunito"/>
                <a:cs typeface="Nunito"/>
                <a:sym typeface="Nunito"/>
              </a:rPr>
              <a:t> (</a:t>
            </a:r>
            <a:r>
              <a:rPr lang="en" sz="1100" b="1">
                <a:latin typeface="Nunito"/>
                <a:ea typeface="Nunito"/>
                <a:cs typeface="Nunito"/>
                <a:sym typeface="Nunito"/>
              </a:rPr>
              <a:t>Very High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Margin:</a:t>
            </a:r>
            <a:r>
              <a:rPr lang="en" sz="1100">
                <a:latin typeface="Nunito"/>
                <a:ea typeface="Nunito"/>
                <a:cs typeface="Nunito"/>
                <a:sym typeface="Nunito"/>
              </a:rPr>
              <a:t> </a:t>
            </a:r>
            <a:r>
              <a:rPr lang="en" sz="1100" b="1">
                <a:latin typeface="Nunito"/>
                <a:ea typeface="Nunito"/>
                <a:cs typeface="Nunito"/>
                <a:sym typeface="Nunito"/>
              </a:rPr>
              <a:t>13.7%</a:t>
            </a:r>
            <a:r>
              <a:rPr lang="en" sz="1100">
                <a:latin typeface="Nunito"/>
                <a:ea typeface="Nunito"/>
                <a:cs typeface="Nunito"/>
                <a:sym typeface="Nunito"/>
              </a:rPr>
              <a:t> (</a:t>
            </a:r>
            <a:r>
              <a:rPr lang="en" sz="1100" b="1">
                <a:latin typeface="Nunito"/>
                <a:ea typeface="Nunito"/>
                <a:cs typeface="Nunito"/>
                <a:sym typeface="Nunito"/>
              </a:rPr>
              <a:t>Poor</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EPS Growth:</a:t>
            </a:r>
            <a:r>
              <a:rPr lang="en" sz="1100">
                <a:latin typeface="Nunito"/>
                <a:ea typeface="Nunito"/>
                <a:cs typeface="Nunito"/>
                <a:sym typeface="Nunito"/>
              </a:rPr>
              <a:t> </a:t>
            </a:r>
            <a:r>
              <a:rPr lang="en" sz="1100" b="1">
                <a:latin typeface="Nunito"/>
                <a:ea typeface="Nunito"/>
                <a:cs typeface="Nunito"/>
                <a:sym typeface="Nunito"/>
              </a:rPr>
              <a:t>+0.9%</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Interest Coverage Ratio:</a:t>
            </a:r>
            <a:r>
              <a:rPr lang="en" sz="1100">
                <a:latin typeface="Nunito"/>
                <a:ea typeface="Nunito"/>
                <a:cs typeface="Nunito"/>
                <a:sym typeface="Nunito"/>
              </a:rPr>
              <a:t> </a:t>
            </a:r>
            <a:r>
              <a:rPr lang="en" sz="1100" b="1">
                <a:latin typeface="Nunito"/>
                <a:ea typeface="Nunito"/>
                <a:cs typeface="Nunito"/>
                <a:sym typeface="Nunito"/>
              </a:rPr>
              <a:t>1.8</a:t>
            </a:r>
            <a:r>
              <a:rPr lang="en" sz="1100">
                <a:latin typeface="Nunito"/>
                <a:ea typeface="Nunito"/>
                <a:cs typeface="Nunito"/>
                <a:sym typeface="Nunito"/>
              </a:rPr>
              <a:t> (</a:t>
            </a:r>
            <a:r>
              <a:rPr lang="en" sz="1100" b="1">
                <a:latin typeface="Nunito"/>
                <a:ea typeface="Nunito"/>
                <a:cs typeface="Nunito"/>
                <a:sym typeface="Nunito"/>
              </a:rPr>
              <a:t>High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Dividend Yield:</a:t>
            </a:r>
            <a:r>
              <a:rPr lang="en" sz="1100">
                <a:latin typeface="Nunito"/>
                <a:ea typeface="Nunito"/>
                <a:cs typeface="Nunito"/>
                <a:sym typeface="Nunito"/>
              </a:rPr>
              <a:t> </a:t>
            </a:r>
            <a:r>
              <a:rPr lang="en" sz="1100" b="1">
                <a:latin typeface="Nunito"/>
                <a:ea typeface="Nunito"/>
                <a:cs typeface="Nunito"/>
                <a:sym typeface="Nunito"/>
              </a:rPr>
              <a:t>4.34%</a:t>
            </a:r>
            <a:r>
              <a:rPr lang="en" sz="1100">
                <a:latin typeface="Nunito"/>
                <a:ea typeface="Nunito"/>
                <a:cs typeface="Nunito"/>
                <a:sym typeface="Nunito"/>
              </a:rPr>
              <a:t> (</a:t>
            </a:r>
            <a:r>
              <a:rPr lang="en" sz="1100" b="1">
                <a:latin typeface="Nunito"/>
                <a:ea typeface="Nunito"/>
                <a:cs typeface="Nunito"/>
                <a:sym typeface="Nunito"/>
              </a:rPr>
              <a:t>Moderate</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ROE:</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ROIC:</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ROA:</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0" lvl="0" indent="0" algn="l" rtl="0">
              <a:lnSpc>
                <a:spcPct val="115000"/>
              </a:lnSpc>
              <a:spcBef>
                <a:spcPts val="1200"/>
              </a:spcBef>
              <a:spcAft>
                <a:spcPts val="0"/>
              </a:spcAft>
              <a:buNone/>
            </a:pPr>
            <a:r>
              <a:rPr lang="en" sz="1100">
                <a:latin typeface="Nunito"/>
                <a:ea typeface="Nunito"/>
                <a:cs typeface="Nunito"/>
                <a:sym typeface="Nunito"/>
              </a:rPr>
              <a:t>📌 </a:t>
            </a:r>
            <a:r>
              <a:rPr lang="en" sz="1100" b="1">
                <a:latin typeface="Nunito"/>
                <a:ea typeface="Nunito"/>
                <a:cs typeface="Nunito"/>
                <a:sym typeface="Nunito"/>
              </a:rPr>
              <a:t>Final Verdict:</a:t>
            </a:r>
            <a:r>
              <a:rPr lang="en" sz="1100">
                <a:latin typeface="Nunito"/>
                <a:ea typeface="Nunito"/>
                <a:cs typeface="Nunito"/>
                <a:sym typeface="Nunito"/>
              </a:rPr>
              <a:t> ❌ </a:t>
            </a:r>
            <a:r>
              <a:rPr lang="en" sz="1100" b="1">
                <a:latin typeface="Nunito"/>
                <a:ea typeface="Nunito"/>
                <a:cs typeface="Nunito"/>
                <a:sym typeface="Nunito"/>
              </a:rPr>
              <a:t>Declining profitability, high debt—too risky.</a:t>
            </a:r>
            <a:endParaRPr sz="1100" b="1">
              <a:latin typeface="Nunito"/>
              <a:ea typeface="Nunito"/>
              <a:cs typeface="Nunito"/>
              <a:sym typeface="Nunito"/>
            </a:endParaRPr>
          </a:p>
          <a:p>
            <a:pPr marL="0" lvl="0" indent="0" algn="l" rtl="0">
              <a:lnSpc>
                <a:spcPct val="115000"/>
              </a:lnSpc>
              <a:spcBef>
                <a:spcPts val="1200"/>
              </a:spcBef>
              <a:spcAft>
                <a:spcPts val="0"/>
              </a:spcAft>
              <a:buNone/>
            </a:pPr>
            <a:endParaRPr sz="1700" b="1"/>
          </a:p>
        </p:txBody>
      </p:sp>
      <p:sp>
        <p:nvSpPr>
          <p:cNvPr id="522" name="Google Shape;522;p42"/>
          <p:cNvSpPr/>
          <p:nvPr/>
        </p:nvSpPr>
        <p:spPr>
          <a:xfrm>
            <a:off x="1129650" y="327000"/>
            <a:ext cx="6884700" cy="5271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23" name="Google Shape;523;p42"/>
          <p:cNvSpPr txBox="1">
            <a:spLocks noGrp="1"/>
          </p:cNvSpPr>
          <p:nvPr>
            <p:ph type="title"/>
          </p:nvPr>
        </p:nvSpPr>
        <p:spPr>
          <a:xfrm>
            <a:off x="793500" y="293400"/>
            <a:ext cx="75570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Unutilized/Non-performing Stocks Analysis</a:t>
            </a:r>
            <a:endParaRPr>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43"/>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43"/>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530" name="Google Shape;530;p43"/>
          <p:cNvSpPr/>
          <p:nvPr/>
        </p:nvSpPr>
        <p:spPr>
          <a:xfrm>
            <a:off x="1319675" y="932475"/>
            <a:ext cx="4112400" cy="4239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31" name="Google Shape;531;p43"/>
          <p:cNvSpPr txBox="1"/>
          <p:nvPr/>
        </p:nvSpPr>
        <p:spPr>
          <a:xfrm>
            <a:off x="588660" y="765375"/>
            <a:ext cx="6720300" cy="4283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t> </a:t>
            </a:r>
            <a:r>
              <a:rPr lang="en" sz="1700" b="1"/>
              <a:t>1️⃣4️⃣ </a:t>
            </a:r>
            <a:r>
              <a:rPr lang="en" sz="1700" b="1">
                <a:solidFill>
                  <a:schemeClr val="dk1"/>
                </a:solidFill>
              </a:rPr>
              <a:t>Stock T - Low Profitability, Low Growth</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2.7/10</a:t>
            </a:r>
            <a:br>
              <a:rPr lang="en" sz="1100" b="1">
                <a:latin typeface="Nunito"/>
                <a:ea typeface="Nunito"/>
                <a:cs typeface="Nunito"/>
                <a:sym typeface="Nunito"/>
              </a:rPr>
            </a:br>
            <a:r>
              <a:rPr lang="en" sz="1100">
                <a:latin typeface="Nunito"/>
                <a:ea typeface="Nunito"/>
                <a:cs typeface="Nunito"/>
                <a:sym typeface="Nunito"/>
              </a:rPr>
              <a:t> Stock T </a:t>
            </a:r>
            <a:r>
              <a:rPr lang="en" sz="1100" b="1">
                <a:latin typeface="Nunito"/>
                <a:ea typeface="Nunito"/>
                <a:cs typeface="Nunito"/>
                <a:sym typeface="Nunito"/>
              </a:rPr>
              <a:t>suffers from weak earnings, poor margins, and declining performance</a:t>
            </a:r>
            <a:r>
              <a:rPr lang="en" sz="1100">
                <a:latin typeface="Nunito"/>
                <a:ea typeface="Nunito"/>
                <a:cs typeface="Nunito"/>
                <a:sym typeface="Nunito"/>
              </a:rPr>
              <a:t>.</a:t>
            </a:r>
            <a:endParaRPr sz="1100">
              <a:latin typeface="Nunito"/>
              <a:ea typeface="Nunito"/>
              <a:cs typeface="Nunito"/>
              <a:sym typeface="Nunito"/>
            </a:endParaRPr>
          </a:p>
          <a:p>
            <a:pPr marL="457200" lvl="0" indent="-298450" algn="l" rtl="0">
              <a:lnSpc>
                <a:spcPct val="115000"/>
              </a:lnSpc>
              <a:spcBef>
                <a:spcPts val="1200"/>
              </a:spcBef>
              <a:spcAft>
                <a:spcPts val="0"/>
              </a:spcAft>
              <a:buSzPts val="1100"/>
              <a:buChar char="●"/>
            </a:pPr>
            <a:r>
              <a:rPr lang="en" sz="1100" b="1">
                <a:latin typeface="Nunito"/>
                <a:ea typeface="Nunito"/>
                <a:cs typeface="Nunito"/>
                <a:sym typeface="Nunito"/>
              </a:rPr>
              <a:t>P/E Ratio:</a:t>
            </a:r>
            <a:r>
              <a:rPr lang="en" sz="1100">
                <a:latin typeface="Nunito"/>
                <a:ea typeface="Nunito"/>
                <a:cs typeface="Nunito"/>
                <a:sym typeface="Nunito"/>
              </a:rPr>
              <a:t> </a:t>
            </a:r>
            <a:r>
              <a:rPr lang="en" sz="1100" b="1">
                <a:latin typeface="Nunito"/>
                <a:ea typeface="Nunito"/>
                <a:cs typeface="Nunito"/>
                <a:sym typeface="Nunito"/>
              </a:rPr>
              <a:t>25.76</a:t>
            </a:r>
            <a:r>
              <a:rPr lang="en" sz="1100">
                <a:latin typeface="Nunito"/>
                <a:ea typeface="Nunito"/>
                <a:cs typeface="Nunito"/>
                <a:sym typeface="Nunito"/>
              </a:rPr>
              <a:t> (</a:t>
            </a:r>
            <a:r>
              <a:rPr lang="en" sz="1100" b="1">
                <a:latin typeface="Nunito"/>
                <a:ea typeface="Nunito"/>
                <a:cs typeface="Nunito"/>
                <a:sym typeface="Nunito"/>
              </a:rPr>
              <a:t>Overvalued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Revenue Growth:</a:t>
            </a:r>
            <a:r>
              <a:rPr lang="en" sz="1100">
                <a:latin typeface="Nunito"/>
                <a:ea typeface="Nunito"/>
                <a:cs typeface="Nunito"/>
                <a:sym typeface="Nunito"/>
              </a:rPr>
              <a:t> </a:t>
            </a:r>
            <a:r>
              <a:rPr lang="en" sz="1100" b="1">
                <a:latin typeface="Nunito"/>
                <a:ea typeface="Nunito"/>
                <a:cs typeface="Nunito"/>
                <a:sym typeface="Nunito"/>
              </a:rPr>
              <a:t>-2.5%</a:t>
            </a:r>
            <a:r>
              <a:rPr lang="en" sz="1100">
                <a:latin typeface="Nunito"/>
                <a:ea typeface="Nunito"/>
                <a:cs typeface="Nunito"/>
                <a:sym typeface="Nunito"/>
              </a:rPr>
              <a:t> (</a:t>
            </a:r>
            <a:r>
              <a:rPr lang="en" sz="1100" b="1">
                <a:latin typeface="Nunito"/>
                <a:ea typeface="Nunito"/>
                <a:cs typeface="Nunito"/>
                <a:sym typeface="Nunito"/>
              </a:rPr>
              <a:t>Negative Growth</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Growth:</a:t>
            </a:r>
            <a:r>
              <a:rPr lang="en" sz="1100">
                <a:latin typeface="Nunito"/>
                <a:ea typeface="Nunito"/>
                <a:cs typeface="Nunito"/>
                <a:sym typeface="Nunito"/>
              </a:rPr>
              <a:t> </a:t>
            </a:r>
            <a:r>
              <a:rPr lang="en" sz="1100" b="1">
                <a:latin typeface="Nunito"/>
                <a:ea typeface="Nunito"/>
                <a:cs typeface="Nunito"/>
                <a:sym typeface="Nunito"/>
              </a:rPr>
              <a:t>-6.8%</a:t>
            </a:r>
            <a:r>
              <a:rPr lang="en" sz="1100">
                <a:latin typeface="Nunito"/>
                <a:ea typeface="Nunito"/>
                <a:cs typeface="Nunito"/>
                <a:sym typeface="Nunito"/>
              </a:rPr>
              <a:t> (</a:t>
            </a:r>
            <a:r>
              <a:rPr lang="en" sz="1100" b="1">
                <a:latin typeface="Nunito"/>
                <a:ea typeface="Nunito"/>
                <a:cs typeface="Nunito"/>
                <a:sym typeface="Nunito"/>
              </a:rPr>
              <a:t>Declining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Net Profit Margin:</a:t>
            </a:r>
            <a:r>
              <a:rPr lang="en" sz="1100">
                <a:latin typeface="Nunito"/>
                <a:ea typeface="Nunito"/>
                <a:cs typeface="Nunito"/>
                <a:sym typeface="Nunito"/>
              </a:rPr>
              <a:t> </a:t>
            </a:r>
            <a:r>
              <a:rPr lang="en" sz="1100" b="1">
                <a:latin typeface="Nunito"/>
                <a:ea typeface="Nunito"/>
                <a:cs typeface="Nunito"/>
                <a:sym typeface="Nunito"/>
              </a:rPr>
              <a:t>8.4%</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Debt-to-EBITDA:</a:t>
            </a:r>
            <a:r>
              <a:rPr lang="en" sz="1100">
                <a:latin typeface="Nunito"/>
                <a:ea typeface="Nunito"/>
                <a:cs typeface="Nunito"/>
                <a:sym typeface="Nunito"/>
              </a:rPr>
              <a:t> </a:t>
            </a:r>
            <a:r>
              <a:rPr lang="en" sz="1100" b="1">
                <a:latin typeface="Nunito"/>
                <a:ea typeface="Nunito"/>
                <a:cs typeface="Nunito"/>
                <a:sym typeface="Nunito"/>
              </a:rPr>
              <a:t>4.10</a:t>
            </a:r>
            <a:r>
              <a:rPr lang="en" sz="1100">
                <a:latin typeface="Nunito"/>
                <a:ea typeface="Nunito"/>
                <a:cs typeface="Nunito"/>
                <a:sym typeface="Nunito"/>
              </a:rPr>
              <a:t> (</a:t>
            </a:r>
            <a:r>
              <a:rPr lang="en" sz="1100" b="1">
                <a:latin typeface="Nunito"/>
                <a:ea typeface="Nunito"/>
                <a:cs typeface="Nunito"/>
                <a:sym typeface="Nunito"/>
              </a:rPr>
              <a:t>Very High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Margin:</a:t>
            </a:r>
            <a:r>
              <a:rPr lang="en" sz="1100">
                <a:latin typeface="Nunito"/>
                <a:ea typeface="Nunito"/>
                <a:cs typeface="Nunito"/>
                <a:sym typeface="Nunito"/>
              </a:rPr>
              <a:t> </a:t>
            </a:r>
            <a:r>
              <a:rPr lang="en" sz="1100" b="1">
                <a:latin typeface="Nunito"/>
                <a:ea typeface="Nunito"/>
                <a:cs typeface="Nunito"/>
                <a:sym typeface="Nunito"/>
              </a:rPr>
              <a:t>14.3%</a:t>
            </a:r>
            <a:r>
              <a:rPr lang="en" sz="1100">
                <a:latin typeface="Nunito"/>
                <a:ea typeface="Nunito"/>
                <a:cs typeface="Nunito"/>
                <a:sym typeface="Nunito"/>
              </a:rPr>
              <a:t> (</a:t>
            </a:r>
            <a:r>
              <a:rPr lang="en" sz="1100" b="1">
                <a:latin typeface="Nunito"/>
                <a:ea typeface="Nunito"/>
                <a:cs typeface="Nunito"/>
                <a:sym typeface="Nunito"/>
              </a:rPr>
              <a:t>Low</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EPS Growth:</a:t>
            </a:r>
            <a:r>
              <a:rPr lang="en" sz="1100">
                <a:latin typeface="Nunito"/>
                <a:ea typeface="Nunito"/>
                <a:cs typeface="Nunito"/>
                <a:sym typeface="Nunito"/>
              </a:rPr>
              <a:t> </a:t>
            </a:r>
            <a:r>
              <a:rPr lang="en" sz="1100" b="1">
                <a:latin typeface="Nunito"/>
                <a:ea typeface="Nunito"/>
                <a:cs typeface="Nunito"/>
                <a:sym typeface="Nunito"/>
              </a:rPr>
              <a:t>+1.2%</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Interest Coverage Ratio:</a:t>
            </a:r>
            <a:r>
              <a:rPr lang="en" sz="1100">
                <a:latin typeface="Nunito"/>
                <a:ea typeface="Nunito"/>
                <a:cs typeface="Nunito"/>
                <a:sym typeface="Nunito"/>
              </a:rPr>
              <a:t> </a:t>
            </a:r>
            <a:r>
              <a:rPr lang="en" sz="1100" b="1">
                <a:latin typeface="Nunito"/>
                <a:ea typeface="Nunito"/>
                <a:cs typeface="Nunito"/>
                <a:sym typeface="Nunito"/>
              </a:rPr>
              <a:t>2.0</a:t>
            </a:r>
            <a:r>
              <a:rPr lang="en" sz="1100">
                <a:latin typeface="Nunito"/>
                <a:ea typeface="Nunito"/>
                <a:cs typeface="Nunito"/>
                <a:sym typeface="Nunito"/>
              </a:rPr>
              <a:t> (</a:t>
            </a:r>
            <a:r>
              <a:rPr lang="en" sz="1100" b="1">
                <a:latin typeface="Nunito"/>
                <a:ea typeface="Nunito"/>
                <a:cs typeface="Nunito"/>
                <a:sym typeface="Nunito"/>
              </a:rPr>
              <a:t>Risky</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Dividend Yield:</a:t>
            </a:r>
            <a:r>
              <a:rPr lang="en" sz="1100">
                <a:latin typeface="Nunito"/>
                <a:ea typeface="Nunito"/>
                <a:cs typeface="Nunito"/>
                <a:sym typeface="Nunito"/>
              </a:rPr>
              <a:t> </a:t>
            </a:r>
            <a:r>
              <a:rPr lang="en" sz="1100" b="1">
                <a:latin typeface="Nunito"/>
                <a:ea typeface="Nunito"/>
                <a:cs typeface="Nunito"/>
                <a:sym typeface="Nunito"/>
              </a:rPr>
              <a:t>2.76%</a:t>
            </a:r>
            <a:r>
              <a:rPr lang="en" sz="1100">
                <a:latin typeface="Nunito"/>
                <a:ea typeface="Nunito"/>
                <a:cs typeface="Nunito"/>
                <a:sym typeface="Nunito"/>
              </a:rPr>
              <a:t> (</a:t>
            </a:r>
            <a:r>
              <a:rPr lang="en" sz="1100" b="1">
                <a:latin typeface="Nunito"/>
                <a:ea typeface="Nunito"/>
                <a:cs typeface="Nunito"/>
                <a:sym typeface="Nunito"/>
              </a:rPr>
              <a:t>Low</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ROE:</a:t>
            </a:r>
            <a:r>
              <a:rPr lang="en" sz="1100">
                <a:latin typeface="Nunito"/>
                <a:ea typeface="Nunito"/>
                <a:cs typeface="Nunito"/>
                <a:sym typeface="Nunito"/>
              </a:rPr>
              <a:t> </a:t>
            </a:r>
            <a:r>
              <a:rPr lang="en" sz="1100" b="1">
                <a:latin typeface="Nunito"/>
                <a:ea typeface="Nunito"/>
                <a:cs typeface="Nunito"/>
                <a:sym typeface="Nunito"/>
              </a:rPr>
              <a:t>4.24%</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ROIC:</a:t>
            </a:r>
            <a:r>
              <a:rPr lang="en" sz="1100">
                <a:latin typeface="Nunito"/>
                <a:ea typeface="Nunito"/>
                <a:cs typeface="Nunito"/>
                <a:sym typeface="Nunito"/>
              </a:rPr>
              <a:t> </a:t>
            </a:r>
            <a:r>
              <a:rPr lang="en" sz="1100" b="1">
                <a:latin typeface="Nunito"/>
                <a:ea typeface="Nunito"/>
                <a:cs typeface="Nunito"/>
                <a:sym typeface="Nunito"/>
              </a:rPr>
              <a:t>-8.94%</a:t>
            </a:r>
            <a:r>
              <a:rPr lang="en" sz="1100">
                <a:latin typeface="Nunito"/>
                <a:ea typeface="Nunito"/>
                <a:cs typeface="Nunito"/>
                <a:sym typeface="Nunito"/>
              </a:rPr>
              <a:t> (</a:t>
            </a:r>
            <a:r>
              <a:rPr lang="en" sz="1100" b="1">
                <a:latin typeface="Nunito"/>
                <a:ea typeface="Nunito"/>
                <a:cs typeface="Nunito"/>
                <a:sym typeface="Nunito"/>
              </a:rPr>
              <a:t>Poor</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ROA:</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0" lvl="0" indent="0" algn="l" rtl="0">
              <a:lnSpc>
                <a:spcPct val="115000"/>
              </a:lnSpc>
              <a:spcBef>
                <a:spcPts val="1200"/>
              </a:spcBef>
              <a:spcAft>
                <a:spcPts val="0"/>
              </a:spcAft>
              <a:buNone/>
            </a:pPr>
            <a:r>
              <a:rPr lang="en" sz="1100">
                <a:latin typeface="Nunito"/>
                <a:ea typeface="Nunito"/>
                <a:cs typeface="Nunito"/>
                <a:sym typeface="Nunito"/>
              </a:rPr>
              <a:t>📌 </a:t>
            </a:r>
            <a:r>
              <a:rPr lang="en" sz="1100" b="1">
                <a:latin typeface="Nunito"/>
                <a:ea typeface="Nunito"/>
                <a:cs typeface="Nunito"/>
                <a:sym typeface="Nunito"/>
              </a:rPr>
              <a:t>Final Verdict:</a:t>
            </a:r>
            <a:r>
              <a:rPr lang="en" sz="1100">
                <a:latin typeface="Nunito"/>
                <a:ea typeface="Nunito"/>
                <a:cs typeface="Nunito"/>
                <a:sym typeface="Nunito"/>
              </a:rPr>
              <a:t> ❌ </a:t>
            </a:r>
            <a:r>
              <a:rPr lang="en" sz="1100" b="1">
                <a:latin typeface="Nunito"/>
                <a:ea typeface="Nunito"/>
                <a:cs typeface="Nunito"/>
                <a:sym typeface="Nunito"/>
              </a:rPr>
              <a:t>Low earnings growth, weak financials—avoid.</a:t>
            </a:r>
            <a:endParaRPr sz="1100" b="1">
              <a:latin typeface="Nunito"/>
              <a:ea typeface="Nunito"/>
              <a:cs typeface="Nunito"/>
              <a:sym typeface="Nunito"/>
            </a:endParaRPr>
          </a:p>
          <a:p>
            <a:pPr marL="0" lvl="0" indent="0" algn="l" rtl="0">
              <a:lnSpc>
                <a:spcPct val="115000"/>
              </a:lnSpc>
              <a:spcBef>
                <a:spcPts val="1200"/>
              </a:spcBef>
              <a:spcAft>
                <a:spcPts val="0"/>
              </a:spcAft>
              <a:buNone/>
            </a:pPr>
            <a:endParaRPr sz="1700" b="1"/>
          </a:p>
        </p:txBody>
      </p:sp>
      <p:sp>
        <p:nvSpPr>
          <p:cNvPr id="532" name="Google Shape;532;p43"/>
          <p:cNvSpPr/>
          <p:nvPr/>
        </p:nvSpPr>
        <p:spPr>
          <a:xfrm>
            <a:off x="1129650" y="327000"/>
            <a:ext cx="6884700" cy="5271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33" name="Google Shape;533;p43"/>
          <p:cNvSpPr txBox="1">
            <a:spLocks noGrp="1"/>
          </p:cNvSpPr>
          <p:nvPr>
            <p:ph type="title"/>
          </p:nvPr>
        </p:nvSpPr>
        <p:spPr>
          <a:xfrm>
            <a:off x="793500" y="293400"/>
            <a:ext cx="75570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Unutilized/Non-performing Stocks Analysis</a:t>
            </a:r>
            <a:endParaRPr>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44"/>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44"/>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540" name="Google Shape;540;p44"/>
          <p:cNvSpPr/>
          <p:nvPr/>
        </p:nvSpPr>
        <p:spPr>
          <a:xfrm>
            <a:off x="1331125" y="920700"/>
            <a:ext cx="3379500" cy="4698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41" name="Google Shape;541;p44"/>
          <p:cNvSpPr txBox="1"/>
          <p:nvPr/>
        </p:nvSpPr>
        <p:spPr>
          <a:xfrm>
            <a:off x="608980" y="775535"/>
            <a:ext cx="6720300" cy="4738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t> </a:t>
            </a:r>
            <a:r>
              <a:rPr lang="en" sz="1700" b="1"/>
              <a:t>1️⃣5️⃣  </a:t>
            </a:r>
            <a:r>
              <a:rPr lang="en" sz="1700" b="1">
                <a:solidFill>
                  <a:schemeClr val="dk1"/>
                </a:solidFill>
              </a:rPr>
              <a:t>Stock C - No Competitive Edge</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2.6/10</a:t>
            </a:r>
            <a:br>
              <a:rPr lang="en" sz="1100" b="1">
                <a:solidFill>
                  <a:schemeClr val="accent1"/>
                </a:solidFill>
                <a:latin typeface="Nunito"/>
                <a:ea typeface="Nunito"/>
                <a:cs typeface="Nunito"/>
                <a:sym typeface="Nunito"/>
              </a:rPr>
            </a:br>
            <a:r>
              <a:rPr lang="en" sz="1100">
                <a:solidFill>
                  <a:schemeClr val="accent1"/>
                </a:solidFill>
                <a:latin typeface="Nunito"/>
                <a:ea typeface="Nunito"/>
                <a:cs typeface="Nunito"/>
                <a:sym typeface="Nunito"/>
              </a:rPr>
              <a:t> </a:t>
            </a:r>
            <a:r>
              <a:rPr lang="en" sz="1100">
                <a:latin typeface="Nunito"/>
                <a:ea typeface="Nunito"/>
                <a:cs typeface="Nunito"/>
                <a:sym typeface="Nunito"/>
              </a:rPr>
              <a:t>Stock C </a:t>
            </a:r>
            <a:r>
              <a:rPr lang="en" sz="1100" b="1">
                <a:latin typeface="Nunito"/>
                <a:ea typeface="Nunito"/>
                <a:cs typeface="Nunito"/>
                <a:sym typeface="Nunito"/>
              </a:rPr>
              <a:t>lacks growth, has weak profitability, and high financial risk</a:t>
            </a:r>
            <a:r>
              <a:rPr lang="en" sz="1100">
                <a:latin typeface="Nunito"/>
                <a:ea typeface="Nunito"/>
                <a:cs typeface="Nunito"/>
                <a:sym typeface="Nunito"/>
              </a:rPr>
              <a:t>.</a:t>
            </a:r>
            <a:endParaRPr sz="1100">
              <a:latin typeface="Nunito"/>
              <a:ea typeface="Nunito"/>
              <a:cs typeface="Nunito"/>
              <a:sym typeface="Nunito"/>
            </a:endParaRPr>
          </a:p>
          <a:p>
            <a:pPr marL="457200" lvl="0" indent="-298450" algn="l" rtl="0">
              <a:lnSpc>
                <a:spcPct val="115000"/>
              </a:lnSpc>
              <a:spcBef>
                <a:spcPts val="1200"/>
              </a:spcBef>
              <a:spcAft>
                <a:spcPts val="0"/>
              </a:spcAft>
              <a:buSzPts val="1100"/>
              <a:buChar char="●"/>
            </a:pPr>
            <a:r>
              <a:rPr lang="en" sz="1100" b="1">
                <a:latin typeface="Nunito"/>
                <a:ea typeface="Nunito"/>
                <a:cs typeface="Nunito"/>
                <a:sym typeface="Nunito"/>
              </a:rPr>
              <a:t>P/E Ratio:</a:t>
            </a:r>
            <a:r>
              <a:rPr lang="en" sz="1100">
                <a:latin typeface="Nunito"/>
                <a:ea typeface="Nunito"/>
                <a:cs typeface="Nunito"/>
                <a:sym typeface="Nunito"/>
              </a:rPr>
              <a:t> </a:t>
            </a:r>
            <a:r>
              <a:rPr lang="en" sz="1100" b="1">
                <a:latin typeface="Nunito"/>
                <a:ea typeface="Nunito"/>
                <a:cs typeface="Nunito"/>
                <a:sym typeface="Nunito"/>
              </a:rPr>
              <a:t>22.33</a:t>
            </a:r>
            <a:r>
              <a:rPr lang="en" sz="1100">
                <a:latin typeface="Nunito"/>
                <a:ea typeface="Nunito"/>
                <a:cs typeface="Nunito"/>
                <a:sym typeface="Nunito"/>
              </a:rPr>
              <a:t> (</a:t>
            </a:r>
            <a:r>
              <a:rPr lang="en" sz="1100" b="1">
                <a:latin typeface="Nunito"/>
                <a:ea typeface="Nunito"/>
                <a:cs typeface="Nunito"/>
                <a:sym typeface="Nunito"/>
              </a:rPr>
              <a:t>Overvalued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Revenue Growth:</a:t>
            </a:r>
            <a:r>
              <a:rPr lang="en" sz="1100">
                <a:latin typeface="Nunito"/>
                <a:ea typeface="Nunito"/>
                <a:cs typeface="Nunito"/>
                <a:sym typeface="Nunito"/>
              </a:rPr>
              <a:t> </a:t>
            </a:r>
            <a:r>
              <a:rPr lang="en" sz="1100" b="1">
                <a:latin typeface="Nunito"/>
                <a:ea typeface="Nunito"/>
                <a:cs typeface="Nunito"/>
                <a:sym typeface="Nunito"/>
              </a:rPr>
              <a:t>-4.1%</a:t>
            </a:r>
            <a:r>
              <a:rPr lang="en" sz="1100">
                <a:latin typeface="Nunito"/>
                <a:ea typeface="Nunito"/>
                <a:cs typeface="Nunito"/>
                <a:sym typeface="Nunito"/>
              </a:rPr>
              <a:t> (</a:t>
            </a:r>
            <a:r>
              <a:rPr lang="en" sz="1100" b="1">
                <a:latin typeface="Nunito"/>
                <a:ea typeface="Nunito"/>
                <a:cs typeface="Nunito"/>
                <a:sym typeface="Nunito"/>
              </a:rPr>
              <a:t>Declining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Growth:</a:t>
            </a:r>
            <a:r>
              <a:rPr lang="en" sz="1100">
                <a:latin typeface="Nunito"/>
                <a:ea typeface="Nunito"/>
                <a:cs typeface="Nunito"/>
                <a:sym typeface="Nunito"/>
              </a:rPr>
              <a:t> </a:t>
            </a:r>
            <a:r>
              <a:rPr lang="en" sz="1100" b="1">
                <a:latin typeface="Nunito"/>
                <a:ea typeface="Nunito"/>
                <a:cs typeface="Nunito"/>
                <a:sym typeface="Nunito"/>
              </a:rPr>
              <a:t>-4.7%</a:t>
            </a:r>
            <a:r>
              <a:rPr lang="en" sz="1100">
                <a:latin typeface="Nunito"/>
                <a:ea typeface="Nunito"/>
                <a:cs typeface="Nunito"/>
                <a:sym typeface="Nunito"/>
              </a:rPr>
              <a:t> (</a:t>
            </a:r>
            <a:r>
              <a:rPr lang="en" sz="1100" b="1">
                <a:latin typeface="Nunito"/>
                <a:ea typeface="Nunito"/>
                <a:cs typeface="Nunito"/>
                <a:sym typeface="Nunito"/>
              </a:rPr>
              <a:t>Negative Growth</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Net Profit Margin:</a:t>
            </a:r>
            <a:r>
              <a:rPr lang="en" sz="1100">
                <a:latin typeface="Nunito"/>
                <a:ea typeface="Nunito"/>
                <a:cs typeface="Nunito"/>
                <a:sym typeface="Nunito"/>
              </a:rPr>
              <a:t> </a:t>
            </a:r>
            <a:r>
              <a:rPr lang="en" sz="1100" b="1">
                <a:latin typeface="Nunito"/>
                <a:ea typeface="Nunito"/>
                <a:cs typeface="Nunito"/>
                <a:sym typeface="Nunito"/>
              </a:rPr>
              <a:t>6.8%</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Debt-to-EBITDA:</a:t>
            </a:r>
            <a:r>
              <a:rPr lang="en" sz="1100">
                <a:latin typeface="Nunito"/>
                <a:ea typeface="Nunito"/>
                <a:cs typeface="Nunito"/>
                <a:sym typeface="Nunito"/>
              </a:rPr>
              <a:t> </a:t>
            </a:r>
            <a:r>
              <a:rPr lang="en" sz="1100" b="1">
                <a:latin typeface="Nunito"/>
                <a:ea typeface="Nunito"/>
                <a:cs typeface="Nunito"/>
                <a:sym typeface="Nunito"/>
              </a:rPr>
              <a:t>4.50</a:t>
            </a:r>
            <a:r>
              <a:rPr lang="en" sz="1100">
                <a:latin typeface="Nunito"/>
                <a:ea typeface="Nunito"/>
                <a:cs typeface="Nunito"/>
                <a:sym typeface="Nunito"/>
              </a:rPr>
              <a:t> (</a:t>
            </a:r>
            <a:r>
              <a:rPr lang="en" sz="1100" b="1">
                <a:latin typeface="Nunito"/>
                <a:ea typeface="Nunito"/>
                <a:cs typeface="Nunito"/>
                <a:sym typeface="Nunito"/>
              </a:rPr>
              <a:t>Very High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Margin:</a:t>
            </a:r>
            <a:r>
              <a:rPr lang="en" sz="1100">
                <a:latin typeface="Nunito"/>
                <a:ea typeface="Nunito"/>
                <a:cs typeface="Nunito"/>
                <a:sym typeface="Nunito"/>
              </a:rPr>
              <a:t> </a:t>
            </a:r>
            <a:r>
              <a:rPr lang="en" sz="1100" b="1">
                <a:latin typeface="Nunito"/>
                <a:ea typeface="Nunito"/>
                <a:cs typeface="Nunito"/>
                <a:sym typeface="Nunito"/>
              </a:rPr>
              <a:t>12.5%</a:t>
            </a:r>
            <a:r>
              <a:rPr lang="en" sz="1100">
                <a:latin typeface="Nunito"/>
                <a:ea typeface="Nunito"/>
                <a:cs typeface="Nunito"/>
                <a:sym typeface="Nunito"/>
              </a:rPr>
              <a:t> (</a:t>
            </a:r>
            <a:r>
              <a:rPr lang="en" sz="1100" b="1">
                <a:latin typeface="Nunito"/>
                <a:ea typeface="Nunito"/>
                <a:cs typeface="Nunito"/>
                <a:sym typeface="Nunito"/>
              </a:rPr>
              <a:t>Poor</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EPS Growth:</a:t>
            </a:r>
            <a:r>
              <a:rPr lang="en" sz="1100">
                <a:latin typeface="Nunito"/>
                <a:ea typeface="Nunito"/>
                <a:cs typeface="Nunito"/>
                <a:sym typeface="Nunito"/>
              </a:rPr>
              <a:t> </a:t>
            </a:r>
            <a:r>
              <a:rPr lang="en" sz="1100" b="1">
                <a:latin typeface="Nunito"/>
                <a:ea typeface="Nunito"/>
                <a:cs typeface="Nunito"/>
                <a:sym typeface="Nunito"/>
              </a:rPr>
              <a:t>-0.5%</a:t>
            </a:r>
            <a:r>
              <a:rPr lang="en" sz="1100">
                <a:latin typeface="Nunito"/>
                <a:ea typeface="Nunito"/>
                <a:cs typeface="Nunito"/>
                <a:sym typeface="Nunito"/>
              </a:rPr>
              <a:t> (</a:t>
            </a:r>
            <a:r>
              <a:rPr lang="en" sz="1100" b="1">
                <a:latin typeface="Nunito"/>
                <a:ea typeface="Nunito"/>
                <a:cs typeface="Nunito"/>
                <a:sym typeface="Nunito"/>
              </a:rPr>
              <a:t>Negative Growth</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Interest Coverage Ratio:</a:t>
            </a:r>
            <a:r>
              <a:rPr lang="en" sz="1100">
                <a:latin typeface="Nunito"/>
                <a:ea typeface="Nunito"/>
                <a:cs typeface="Nunito"/>
                <a:sym typeface="Nunito"/>
              </a:rPr>
              <a:t> </a:t>
            </a:r>
            <a:r>
              <a:rPr lang="en" sz="1100" b="1">
                <a:latin typeface="Nunito"/>
                <a:ea typeface="Nunito"/>
                <a:cs typeface="Nunito"/>
                <a:sym typeface="Nunito"/>
              </a:rPr>
              <a:t>1.5</a:t>
            </a:r>
            <a:r>
              <a:rPr lang="en" sz="1100">
                <a:latin typeface="Nunito"/>
                <a:ea typeface="Nunito"/>
                <a:cs typeface="Nunito"/>
                <a:sym typeface="Nunito"/>
              </a:rPr>
              <a:t> (</a:t>
            </a:r>
            <a:r>
              <a:rPr lang="en" sz="1100" b="1">
                <a:latin typeface="Nunito"/>
                <a:ea typeface="Nunito"/>
                <a:cs typeface="Nunito"/>
                <a:sym typeface="Nunito"/>
              </a:rPr>
              <a:t>High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Dividend Yield:</a:t>
            </a:r>
            <a:r>
              <a:rPr lang="en" sz="1100">
                <a:latin typeface="Nunito"/>
                <a:ea typeface="Nunito"/>
                <a:cs typeface="Nunito"/>
                <a:sym typeface="Nunito"/>
              </a:rPr>
              <a:t> </a:t>
            </a:r>
            <a:r>
              <a:rPr lang="en" sz="1100" b="1">
                <a:latin typeface="Nunito"/>
                <a:ea typeface="Nunito"/>
                <a:cs typeface="Nunito"/>
                <a:sym typeface="Nunito"/>
              </a:rPr>
              <a:t>7.92%</a:t>
            </a:r>
            <a:r>
              <a:rPr lang="en" sz="1100">
                <a:latin typeface="Nunito"/>
                <a:ea typeface="Nunito"/>
                <a:cs typeface="Nunito"/>
                <a:sym typeface="Nunito"/>
              </a:rPr>
              <a:t> (</a:t>
            </a:r>
            <a:r>
              <a:rPr lang="en" sz="1100" b="1">
                <a:latin typeface="Nunito"/>
                <a:ea typeface="Nunito"/>
                <a:cs typeface="Nunito"/>
                <a:sym typeface="Nunito"/>
              </a:rPr>
              <a:t>Only Positive Factor</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ROE:</a:t>
            </a:r>
            <a:r>
              <a:rPr lang="en" sz="1100">
                <a:latin typeface="Nunito"/>
                <a:ea typeface="Nunito"/>
                <a:cs typeface="Nunito"/>
                <a:sym typeface="Nunito"/>
              </a:rPr>
              <a:t> </a:t>
            </a:r>
            <a:r>
              <a:rPr lang="en" sz="1100" b="1">
                <a:latin typeface="Nunito"/>
                <a:ea typeface="Nunito"/>
                <a:cs typeface="Nunito"/>
                <a:sym typeface="Nunito"/>
              </a:rPr>
              <a:t>7.85%</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ROIC:</a:t>
            </a:r>
            <a:r>
              <a:rPr lang="en" sz="1100">
                <a:latin typeface="Nunito"/>
                <a:ea typeface="Nunito"/>
                <a:cs typeface="Nunito"/>
                <a:sym typeface="Nunito"/>
              </a:rPr>
              <a:t> </a:t>
            </a:r>
            <a:r>
              <a:rPr lang="en" sz="1100" b="1">
                <a:latin typeface="Nunito"/>
                <a:ea typeface="Nunito"/>
                <a:cs typeface="Nunito"/>
                <a:sym typeface="Nunito"/>
              </a:rPr>
              <a:t>-6.40%</a:t>
            </a:r>
            <a:r>
              <a:rPr lang="en" sz="1100">
                <a:latin typeface="Nunito"/>
                <a:ea typeface="Nunito"/>
                <a:cs typeface="Nunito"/>
                <a:sym typeface="Nunito"/>
              </a:rPr>
              <a:t> (</a:t>
            </a:r>
            <a:r>
              <a:rPr lang="en" sz="1100" b="1">
                <a:latin typeface="Nunito"/>
                <a:ea typeface="Nunito"/>
                <a:cs typeface="Nunito"/>
                <a:sym typeface="Nunito"/>
              </a:rPr>
              <a:t>Poor</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ROA:</a:t>
            </a:r>
            <a:r>
              <a:rPr lang="en" sz="1100">
                <a:latin typeface="Nunito"/>
                <a:ea typeface="Nunito"/>
                <a:cs typeface="Nunito"/>
                <a:sym typeface="Nunito"/>
              </a:rPr>
              <a:t> </a:t>
            </a:r>
            <a:r>
              <a:rPr lang="en" sz="1100" b="1">
                <a:latin typeface="Nunito"/>
                <a:ea typeface="Nunito"/>
                <a:cs typeface="Nunito"/>
                <a:sym typeface="Nunito"/>
              </a:rPr>
              <a:t>70.12%</a:t>
            </a:r>
            <a:r>
              <a:rPr lang="en" sz="1100">
                <a:latin typeface="Nunito"/>
                <a:ea typeface="Nunito"/>
                <a:cs typeface="Nunito"/>
                <a:sym typeface="Nunito"/>
              </a:rPr>
              <a:t> (</a:t>
            </a:r>
            <a:r>
              <a:rPr lang="en" sz="1100" b="1">
                <a:latin typeface="Nunito"/>
                <a:ea typeface="Nunito"/>
                <a:cs typeface="Nunito"/>
                <a:sym typeface="Nunito"/>
              </a:rPr>
              <a:t>Decent</a:t>
            </a:r>
            <a:r>
              <a:rPr lang="en" sz="1100">
                <a:latin typeface="Nunito"/>
                <a:ea typeface="Nunito"/>
                <a:cs typeface="Nunito"/>
                <a:sym typeface="Nunito"/>
              </a:rPr>
              <a:t> ✅)</a:t>
            </a:r>
            <a:endParaRPr sz="1100">
              <a:latin typeface="Nunito"/>
              <a:ea typeface="Nunito"/>
              <a:cs typeface="Nunito"/>
              <a:sym typeface="Nunito"/>
            </a:endParaRPr>
          </a:p>
          <a:p>
            <a:pPr marL="0" lvl="0" indent="0" algn="l" rtl="0">
              <a:lnSpc>
                <a:spcPct val="115000"/>
              </a:lnSpc>
              <a:spcBef>
                <a:spcPts val="1200"/>
              </a:spcBef>
              <a:spcAft>
                <a:spcPts val="0"/>
              </a:spcAft>
              <a:buNone/>
            </a:pPr>
            <a:r>
              <a:rPr lang="en" sz="1100">
                <a:latin typeface="Nunito"/>
                <a:ea typeface="Nunito"/>
                <a:cs typeface="Nunito"/>
                <a:sym typeface="Nunito"/>
              </a:rPr>
              <a:t>📌 </a:t>
            </a:r>
            <a:r>
              <a:rPr lang="en" sz="1100" b="1">
                <a:latin typeface="Nunito"/>
                <a:ea typeface="Nunito"/>
                <a:cs typeface="Nunito"/>
                <a:sym typeface="Nunito"/>
              </a:rPr>
              <a:t>Final Verdict:</a:t>
            </a:r>
            <a:r>
              <a:rPr lang="en" sz="1100">
                <a:latin typeface="Nunito"/>
                <a:ea typeface="Nunito"/>
                <a:cs typeface="Nunito"/>
                <a:sym typeface="Nunito"/>
              </a:rPr>
              <a:t> ❌ </a:t>
            </a:r>
            <a:r>
              <a:rPr lang="en" sz="1100" b="1">
                <a:latin typeface="Nunito"/>
                <a:ea typeface="Nunito"/>
                <a:cs typeface="Nunito"/>
                <a:sym typeface="Nunito"/>
              </a:rPr>
              <a:t>High-risk, weak earnings, and little growth. Avoid.</a:t>
            </a:r>
            <a:endParaRPr sz="1100" b="1">
              <a:latin typeface="Nunito"/>
              <a:ea typeface="Nunito"/>
              <a:cs typeface="Nunito"/>
              <a:sym typeface="Nunito"/>
            </a:endParaRPr>
          </a:p>
          <a:p>
            <a:pPr marL="0" lvl="0" indent="0" algn="l" rtl="0">
              <a:lnSpc>
                <a:spcPct val="115000"/>
              </a:lnSpc>
              <a:spcBef>
                <a:spcPts val="1200"/>
              </a:spcBef>
              <a:spcAft>
                <a:spcPts val="0"/>
              </a:spcAft>
              <a:buNone/>
            </a:pPr>
            <a:endParaRPr sz="1700" b="1"/>
          </a:p>
          <a:p>
            <a:pPr marL="0" lvl="0" indent="0" algn="l" rtl="0">
              <a:lnSpc>
                <a:spcPct val="115000"/>
              </a:lnSpc>
              <a:spcBef>
                <a:spcPts val="1200"/>
              </a:spcBef>
              <a:spcAft>
                <a:spcPts val="0"/>
              </a:spcAft>
              <a:buNone/>
            </a:pPr>
            <a:endParaRPr sz="1700" b="1"/>
          </a:p>
        </p:txBody>
      </p:sp>
      <p:sp>
        <p:nvSpPr>
          <p:cNvPr id="542" name="Google Shape;542;p44"/>
          <p:cNvSpPr/>
          <p:nvPr/>
        </p:nvSpPr>
        <p:spPr>
          <a:xfrm>
            <a:off x="1129650" y="327000"/>
            <a:ext cx="6884700" cy="5271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43" name="Google Shape;543;p44"/>
          <p:cNvSpPr txBox="1">
            <a:spLocks noGrp="1"/>
          </p:cNvSpPr>
          <p:nvPr>
            <p:ph type="title"/>
          </p:nvPr>
        </p:nvSpPr>
        <p:spPr>
          <a:xfrm>
            <a:off x="793500" y="293400"/>
            <a:ext cx="75570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Unutilized/Non-performing Stocks Analysis</a:t>
            </a:r>
            <a:endParaRPr>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45"/>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45"/>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550" name="Google Shape;550;p45"/>
          <p:cNvSpPr/>
          <p:nvPr/>
        </p:nvSpPr>
        <p:spPr>
          <a:xfrm>
            <a:off x="1426375" y="915000"/>
            <a:ext cx="4169700" cy="4812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51" name="Google Shape;551;p45"/>
          <p:cNvSpPr txBox="1"/>
          <p:nvPr/>
        </p:nvSpPr>
        <p:spPr>
          <a:xfrm>
            <a:off x="578500" y="785695"/>
            <a:ext cx="6720300" cy="4738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t> </a:t>
            </a:r>
            <a:r>
              <a:rPr lang="en" sz="1700" b="1"/>
              <a:t> 1️⃣6️⃣   </a:t>
            </a:r>
            <a:r>
              <a:rPr lang="en" sz="1700" b="1">
                <a:solidFill>
                  <a:schemeClr val="dk1"/>
                </a:solidFill>
              </a:rPr>
              <a:t>Stock E - Overvalued, Weak Financials</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2.3/10</a:t>
            </a:r>
            <a:br>
              <a:rPr lang="en" sz="1100" b="1">
                <a:latin typeface="Nunito"/>
                <a:ea typeface="Nunito"/>
                <a:cs typeface="Nunito"/>
                <a:sym typeface="Nunito"/>
              </a:rPr>
            </a:br>
            <a:r>
              <a:rPr lang="en" sz="1100">
                <a:latin typeface="Nunito"/>
                <a:ea typeface="Nunito"/>
                <a:cs typeface="Nunito"/>
                <a:sym typeface="Nunito"/>
              </a:rPr>
              <a:t> Stock E is </a:t>
            </a:r>
            <a:r>
              <a:rPr lang="en" sz="1100" b="1">
                <a:latin typeface="Nunito"/>
                <a:ea typeface="Nunito"/>
                <a:cs typeface="Nunito"/>
                <a:sym typeface="Nunito"/>
              </a:rPr>
              <a:t>one of the most overpriced stocks, with weak financials and a low dividend yield</a:t>
            </a:r>
            <a:r>
              <a:rPr lang="en" sz="1100">
                <a:latin typeface="Nunito"/>
                <a:ea typeface="Nunito"/>
                <a:cs typeface="Nunito"/>
                <a:sym typeface="Nunito"/>
              </a:rPr>
              <a:t>.</a:t>
            </a:r>
            <a:endParaRPr sz="1100">
              <a:latin typeface="Nunito"/>
              <a:ea typeface="Nunito"/>
              <a:cs typeface="Nunito"/>
              <a:sym typeface="Nunito"/>
            </a:endParaRPr>
          </a:p>
          <a:p>
            <a:pPr marL="457200" lvl="0" indent="-298450" algn="l" rtl="0">
              <a:lnSpc>
                <a:spcPct val="115000"/>
              </a:lnSpc>
              <a:spcBef>
                <a:spcPts val="1200"/>
              </a:spcBef>
              <a:spcAft>
                <a:spcPts val="0"/>
              </a:spcAft>
              <a:buSzPts val="1100"/>
              <a:buChar char="●"/>
            </a:pPr>
            <a:r>
              <a:rPr lang="en" sz="1100" b="1">
                <a:latin typeface="Nunito"/>
                <a:ea typeface="Nunito"/>
                <a:cs typeface="Nunito"/>
                <a:sym typeface="Nunito"/>
              </a:rPr>
              <a:t>P/E Ratio:</a:t>
            </a:r>
            <a:r>
              <a:rPr lang="en" sz="1100">
                <a:latin typeface="Nunito"/>
                <a:ea typeface="Nunito"/>
                <a:cs typeface="Nunito"/>
                <a:sym typeface="Nunito"/>
              </a:rPr>
              <a:t> </a:t>
            </a:r>
            <a:r>
              <a:rPr lang="en" sz="1100" b="1">
                <a:latin typeface="Nunito"/>
                <a:ea typeface="Nunito"/>
                <a:cs typeface="Nunito"/>
                <a:sym typeface="Nunito"/>
              </a:rPr>
              <a:t>41.55</a:t>
            </a:r>
            <a:r>
              <a:rPr lang="en" sz="1100">
                <a:latin typeface="Nunito"/>
                <a:ea typeface="Nunito"/>
                <a:cs typeface="Nunito"/>
                <a:sym typeface="Nunito"/>
              </a:rPr>
              <a:t> (</a:t>
            </a:r>
            <a:r>
              <a:rPr lang="en" sz="1100" b="1">
                <a:latin typeface="Nunito"/>
                <a:ea typeface="Nunito"/>
                <a:cs typeface="Nunito"/>
                <a:sym typeface="Nunito"/>
              </a:rPr>
              <a:t>Extremely Overvalued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Revenue Growth:</a:t>
            </a:r>
            <a:r>
              <a:rPr lang="en" sz="1100">
                <a:latin typeface="Nunito"/>
                <a:ea typeface="Nunito"/>
                <a:cs typeface="Nunito"/>
                <a:sym typeface="Nunito"/>
              </a:rPr>
              <a:t> </a:t>
            </a:r>
            <a:r>
              <a:rPr lang="en" sz="1100" b="1">
                <a:latin typeface="Nunito"/>
                <a:ea typeface="Nunito"/>
                <a:cs typeface="Nunito"/>
                <a:sym typeface="Nunito"/>
              </a:rPr>
              <a:t>+0.9%</a:t>
            </a:r>
            <a:r>
              <a:rPr lang="en" sz="1100">
                <a:latin typeface="Nunito"/>
                <a:ea typeface="Nunito"/>
                <a:cs typeface="Nunito"/>
                <a:sym typeface="Nunito"/>
              </a:rPr>
              <a:t> (</a:t>
            </a:r>
            <a:r>
              <a:rPr lang="en" sz="1100" b="1">
                <a:latin typeface="Nunito"/>
                <a:ea typeface="Nunito"/>
                <a:cs typeface="Nunito"/>
                <a:sym typeface="Nunito"/>
              </a:rPr>
              <a:t>Too Low</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Growth:</a:t>
            </a:r>
            <a:r>
              <a:rPr lang="en" sz="1100">
                <a:latin typeface="Nunito"/>
                <a:ea typeface="Nunito"/>
                <a:cs typeface="Nunito"/>
                <a:sym typeface="Nunito"/>
              </a:rPr>
              <a:t> </a:t>
            </a:r>
            <a:r>
              <a:rPr lang="en" sz="1100" b="1">
                <a:latin typeface="Nunito"/>
                <a:ea typeface="Nunito"/>
                <a:cs typeface="Nunito"/>
                <a:sym typeface="Nunito"/>
              </a:rPr>
              <a:t>-5.1%</a:t>
            </a:r>
            <a:r>
              <a:rPr lang="en" sz="1100">
                <a:latin typeface="Nunito"/>
                <a:ea typeface="Nunito"/>
                <a:cs typeface="Nunito"/>
                <a:sym typeface="Nunito"/>
              </a:rPr>
              <a:t> (</a:t>
            </a:r>
            <a:r>
              <a:rPr lang="en" sz="1100" b="1">
                <a:latin typeface="Nunito"/>
                <a:ea typeface="Nunito"/>
                <a:cs typeface="Nunito"/>
                <a:sym typeface="Nunito"/>
              </a:rPr>
              <a:t>Negative Growth</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Net Profit Margin:</a:t>
            </a:r>
            <a:r>
              <a:rPr lang="en" sz="1100">
                <a:latin typeface="Nunito"/>
                <a:ea typeface="Nunito"/>
                <a:cs typeface="Nunito"/>
                <a:sym typeface="Nunito"/>
              </a:rPr>
              <a:t> </a:t>
            </a:r>
            <a:r>
              <a:rPr lang="en" sz="1100" b="1">
                <a:latin typeface="Nunito"/>
                <a:ea typeface="Nunito"/>
                <a:cs typeface="Nunito"/>
                <a:sym typeface="Nunito"/>
              </a:rPr>
              <a:t>9.7%</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Debt-to-EBITDA:</a:t>
            </a:r>
            <a:r>
              <a:rPr lang="en" sz="1100">
                <a:latin typeface="Nunito"/>
                <a:ea typeface="Nunito"/>
                <a:cs typeface="Nunito"/>
                <a:sym typeface="Nunito"/>
              </a:rPr>
              <a:t> </a:t>
            </a:r>
            <a:r>
              <a:rPr lang="en" sz="1100" b="1">
                <a:latin typeface="Nunito"/>
                <a:ea typeface="Nunito"/>
                <a:cs typeface="Nunito"/>
                <a:sym typeface="Nunito"/>
              </a:rPr>
              <a:t>3.85</a:t>
            </a:r>
            <a:r>
              <a:rPr lang="en" sz="1100">
                <a:latin typeface="Nunito"/>
                <a:ea typeface="Nunito"/>
                <a:cs typeface="Nunito"/>
                <a:sym typeface="Nunito"/>
              </a:rPr>
              <a:t> (</a:t>
            </a:r>
            <a:r>
              <a:rPr lang="en" sz="1100" b="1">
                <a:latin typeface="Nunito"/>
                <a:ea typeface="Nunito"/>
                <a:cs typeface="Nunito"/>
                <a:sym typeface="Nunito"/>
              </a:rPr>
              <a:t>Very High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Margin:</a:t>
            </a:r>
            <a:r>
              <a:rPr lang="en" sz="1100">
                <a:latin typeface="Nunito"/>
                <a:ea typeface="Nunito"/>
                <a:cs typeface="Nunito"/>
                <a:sym typeface="Nunito"/>
              </a:rPr>
              <a:t> </a:t>
            </a:r>
            <a:r>
              <a:rPr lang="en" sz="1100" b="1">
                <a:latin typeface="Nunito"/>
                <a:ea typeface="Nunito"/>
                <a:cs typeface="Nunito"/>
                <a:sym typeface="Nunito"/>
              </a:rPr>
              <a:t>15.2%</a:t>
            </a:r>
            <a:r>
              <a:rPr lang="en" sz="1100">
                <a:latin typeface="Nunito"/>
                <a:ea typeface="Nunito"/>
                <a:cs typeface="Nunito"/>
                <a:sym typeface="Nunito"/>
              </a:rPr>
              <a:t> (</a:t>
            </a:r>
            <a:r>
              <a:rPr lang="en" sz="1100" b="1">
                <a:latin typeface="Nunito"/>
                <a:ea typeface="Nunito"/>
                <a:cs typeface="Nunito"/>
                <a:sym typeface="Nunito"/>
              </a:rPr>
              <a:t>Poor</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EPS Growth:</a:t>
            </a:r>
            <a:r>
              <a:rPr lang="en" sz="1100">
                <a:latin typeface="Nunito"/>
                <a:ea typeface="Nunito"/>
                <a:cs typeface="Nunito"/>
                <a:sym typeface="Nunito"/>
              </a:rPr>
              <a:t> </a:t>
            </a:r>
            <a:r>
              <a:rPr lang="en" sz="1100" b="1">
                <a:latin typeface="Nunito"/>
                <a:ea typeface="Nunito"/>
                <a:cs typeface="Nunito"/>
                <a:sym typeface="Nunito"/>
              </a:rPr>
              <a:t>+1.8%</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Interest Coverage Ratio:</a:t>
            </a:r>
            <a:r>
              <a:rPr lang="en" sz="1100">
                <a:latin typeface="Nunito"/>
                <a:ea typeface="Nunito"/>
                <a:cs typeface="Nunito"/>
                <a:sym typeface="Nunito"/>
              </a:rPr>
              <a:t> </a:t>
            </a:r>
            <a:r>
              <a:rPr lang="en" sz="1100" b="1">
                <a:latin typeface="Nunito"/>
                <a:ea typeface="Nunito"/>
                <a:cs typeface="Nunito"/>
                <a:sym typeface="Nunito"/>
              </a:rPr>
              <a:t>2.3</a:t>
            </a:r>
            <a:r>
              <a:rPr lang="en" sz="1100">
                <a:latin typeface="Nunito"/>
                <a:ea typeface="Nunito"/>
                <a:cs typeface="Nunito"/>
                <a:sym typeface="Nunito"/>
              </a:rPr>
              <a:t> (</a:t>
            </a:r>
            <a:r>
              <a:rPr lang="en" sz="1100" b="1">
                <a:latin typeface="Nunito"/>
                <a:ea typeface="Nunito"/>
                <a:cs typeface="Nunito"/>
                <a:sym typeface="Nunito"/>
              </a:rPr>
              <a:t>High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Dividend Yield:</a:t>
            </a:r>
            <a:r>
              <a:rPr lang="en" sz="1100">
                <a:latin typeface="Nunito"/>
                <a:ea typeface="Nunito"/>
                <a:cs typeface="Nunito"/>
                <a:sym typeface="Nunito"/>
              </a:rPr>
              <a:t> </a:t>
            </a:r>
            <a:r>
              <a:rPr lang="en" sz="1100" b="1">
                <a:latin typeface="Nunito"/>
                <a:ea typeface="Nunito"/>
                <a:cs typeface="Nunito"/>
                <a:sym typeface="Nunito"/>
              </a:rPr>
              <a:t>1.05%</a:t>
            </a:r>
            <a:r>
              <a:rPr lang="en" sz="1100">
                <a:latin typeface="Nunito"/>
                <a:ea typeface="Nunito"/>
                <a:cs typeface="Nunito"/>
                <a:sym typeface="Nunito"/>
              </a:rPr>
              <a:t> (</a:t>
            </a:r>
            <a:r>
              <a:rPr lang="en" sz="1100" b="1">
                <a:latin typeface="Nunito"/>
                <a:ea typeface="Nunito"/>
                <a:cs typeface="Nunito"/>
                <a:sym typeface="Nunito"/>
              </a:rPr>
              <a:t>Too Low</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ROE:</a:t>
            </a:r>
            <a:r>
              <a:rPr lang="en" sz="1100">
                <a:latin typeface="Nunito"/>
                <a:ea typeface="Nunito"/>
                <a:cs typeface="Nunito"/>
                <a:sym typeface="Nunito"/>
              </a:rPr>
              <a:t> </a:t>
            </a:r>
            <a:r>
              <a:rPr lang="en" sz="1100" b="1">
                <a:latin typeface="Nunito"/>
                <a:ea typeface="Nunito"/>
                <a:cs typeface="Nunito"/>
                <a:sym typeface="Nunito"/>
              </a:rPr>
              <a:t>0.10%</a:t>
            </a:r>
            <a:r>
              <a:rPr lang="en" sz="1100">
                <a:latin typeface="Nunito"/>
                <a:ea typeface="Nunito"/>
                <a:cs typeface="Nunito"/>
                <a:sym typeface="Nunito"/>
              </a:rPr>
              <a:t> (</a:t>
            </a:r>
            <a:r>
              <a:rPr lang="en" sz="1100" b="1">
                <a:latin typeface="Nunito"/>
                <a:ea typeface="Nunito"/>
                <a:cs typeface="Nunito"/>
                <a:sym typeface="Nunito"/>
              </a:rPr>
              <a:t>Extremely 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ROIC:</a:t>
            </a:r>
            <a:r>
              <a:rPr lang="en" sz="1100">
                <a:latin typeface="Nunito"/>
                <a:ea typeface="Nunito"/>
                <a:cs typeface="Nunito"/>
                <a:sym typeface="Nunito"/>
              </a:rPr>
              <a:t> </a:t>
            </a:r>
            <a:r>
              <a:rPr lang="en" sz="1100" b="1">
                <a:latin typeface="Nunito"/>
                <a:ea typeface="Nunito"/>
                <a:cs typeface="Nunito"/>
                <a:sym typeface="Nunito"/>
              </a:rPr>
              <a:t>0.10%</a:t>
            </a:r>
            <a:r>
              <a:rPr lang="en" sz="1100">
                <a:latin typeface="Nunito"/>
                <a:ea typeface="Nunito"/>
                <a:cs typeface="Nunito"/>
                <a:sym typeface="Nunito"/>
              </a:rPr>
              <a:t> (</a:t>
            </a:r>
            <a:r>
              <a:rPr lang="en" sz="1100" b="1">
                <a:latin typeface="Nunito"/>
                <a:ea typeface="Nunito"/>
                <a:cs typeface="Nunito"/>
                <a:sym typeface="Nunito"/>
              </a:rPr>
              <a:t>Minimal Efficiency</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ROA:</a:t>
            </a:r>
            <a:r>
              <a:rPr lang="en" sz="1100">
                <a:latin typeface="Nunito"/>
                <a:ea typeface="Nunito"/>
                <a:cs typeface="Nunito"/>
                <a:sym typeface="Nunito"/>
              </a:rPr>
              <a:t> </a:t>
            </a:r>
            <a:r>
              <a:rPr lang="en" sz="1100" b="1">
                <a:latin typeface="Nunito"/>
                <a:ea typeface="Nunito"/>
                <a:cs typeface="Nunito"/>
                <a:sym typeface="Nunito"/>
              </a:rPr>
              <a:t>0.10%</a:t>
            </a:r>
            <a:r>
              <a:rPr lang="en" sz="1100">
                <a:latin typeface="Nunito"/>
                <a:ea typeface="Nunito"/>
                <a:cs typeface="Nunito"/>
                <a:sym typeface="Nunito"/>
              </a:rPr>
              <a:t> (</a:t>
            </a:r>
            <a:r>
              <a:rPr lang="en" sz="1100" b="1">
                <a:latin typeface="Nunito"/>
                <a:ea typeface="Nunito"/>
                <a:cs typeface="Nunito"/>
                <a:sym typeface="Nunito"/>
              </a:rPr>
              <a:t>Very Poor</a:t>
            </a:r>
            <a:r>
              <a:rPr lang="en" sz="1100">
                <a:latin typeface="Nunito"/>
                <a:ea typeface="Nunito"/>
                <a:cs typeface="Nunito"/>
                <a:sym typeface="Nunito"/>
              </a:rPr>
              <a:t> ❌)</a:t>
            </a:r>
            <a:endParaRPr sz="1100">
              <a:latin typeface="Nunito"/>
              <a:ea typeface="Nunito"/>
              <a:cs typeface="Nunito"/>
              <a:sym typeface="Nunito"/>
            </a:endParaRPr>
          </a:p>
          <a:p>
            <a:pPr marL="0" lvl="0" indent="0" algn="l" rtl="0">
              <a:lnSpc>
                <a:spcPct val="115000"/>
              </a:lnSpc>
              <a:spcBef>
                <a:spcPts val="1200"/>
              </a:spcBef>
              <a:spcAft>
                <a:spcPts val="0"/>
              </a:spcAft>
              <a:buNone/>
            </a:pPr>
            <a:r>
              <a:rPr lang="en" sz="1100">
                <a:latin typeface="Nunito"/>
                <a:ea typeface="Nunito"/>
                <a:cs typeface="Nunito"/>
                <a:sym typeface="Nunito"/>
              </a:rPr>
              <a:t>📌 </a:t>
            </a:r>
            <a:r>
              <a:rPr lang="en" sz="1100" b="1">
                <a:latin typeface="Nunito"/>
                <a:ea typeface="Nunito"/>
                <a:cs typeface="Nunito"/>
                <a:sym typeface="Nunito"/>
              </a:rPr>
              <a:t>Final Verdict:</a:t>
            </a:r>
            <a:r>
              <a:rPr lang="en" sz="1100">
                <a:latin typeface="Nunito"/>
                <a:ea typeface="Nunito"/>
                <a:cs typeface="Nunito"/>
                <a:sym typeface="Nunito"/>
              </a:rPr>
              <a:t> ❌ </a:t>
            </a:r>
            <a:r>
              <a:rPr lang="en" sz="1100" b="1">
                <a:latin typeface="Nunito"/>
                <a:ea typeface="Nunito"/>
                <a:cs typeface="Nunito"/>
                <a:sym typeface="Nunito"/>
              </a:rPr>
              <a:t>Extremely overvalued with weak earnings and high debt—avoid.</a:t>
            </a:r>
            <a:endParaRPr sz="1100" b="1">
              <a:latin typeface="Nunito"/>
              <a:ea typeface="Nunito"/>
              <a:cs typeface="Nunito"/>
              <a:sym typeface="Nunito"/>
            </a:endParaRPr>
          </a:p>
          <a:p>
            <a:pPr marL="0" lvl="0" indent="0" algn="l" rtl="0">
              <a:lnSpc>
                <a:spcPct val="115000"/>
              </a:lnSpc>
              <a:spcBef>
                <a:spcPts val="1200"/>
              </a:spcBef>
              <a:spcAft>
                <a:spcPts val="0"/>
              </a:spcAft>
              <a:buNone/>
            </a:pPr>
            <a:endParaRPr sz="1700" b="1"/>
          </a:p>
          <a:p>
            <a:pPr marL="0" lvl="0" indent="0" algn="l" rtl="0">
              <a:lnSpc>
                <a:spcPct val="115000"/>
              </a:lnSpc>
              <a:spcBef>
                <a:spcPts val="1200"/>
              </a:spcBef>
              <a:spcAft>
                <a:spcPts val="0"/>
              </a:spcAft>
              <a:buNone/>
            </a:pPr>
            <a:endParaRPr sz="1700" b="1"/>
          </a:p>
        </p:txBody>
      </p:sp>
      <p:sp>
        <p:nvSpPr>
          <p:cNvPr id="552" name="Google Shape;552;p45"/>
          <p:cNvSpPr/>
          <p:nvPr/>
        </p:nvSpPr>
        <p:spPr>
          <a:xfrm>
            <a:off x="1129650" y="327000"/>
            <a:ext cx="6884700" cy="5271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53" name="Google Shape;553;p45"/>
          <p:cNvSpPr txBox="1">
            <a:spLocks noGrp="1"/>
          </p:cNvSpPr>
          <p:nvPr>
            <p:ph type="title"/>
          </p:nvPr>
        </p:nvSpPr>
        <p:spPr>
          <a:xfrm>
            <a:off x="793500" y="293400"/>
            <a:ext cx="75570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Unutilized/Non-performing Stocks Analysis</a:t>
            </a:r>
            <a:endParaRPr>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46"/>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46"/>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560" name="Google Shape;560;p46"/>
          <p:cNvSpPr/>
          <p:nvPr/>
        </p:nvSpPr>
        <p:spPr>
          <a:xfrm>
            <a:off x="1365500" y="955050"/>
            <a:ext cx="2898300" cy="4011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61" name="Google Shape;561;p46"/>
          <p:cNvSpPr txBox="1"/>
          <p:nvPr/>
        </p:nvSpPr>
        <p:spPr>
          <a:xfrm>
            <a:off x="598820" y="775535"/>
            <a:ext cx="6720300" cy="4738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t> </a:t>
            </a:r>
            <a:r>
              <a:rPr lang="en" sz="1700" b="1"/>
              <a:t>1️⃣7️⃣  </a:t>
            </a:r>
            <a:r>
              <a:rPr lang="en" sz="1700" b="1">
                <a:solidFill>
                  <a:schemeClr val="dk1"/>
                </a:solidFill>
              </a:rPr>
              <a:t>Stock S - Weakest Growth</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1.9/10</a:t>
            </a:r>
            <a:br>
              <a:rPr lang="en" sz="1100" b="1">
                <a:latin typeface="Nunito"/>
                <a:ea typeface="Nunito"/>
                <a:cs typeface="Nunito"/>
                <a:sym typeface="Nunito"/>
              </a:rPr>
            </a:br>
            <a:r>
              <a:rPr lang="en" sz="1100">
                <a:latin typeface="Nunito"/>
                <a:ea typeface="Nunito"/>
                <a:cs typeface="Nunito"/>
                <a:sym typeface="Nunito"/>
              </a:rPr>
              <a:t> Stock S has </a:t>
            </a:r>
            <a:r>
              <a:rPr lang="en" sz="1100" b="1">
                <a:latin typeface="Nunito"/>
                <a:ea typeface="Nunito"/>
                <a:cs typeface="Nunito"/>
                <a:sym typeface="Nunito"/>
              </a:rPr>
              <a:t>declining revenue, negative growth, and low profitability</a:t>
            </a:r>
            <a:r>
              <a:rPr lang="en" sz="1100">
                <a:latin typeface="Nunito"/>
                <a:ea typeface="Nunito"/>
                <a:cs typeface="Nunito"/>
                <a:sym typeface="Nunito"/>
              </a:rPr>
              <a:t>.</a:t>
            </a:r>
            <a:endParaRPr sz="1100">
              <a:latin typeface="Nunito"/>
              <a:ea typeface="Nunito"/>
              <a:cs typeface="Nunito"/>
              <a:sym typeface="Nunito"/>
            </a:endParaRPr>
          </a:p>
          <a:p>
            <a:pPr marL="457200" lvl="0" indent="-298450" algn="l" rtl="0">
              <a:lnSpc>
                <a:spcPct val="115000"/>
              </a:lnSpc>
              <a:spcBef>
                <a:spcPts val="1200"/>
              </a:spcBef>
              <a:spcAft>
                <a:spcPts val="0"/>
              </a:spcAft>
              <a:buSzPts val="1100"/>
              <a:buChar char="●"/>
            </a:pPr>
            <a:r>
              <a:rPr lang="en" sz="1100" b="1">
                <a:latin typeface="Nunito"/>
                <a:ea typeface="Nunito"/>
                <a:cs typeface="Nunito"/>
                <a:sym typeface="Nunito"/>
              </a:rPr>
              <a:t>P/E Ratio:</a:t>
            </a:r>
            <a:r>
              <a:rPr lang="en" sz="1100">
                <a:latin typeface="Nunito"/>
                <a:ea typeface="Nunito"/>
                <a:cs typeface="Nunito"/>
                <a:sym typeface="Nunito"/>
              </a:rPr>
              <a:t> </a:t>
            </a:r>
            <a:r>
              <a:rPr lang="en" sz="1100" b="1">
                <a:latin typeface="Nunito"/>
                <a:ea typeface="Nunito"/>
                <a:cs typeface="Nunito"/>
                <a:sym typeface="Nunito"/>
              </a:rPr>
              <a:t>27.12</a:t>
            </a:r>
            <a:r>
              <a:rPr lang="en" sz="1100">
                <a:latin typeface="Nunito"/>
                <a:ea typeface="Nunito"/>
                <a:cs typeface="Nunito"/>
                <a:sym typeface="Nunito"/>
              </a:rPr>
              <a:t> (</a:t>
            </a:r>
            <a:r>
              <a:rPr lang="en" sz="1100" b="1">
                <a:latin typeface="Nunito"/>
                <a:ea typeface="Nunito"/>
                <a:cs typeface="Nunito"/>
                <a:sym typeface="Nunito"/>
              </a:rPr>
              <a:t>Overvalued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Revenue Growth:</a:t>
            </a:r>
            <a:r>
              <a:rPr lang="en" sz="1100">
                <a:latin typeface="Nunito"/>
                <a:ea typeface="Nunito"/>
                <a:cs typeface="Nunito"/>
                <a:sym typeface="Nunito"/>
              </a:rPr>
              <a:t> </a:t>
            </a:r>
            <a:r>
              <a:rPr lang="en" sz="1100" b="1">
                <a:latin typeface="Nunito"/>
                <a:ea typeface="Nunito"/>
                <a:cs typeface="Nunito"/>
                <a:sym typeface="Nunito"/>
              </a:rPr>
              <a:t>-7.9%</a:t>
            </a:r>
            <a:r>
              <a:rPr lang="en" sz="1100">
                <a:latin typeface="Nunito"/>
                <a:ea typeface="Nunito"/>
                <a:cs typeface="Nunito"/>
                <a:sym typeface="Nunito"/>
              </a:rPr>
              <a:t> (</a:t>
            </a:r>
            <a:r>
              <a:rPr lang="en" sz="1100" b="1">
                <a:latin typeface="Nunito"/>
                <a:ea typeface="Nunito"/>
                <a:cs typeface="Nunito"/>
                <a:sym typeface="Nunito"/>
              </a:rPr>
              <a:t>Declining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Growth:</a:t>
            </a:r>
            <a:r>
              <a:rPr lang="en" sz="1100">
                <a:latin typeface="Nunito"/>
                <a:ea typeface="Nunito"/>
                <a:cs typeface="Nunito"/>
                <a:sym typeface="Nunito"/>
              </a:rPr>
              <a:t> </a:t>
            </a:r>
            <a:r>
              <a:rPr lang="en" sz="1100" b="1">
                <a:latin typeface="Nunito"/>
                <a:ea typeface="Nunito"/>
                <a:cs typeface="Nunito"/>
                <a:sym typeface="Nunito"/>
              </a:rPr>
              <a:t>-9.1%</a:t>
            </a:r>
            <a:r>
              <a:rPr lang="en" sz="1100">
                <a:latin typeface="Nunito"/>
                <a:ea typeface="Nunito"/>
                <a:cs typeface="Nunito"/>
                <a:sym typeface="Nunito"/>
              </a:rPr>
              <a:t> (</a:t>
            </a:r>
            <a:r>
              <a:rPr lang="en" sz="1100" b="1">
                <a:latin typeface="Nunito"/>
                <a:ea typeface="Nunito"/>
                <a:cs typeface="Nunito"/>
                <a:sym typeface="Nunito"/>
              </a:rPr>
              <a:t>Negative Growth</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Net Profit Margin:</a:t>
            </a:r>
            <a:r>
              <a:rPr lang="en" sz="1100">
                <a:latin typeface="Nunito"/>
                <a:ea typeface="Nunito"/>
                <a:cs typeface="Nunito"/>
                <a:sym typeface="Nunito"/>
              </a:rPr>
              <a:t> </a:t>
            </a:r>
            <a:r>
              <a:rPr lang="en" sz="1100" b="1">
                <a:latin typeface="Nunito"/>
                <a:ea typeface="Nunito"/>
                <a:cs typeface="Nunito"/>
                <a:sym typeface="Nunito"/>
              </a:rPr>
              <a:t>5.2%</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Debt-to-EBITDA:</a:t>
            </a:r>
            <a:r>
              <a:rPr lang="en" sz="1100">
                <a:latin typeface="Nunito"/>
                <a:ea typeface="Nunito"/>
                <a:cs typeface="Nunito"/>
                <a:sym typeface="Nunito"/>
              </a:rPr>
              <a:t> </a:t>
            </a:r>
            <a:r>
              <a:rPr lang="en" sz="1100" b="1">
                <a:latin typeface="Nunito"/>
                <a:ea typeface="Nunito"/>
                <a:cs typeface="Nunito"/>
                <a:sym typeface="Nunito"/>
              </a:rPr>
              <a:t>4.85</a:t>
            </a:r>
            <a:r>
              <a:rPr lang="en" sz="1100">
                <a:latin typeface="Nunito"/>
                <a:ea typeface="Nunito"/>
                <a:cs typeface="Nunito"/>
                <a:sym typeface="Nunito"/>
              </a:rPr>
              <a:t> (</a:t>
            </a:r>
            <a:r>
              <a:rPr lang="en" sz="1100" b="1">
                <a:latin typeface="Nunito"/>
                <a:ea typeface="Nunito"/>
                <a:cs typeface="Nunito"/>
                <a:sym typeface="Nunito"/>
              </a:rPr>
              <a:t>Very High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Margin:</a:t>
            </a:r>
            <a:r>
              <a:rPr lang="en" sz="1100">
                <a:latin typeface="Nunito"/>
                <a:ea typeface="Nunito"/>
                <a:cs typeface="Nunito"/>
                <a:sym typeface="Nunito"/>
              </a:rPr>
              <a:t> </a:t>
            </a:r>
            <a:r>
              <a:rPr lang="en" sz="1100" b="1">
                <a:latin typeface="Nunito"/>
                <a:ea typeface="Nunito"/>
                <a:cs typeface="Nunito"/>
                <a:sym typeface="Nunito"/>
              </a:rPr>
              <a:t>11.9%</a:t>
            </a:r>
            <a:r>
              <a:rPr lang="en" sz="1100">
                <a:latin typeface="Nunito"/>
                <a:ea typeface="Nunito"/>
                <a:cs typeface="Nunito"/>
                <a:sym typeface="Nunito"/>
              </a:rPr>
              <a:t> (</a:t>
            </a:r>
            <a:r>
              <a:rPr lang="en" sz="1100" b="1">
                <a:latin typeface="Nunito"/>
                <a:ea typeface="Nunito"/>
                <a:cs typeface="Nunito"/>
                <a:sym typeface="Nunito"/>
              </a:rPr>
              <a:t>Poor</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EPS Growth:</a:t>
            </a:r>
            <a:r>
              <a:rPr lang="en" sz="1100">
                <a:latin typeface="Nunito"/>
                <a:ea typeface="Nunito"/>
                <a:cs typeface="Nunito"/>
                <a:sym typeface="Nunito"/>
              </a:rPr>
              <a:t> </a:t>
            </a:r>
            <a:r>
              <a:rPr lang="en" sz="1100" b="1">
                <a:latin typeface="Nunito"/>
                <a:ea typeface="Nunito"/>
                <a:cs typeface="Nunito"/>
                <a:sym typeface="Nunito"/>
              </a:rPr>
              <a:t>-1.2%</a:t>
            </a:r>
            <a:r>
              <a:rPr lang="en" sz="1100">
                <a:latin typeface="Nunito"/>
                <a:ea typeface="Nunito"/>
                <a:cs typeface="Nunito"/>
                <a:sym typeface="Nunito"/>
              </a:rPr>
              <a:t> (</a:t>
            </a:r>
            <a:r>
              <a:rPr lang="en" sz="1100" b="1">
                <a:latin typeface="Nunito"/>
                <a:ea typeface="Nunito"/>
                <a:cs typeface="Nunito"/>
                <a:sym typeface="Nunito"/>
              </a:rPr>
              <a:t>Negative EPS</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Interest Coverage Ratio:</a:t>
            </a:r>
            <a:r>
              <a:rPr lang="en" sz="1100">
                <a:latin typeface="Nunito"/>
                <a:ea typeface="Nunito"/>
                <a:cs typeface="Nunito"/>
                <a:sym typeface="Nunito"/>
              </a:rPr>
              <a:t> </a:t>
            </a:r>
            <a:r>
              <a:rPr lang="en" sz="1100" b="1">
                <a:latin typeface="Nunito"/>
                <a:ea typeface="Nunito"/>
                <a:cs typeface="Nunito"/>
                <a:sym typeface="Nunito"/>
              </a:rPr>
              <a:t>1.3</a:t>
            </a:r>
            <a:r>
              <a:rPr lang="en" sz="1100">
                <a:latin typeface="Nunito"/>
                <a:ea typeface="Nunito"/>
                <a:cs typeface="Nunito"/>
                <a:sym typeface="Nunito"/>
              </a:rPr>
              <a:t> (</a:t>
            </a:r>
            <a:r>
              <a:rPr lang="en" sz="1100" b="1">
                <a:latin typeface="Nunito"/>
                <a:ea typeface="Nunito"/>
                <a:cs typeface="Nunito"/>
                <a:sym typeface="Nunito"/>
              </a:rPr>
              <a:t>Very Risky</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Dividend Yield:</a:t>
            </a:r>
            <a:r>
              <a:rPr lang="en" sz="1100">
                <a:latin typeface="Nunito"/>
                <a:ea typeface="Nunito"/>
                <a:cs typeface="Nunito"/>
                <a:sym typeface="Nunito"/>
              </a:rPr>
              <a:t> </a:t>
            </a:r>
            <a:r>
              <a:rPr lang="en" sz="1100" b="1">
                <a:latin typeface="Nunito"/>
                <a:ea typeface="Nunito"/>
                <a:cs typeface="Nunito"/>
                <a:sym typeface="Nunito"/>
              </a:rPr>
              <a:t>1.36%</a:t>
            </a:r>
            <a:r>
              <a:rPr lang="en" sz="1100">
                <a:latin typeface="Nunito"/>
                <a:ea typeface="Nunito"/>
                <a:cs typeface="Nunito"/>
                <a:sym typeface="Nunito"/>
              </a:rPr>
              <a:t> (</a:t>
            </a:r>
            <a:r>
              <a:rPr lang="en" sz="1100" b="1">
                <a:latin typeface="Nunito"/>
                <a:ea typeface="Nunito"/>
                <a:cs typeface="Nunito"/>
                <a:sym typeface="Nunito"/>
              </a:rPr>
              <a:t>Too Low</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ROE:</a:t>
            </a:r>
            <a:r>
              <a:rPr lang="en" sz="1100">
                <a:latin typeface="Nunito"/>
                <a:ea typeface="Nunito"/>
                <a:cs typeface="Nunito"/>
                <a:sym typeface="Nunito"/>
              </a:rPr>
              <a:t> </a:t>
            </a:r>
            <a:r>
              <a:rPr lang="en" sz="1100" b="1">
                <a:latin typeface="Nunito"/>
                <a:ea typeface="Nunito"/>
                <a:cs typeface="Nunito"/>
                <a:sym typeface="Nunito"/>
              </a:rPr>
              <a:t>27.00%</a:t>
            </a:r>
            <a:r>
              <a:rPr lang="en" sz="1100">
                <a:latin typeface="Nunito"/>
                <a:ea typeface="Nunito"/>
                <a:cs typeface="Nunito"/>
                <a:sym typeface="Nunito"/>
              </a:rPr>
              <a:t> (</a:t>
            </a:r>
            <a:r>
              <a:rPr lang="en" sz="1100" b="1">
                <a:latin typeface="Nunito"/>
                <a:ea typeface="Nunito"/>
                <a:cs typeface="Nunito"/>
                <a:sym typeface="Nunito"/>
              </a:rPr>
              <a:t>Only Positive Factor</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ROIC:</a:t>
            </a:r>
            <a:r>
              <a:rPr lang="en" sz="1100">
                <a:latin typeface="Nunito"/>
                <a:ea typeface="Nunito"/>
                <a:cs typeface="Nunito"/>
                <a:sym typeface="Nunito"/>
              </a:rPr>
              <a:t> </a:t>
            </a:r>
            <a:r>
              <a:rPr lang="en" sz="1100" b="1">
                <a:latin typeface="Nunito"/>
                <a:ea typeface="Nunito"/>
                <a:cs typeface="Nunito"/>
                <a:sym typeface="Nunito"/>
              </a:rPr>
              <a:t>-8.20%</a:t>
            </a:r>
            <a:r>
              <a:rPr lang="en" sz="1100">
                <a:latin typeface="Nunito"/>
                <a:ea typeface="Nunito"/>
                <a:cs typeface="Nunito"/>
                <a:sym typeface="Nunito"/>
              </a:rPr>
              <a:t> (</a:t>
            </a:r>
            <a:r>
              <a:rPr lang="en" sz="1100" b="1">
                <a:latin typeface="Nunito"/>
                <a:ea typeface="Nunito"/>
                <a:cs typeface="Nunito"/>
                <a:sym typeface="Nunito"/>
              </a:rPr>
              <a:t>Poor</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ROA:</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0" lvl="0" indent="0" algn="l" rtl="0">
              <a:lnSpc>
                <a:spcPct val="115000"/>
              </a:lnSpc>
              <a:spcBef>
                <a:spcPts val="1200"/>
              </a:spcBef>
              <a:spcAft>
                <a:spcPts val="0"/>
              </a:spcAft>
              <a:buNone/>
            </a:pPr>
            <a:r>
              <a:rPr lang="en" sz="1100">
                <a:latin typeface="Nunito"/>
                <a:ea typeface="Nunito"/>
                <a:cs typeface="Nunito"/>
                <a:sym typeface="Nunito"/>
              </a:rPr>
              <a:t>📌 </a:t>
            </a:r>
            <a:r>
              <a:rPr lang="en" sz="1100" b="1">
                <a:latin typeface="Nunito"/>
                <a:ea typeface="Nunito"/>
                <a:cs typeface="Nunito"/>
                <a:sym typeface="Nunito"/>
              </a:rPr>
              <a:t>Final Verdict:</a:t>
            </a:r>
            <a:r>
              <a:rPr lang="en" sz="1100">
                <a:latin typeface="Nunito"/>
                <a:ea typeface="Nunito"/>
                <a:cs typeface="Nunito"/>
                <a:sym typeface="Nunito"/>
              </a:rPr>
              <a:t> ❌ </a:t>
            </a:r>
            <a:r>
              <a:rPr lang="en" sz="1100" b="1">
                <a:latin typeface="Nunito"/>
                <a:ea typeface="Nunito"/>
                <a:cs typeface="Nunito"/>
                <a:sym typeface="Nunito"/>
              </a:rPr>
              <a:t>Weak earnings, high debt, poor financials—avoid.</a:t>
            </a:r>
            <a:endParaRPr sz="1100" b="1">
              <a:latin typeface="Nunito"/>
              <a:ea typeface="Nunito"/>
              <a:cs typeface="Nunito"/>
              <a:sym typeface="Nunito"/>
            </a:endParaRPr>
          </a:p>
          <a:p>
            <a:pPr marL="0" lvl="0" indent="0" algn="l" rtl="0">
              <a:lnSpc>
                <a:spcPct val="115000"/>
              </a:lnSpc>
              <a:spcBef>
                <a:spcPts val="1200"/>
              </a:spcBef>
              <a:spcAft>
                <a:spcPts val="0"/>
              </a:spcAft>
              <a:buNone/>
            </a:pPr>
            <a:endParaRPr sz="1700" b="1"/>
          </a:p>
          <a:p>
            <a:pPr marL="0" lvl="0" indent="0" algn="l" rtl="0">
              <a:lnSpc>
                <a:spcPct val="115000"/>
              </a:lnSpc>
              <a:spcBef>
                <a:spcPts val="1200"/>
              </a:spcBef>
              <a:spcAft>
                <a:spcPts val="0"/>
              </a:spcAft>
              <a:buNone/>
            </a:pPr>
            <a:endParaRPr sz="1700" b="1"/>
          </a:p>
        </p:txBody>
      </p:sp>
      <p:sp>
        <p:nvSpPr>
          <p:cNvPr id="562" name="Google Shape;562;p46"/>
          <p:cNvSpPr/>
          <p:nvPr/>
        </p:nvSpPr>
        <p:spPr>
          <a:xfrm>
            <a:off x="1129650" y="327000"/>
            <a:ext cx="6884700" cy="5271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63" name="Google Shape;563;p46"/>
          <p:cNvSpPr txBox="1">
            <a:spLocks noGrp="1"/>
          </p:cNvSpPr>
          <p:nvPr>
            <p:ph type="title"/>
          </p:nvPr>
        </p:nvSpPr>
        <p:spPr>
          <a:xfrm>
            <a:off x="793500" y="293400"/>
            <a:ext cx="75570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Unutilized/Non-performing Stocks Analysis</a:t>
            </a:r>
            <a:endParaRPr>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47"/>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47"/>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570" name="Google Shape;570;p47"/>
          <p:cNvSpPr/>
          <p:nvPr/>
        </p:nvSpPr>
        <p:spPr>
          <a:xfrm>
            <a:off x="1354025" y="909575"/>
            <a:ext cx="4215600" cy="4698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71" name="Google Shape;571;p47"/>
          <p:cNvSpPr txBox="1"/>
          <p:nvPr/>
        </p:nvSpPr>
        <p:spPr>
          <a:xfrm>
            <a:off x="578500" y="775535"/>
            <a:ext cx="6720300" cy="4738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a:t> </a:t>
            </a:r>
            <a:r>
              <a:rPr lang="en" sz="1700" b="1"/>
              <a:t>1️⃣8️⃣  </a:t>
            </a:r>
            <a:r>
              <a:rPr lang="en" sz="1700" b="1">
                <a:solidFill>
                  <a:schemeClr val="dk1"/>
                </a:solidFill>
              </a:rPr>
              <a:t>Stock F - Falling Earnings &amp; High Debt</a:t>
            </a:r>
            <a:endParaRPr sz="1700" b="1">
              <a:solidFill>
                <a:schemeClr val="dk1"/>
              </a:solidFill>
            </a:endParaRPr>
          </a:p>
          <a:p>
            <a:pPr marL="0" lvl="0" indent="0" algn="l" rtl="0">
              <a:lnSpc>
                <a:spcPct val="115000"/>
              </a:lnSpc>
              <a:spcBef>
                <a:spcPts val="1200"/>
              </a:spcBef>
              <a:spcAft>
                <a:spcPts val="0"/>
              </a:spcAft>
              <a:buNone/>
            </a:pPr>
            <a:r>
              <a:rPr lang="en" sz="1100" b="1">
                <a:solidFill>
                  <a:schemeClr val="accent1"/>
                </a:solidFill>
                <a:latin typeface="Nunito"/>
                <a:ea typeface="Nunito"/>
                <a:cs typeface="Nunito"/>
                <a:sym typeface="Nunito"/>
              </a:rPr>
              <a:t>Investment Score:</a:t>
            </a:r>
            <a:r>
              <a:rPr lang="en" sz="1100">
                <a:solidFill>
                  <a:schemeClr val="accent1"/>
                </a:solidFill>
                <a:latin typeface="Nunito"/>
                <a:ea typeface="Nunito"/>
                <a:cs typeface="Nunito"/>
                <a:sym typeface="Nunito"/>
              </a:rPr>
              <a:t> </a:t>
            </a:r>
            <a:r>
              <a:rPr lang="en" sz="1100" b="1">
                <a:solidFill>
                  <a:schemeClr val="accent1"/>
                </a:solidFill>
                <a:latin typeface="Nunito"/>
                <a:ea typeface="Nunito"/>
                <a:cs typeface="Nunito"/>
                <a:sym typeface="Nunito"/>
              </a:rPr>
              <a:t>1.6/10</a:t>
            </a:r>
            <a:br>
              <a:rPr lang="en" sz="1100" b="1">
                <a:solidFill>
                  <a:schemeClr val="accent1"/>
                </a:solidFill>
                <a:latin typeface="Nunito"/>
                <a:ea typeface="Nunito"/>
                <a:cs typeface="Nunito"/>
                <a:sym typeface="Nunito"/>
              </a:rPr>
            </a:br>
            <a:r>
              <a:rPr lang="en" sz="1100">
                <a:solidFill>
                  <a:schemeClr val="accent1"/>
                </a:solidFill>
                <a:latin typeface="Nunito"/>
                <a:ea typeface="Nunito"/>
                <a:cs typeface="Nunito"/>
                <a:sym typeface="Nunito"/>
              </a:rPr>
              <a:t> </a:t>
            </a:r>
            <a:r>
              <a:rPr lang="en" sz="1100">
                <a:latin typeface="Nunito"/>
                <a:ea typeface="Nunito"/>
                <a:cs typeface="Nunito"/>
                <a:sym typeface="Nunito"/>
              </a:rPr>
              <a:t>Stock F has </a:t>
            </a:r>
            <a:r>
              <a:rPr lang="en" sz="1100" b="1">
                <a:latin typeface="Nunito"/>
                <a:ea typeface="Nunito"/>
                <a:cs typeface="Nunito"/>
                <a:sym typeface="Nunito"/>
              </a:rPr>
              <a:t>declining earnings, poor margins, and high debt</a:t>
            </a:r>
            <a:r>
              <a:rPr lang="en" sz="1100">
                <a:latin typeface="Nunito"/>
                <a:ea typeface="Nunito"/>
                <a:cs typeface="Nunito"/>
                <a:sym typeface="Nunito"/>
              </a:rPr>
              <a:t>.</a:t>
            </a:r>
            <a:endParaRPr sz="1100">
              <a:latin typeface="Nunito"/>
              <a:ea typeface="Nunito"/>
              <a:cs typeface="Nunito"/>
              <a:sym typeface="Nunito"/>
            </a:endParaRPr>
          </a:p>
          <a:p>
            <a:pPr marL="457200" lvl="0" indent="-298450" algn="l" rtl="0">
              <a:lnSpc>
                <a:spcPct val="115000"/>
              </a:lnSpc>
              <a:spcBef>
                <a:spcPts val="1200"/>
              </a:spcBef>
              <a:spcAft>
                <a:spcPts val="0"/>
              </a:spcAft>
              <a:buSzPts val="1100"/>
              <a:buChar char="●"/>
            </a:pPr>
            <a:r>
              <a:rPr lang="en" sz="1100" b="1">
                <a:latin typeface="Nunito"/>
                <a:ea typeface="Nunito"/>
                <a:cs typeface="Nunito"/>
                <a:sym typeface="Nunito"/>
              </a:rPr>
              <a:t>P/E Ratio:</a:t>
            </a:r>
            <a:r>
              <a:rPr lang="en" sz="1100">
                <a:latin typeface="Nunito"/>
                <a:ea typeface="Nunito"/>
                <a:cs typeface="Nunito"/>
                <a:sym typeface="Nunito"/>
              </a:rPr>
              <a:t> </a:t>
            </a:r>
            <a:r>
              <a:rPr lang="en" sz="1100" b="1">
                <a:latin typeface="Nunito"/>
                <a:ea typeface="Nunito"/>
                <a:cs typeface="Nunito"/>
                <a:sym typeface="Nunito"/>
              </a:rPr>
              <a:t>24.67</a:t>
            </a:r>
            <a:r>
              <a:rPr lang="en" sz="1100">
                <a:latin typeface="Nunito"/>
                <a:ea typeface="Nunito"/>
                <a:cs typeface="Nunito"/>
                <a:sym typeface="Nunito"/>
              </a:rPr>
              <a:t> (</a:t>
            </a:r>
            <a:r>
              <a:rPr lang="en" sz="1100" b="1">
                <a:latin typeface="Nunito"/>
                <a:ea typeface="Nunito"/>
                <a:cs typeface="Nunito"/>
                <a:sym typeface="Nunito"/>
              </a:rPr>
              <a:t>Overvalued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Revenue Growth:</a:t>
            </a:r>
            <a:r>
              <a:rPr lang="en" sz="1100">
                <a:latin typeface="Nunito"/>
                <a:ea typeface="Nunito"/>
                <a:cs typeface="Nunito"/>
                <a:sym typeface="Nunito"/>
              </a:rPr>
              <a:t> </a:t>
            </a:r>
            <a:r>
              <a:rPr lang="en" sz="1100" b="1">
                <a:latin typeface="Nunito"/>
                <a:ea typeface="Nunito"/>
                <a:cs typeface="Nunito"/>
                <a:sym typeface="Nunito"/>
              </a:rPr>
              <a:t>-10.2%</a:t>
            </a:r>
            <a:r>
              <a:rPr lang="en" sz="1100">
                <a:latin typeface="Nunito"/>
                <a:ea typeface="Nunito"/>
                <a:cs typeface="Nunito"/>
                <a:sym typeface="Nunito"/>
              </a:rPr>
              <a:t> (</a:t>
            </a:r>
            <a:r>
              <a:rPr lang="en" sz="1100" b="1">
                <a:latin typeface="Nunito"/>
                <a:ea typeface="Nunito"/>
                <a:cs typeface="Nunito"/>
                <a:sym typeface="Nunito"/>
              </a:rPr>
              <a:t>Declining</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Growth:</a:t>
            </a:r>
            <a:r>
              <a:rPr lang="en" sz="1100">
                <a:latin typeface="Nunito"/>
                <a:ea typeface="Nunito"/>
                <a:cs typeface="Nunito"/>
                <a:sym typeface="Nunito"/>
              </a:rPr>
              <a:t> </a:t>
            </a:r>
            <a:r>
              <a:rPr lang="en" sz="1100" b="1">
                <a:latin typeface="Nunito"/>
                <a:ea typeface="Nunito"/>
                <a:cs typeface="Nunito"/>
                <a:sym typeface="Nunito"/>
              </a:rPr>
              <a:t>-12.5%</a:t>
            </a:r>
            <a:r>
              <a:rPr lang="en" sz="1100">
                <a:latin typeface="Nunito"/>
                <a:ea typeface="Nunito"/>
                <a:cs typeface="Nunito"/>
                <a:sym typeface="Nunito"/>
              </a:rPr>
              <a:t> (</a:t>
            </a:r>
            <a:r>
              <a:rPr lang="en" sz="1100" b="1">
                <a:latin typeface="Nunito"/>
                <a:ea typeface="Nunito"/>
                <a:cs typeface="Nunito"/>
                <a:sym typeface="Nunito"/>
              </a:rPr>
              <a:t>Negative Growth</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Net Profit Margin:</a:t>
            </a:r>
            <a:r>
              <a:rPr lang="en" sz="1100">
                <a:latin typeface="Nunito"/>
                <a:ea typeface="Nunito"/>
                <a:cs typeface="Nunito"/>
                <a:sym typeface="Nunito"/>
              </a:rPr>
              <a:t> </a:t>
            </a:r>
            <a:r>
              <a:rPr lang="en" sz="1100" b="1">
                <a:latin typeface="Nunito"/>
                <a:ea typeface="Nunito"/>
                <a:cs typeface="Nunito"/>
                <a:sym typeface="Nunito"/>
              </a:rPr>
              <a:t>4.8%</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Debt-to-EBITDA:</a:t>
            </a:r>
            <a:r>
              <a:rPr lang="en" sz="1100">
                <a:latin typeface="Nunito"/>
                <a:ea typeface="Nunito"/>
                <a:cs typeface="Nunito"/>
                <a:sym typeface="Nunito"/>
              </a:rPr>
              <a:t> </a:t>
            </a:r>
            <a:r>
              <a:rPr lang="en" sz="1100" b="1">
                <a:latin typeface="Nunito"/>
                <a:ea typeface="Nunito"/>
                <a:cs typeface="Nunito"/>
                <a:sym typeface="Nunito"/>
              </a:rPr>
              <a:t>5.10</a:t>
            </a:r>
            <a:r>
              <a:rPr lang="en" sz="1100">
                <a:latin typeface="Nunito"/>
                <a:ea typeface="Nunito"/>
                <a:cs typeface="Nunito"/>
                <a:sym typeface="Nunito"/>
              </a:rPr>
              <a:t> (</a:t>
            </a:r>
            <a:r>
              <a:rPr lang="en" sz="1100" b="1">
                <a:latin typeface="Nunito"/>
                <a:ea typeface="Nunito"/>
                <a:cs typeface="Nunito"/>
                <a:sym typeface="Nunito"/>
              </a:rPr>
              <a:t>Very High Risk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EBITDA Margin:</a:t>
            </a:r>
            <a:r>
              <a:rPr lang="en" sz="1100">
                <a:latin typeface="Nunito"/>
                <a:ea typeface="Nunito"/>
                <a:cs typeface="Nunito"/>
                <a:sym typeface="Nunito"/>
              </a:rPr>
              <a:t> </a:t>
            </a:r>
            <a:r>
              <a:rPr lang="en" sz="1100" b="1">
                <a:latin typeface="Nunito"/>
                <a:ea typeface="Nunito"/>
                <a:cs typeface="Nunito"/>
                <a:sym typeface="Nunito"/>
              </a:rPr>
              <a:t>10.8%</a:t>
            </a:r>
            <a:r>
              <a:rPr lang="en" sz="1100">
                <a:latin typeface="Nunito"/>
                <a:ea typeface="Nunito"/>
                <a:cs typeface="Nunito"/>
                <a:sym typeface="Nunito"/>
              </a:rPr>
              <a:t> (</a:t>
            </a:r>
            <a:r>
              <a:rPr lang="en" sz="1100" b="1">
                <a:latin typeface="Nunito"/>
                <a:ea typeface="Nunito"/>
                <a:cs typeface="Nunito"/>
                <a:sym typeface="Nunito"/>
              </a:rPr>
              <a:t>Poor</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EPS Growth:</a:t>
            </a:r>
            <a:r>
              <a:rPr lang="en" sz="1100">
                <a:latin typeface="Nunito"/>
                <a:ea typeface="Nunito"/>
                <a:cs typeface="Nunito"/>
                <a:sym typeface="Nunito"/>
              </a:rPr>
              <a:t> </a:t>
            </a:r>
            <a:r>
              <a:rPr lang="en" sz="1100" b="1">
                <a:latin typeface="Nunito"/>
                <a:ea typeface="Nunito"/>
                <a:cs typeface="Nunito"/>
                <a:sym typeface="Nunito"/>
              </a:rPr>
              <a:t>-3.4%</a:t>
            </a:r>
            <a:r>
              <a:rPr lang="en" sz="1100">
                <a:latin typeface="Nunito"/>
                <a:ea typeface="Nunito"/>
                <a:cs typeface="Nunito"/>
                <a:sym typeface="Nunito"/>
              </a:rPr>
              <a:t> (</a:t>
            </a:r>
            <a:r>
              <a:rPr lang="en" sz="1100" b="1">
                <a:latin typeface="Nunito"/>
                <a:ea typeface="Nunito"/>
                <a:cs typeface="Nunito"/>
                <a:sym typeface="Nunito"/>
              </a:rPr>
              <a:t>Negative EPS</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Interest Coverage Ratio:</a:t>
            </a:r>
            <a:r>
              <a:rPr lang="en" sz="1100">
                <a:latin typeface="Nunito"/>
                <a:ea typeface="Nunito"/>
                <a:cs typeface="Nunito"/>
                <a:sym typeface="Nunito"/>
              </a:rPr>
              <a:t> </a:t>
            </a:r>
            <a:r>
              <a:rPr lang="en" sz="1100" b="1">
                <a:latin typeface="Nunito"/>
                <a:ea typeface="Nunito"/>
                <a:cs typeface="Nunito"/>
                <a:sym typeface="Nunito"/>
              </a:rPr>
              <a:t>1.1</a:t>
            </a:r>
            <a:r>
              <a:rPr lang="en" sz="1100">
                <a:latin typeface="Nunito"/>
                <a:ea typeface="Nunito"/>
                <a:cs typeface="Nunito"/>
                <a:sym typeface="Nunito"/>
              </a:rPr>
              <a:t> (</a:t>
            </a:r>
            <a:r>
              <a:rPr lang="en" sz="1100" b="1">
                <a:latin typeface="Nunito"/>
                <a:ea typeface="Nunito"/>
                <a:cs typeface="Nunito"/>
                <a:sym typeface="Nunito"/>
              </a:rPr>
              <a:t>Very Risky</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Dividend Yield:</a:t>
            </a:r>
            <a:r>
              <a:rPr lang="en" sz="1100">
                <a:latin typeface="Nunito"/>
                <a:ea typeface="Nunito"/>
                <a:cs typeface="Nunito"/>
                <a:sym typeface="Nunito"/>
              </a:rPr>
              <a:t> </a:t>
            </a:r>
            <a:r>
              <a:rPr lang="en" sz="1100" b="1">
                <a:latin typeface="Nunito"/>
                <a:ea typeface="Nunito"/>
                <a:cs typeface="Nunito"/>
                <a:sym typeface="Nunito"/>
              </a:rPr>
              <a:t>4.48%</a:t>
            </a:r>
            <a:r>
              <a:rPr lang="en" sz="1100">
                <a:latin typeface="Nunito"/>
                <a:ea typeface="Nunito"/>
                <a:cs typeface="Nunito"/>
                <a:sym typeface="Nunito"/>
              </a:rPr>
              <a:t> (</a:t>
            </a:r>
            <a:r>
              <a:rPr lang="en" sz="1100" b="1">
                <a:latin typeface="Nunito"/>
                <a:ea typeface="Nunito"/>
                <a:cs typeface="Nunito"/>
                <a:sym typeface="Nunito"/>
              </a:rPr>
              <a:t>Moderate Yield</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ROE:</a:t>
            </a:r>
            <a:r>
              <a:rPr lang="en" sz="1100">
                <a:latin typeface="Nunito"/>
                <a:ea typeface="Nunito"/>
                <a:cs typeface="Nunito"/>
                <a:sym typeface="Nunito"/>
              </a:rPr>
              <a:t> </a:t>
            </a:r>
            <a:r>
              <a:rPr lang="en" sz="1100" b="1">
                <a:latin typeface="Nunito"/>
                <a:ea typeface="Nunito"/>
                <a:cs typeface="Nunito"/>
                <a:sym typeface="Nunito"/>
              </a:rPr>
              <a:t>17.08%</a:t>
            </a:r>
            <a:r>
              <a:rPr lang="en" sz="1100">
                <a:latin typeface="Nunito"/>
                <a:ea typeface="Nunito"/>
                <a:cs typeface="Nunito"/>
                <a:sym typeface="Nunito"/>
              </a:rPr>
              <a:t> (</a:t>
            </a:r>
            <a:r>
              <a:rPr lang="en" sz="1100" b="1">
                <a:latin typeface="Nunito"/>
                <a:ea typeface="Nunito"/>
                <a:cs typeface="Nunito"/>
                <a:sym typeface="Nunito"/>
              </a:rPr>
              <a:t>Decent</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ROIC:</a:t>
            </a:r>
            <a:r>
              <a:rPr lang="en" sz="1100">
                <a:latin typeface="Nunito"/>
                <a:ea typeface="Nunito"/>
                <a:cs typeface="Nunito"/>
                <a:sym typeface="Nunito"/>
              </a:rPr>
              <a:t> </a:t>
            </a:r>
            <a:r>
              <a:rPr lang="en" sz="1100" b="1">
                <a:latin typeface="Nunito"/>
                <a:ea typeface="Nunito"/>
                <a:cs typeface="Nunito"/>
                <a:sym typeface="Nunito"/>
              </a:rPr>
              <a:t>-6.94%</a:t>
            </a:r>
            <a:r>
              <a:rPr lang="en" sz="1100">
                <a:latin typeface="Nunito"/>
                <a:ea typeface="Nunito"/>
                <a:cs typeface="Nunito"/>
                <a:sym typeface="Nunito"/>
              </a:rPr>
              <a:t> (</a:t>
            </a:r>
            <a:r>
              <a:rPr lang="en" sz="1100" b="1">
                <a:latin typeface="Nunito"/>
                <a:ea typeface="Nunito"/>
                <a:cs typeface="Nunito"/>
                <a:sym typeface="Nunito"/>
              </a:rPr>
              <a:t>Weak</a:t>
            </a:r>
            <a:r>
              <a:rPr lang="en" sz="1100">
                <a:latin typeface="Nunito"/>
                <a:ea typeface="Nunito"/>
                <a:cs typeface="Nunito"/>
                <a:sym typeface="Nunito"/>
              </a:rPr>
              <a:t> ❌)</a:t>
            </a:r>
            <a:endParaRPr sz="1100">
              <a:latin typeface="Nunito"/>
              <a:ea typeface="Nunito"/>
              <a:cs typeface="Nunito"/>
              <a:sym typeface="Nunito"/>
            </a:endParaRPr>
          </a:p>
          <a:p>
            <a:pPr marL="457200" lvl="0" indent="-298450" algn="l" rtl="0">
              <a:lnSpc>
                <a:spcPct val="115000"/>
              </a:lnSpc>
              <a:spcBef>
                <a:spcPts val="0"/>
              </a:spcBef>
              <a:spcAft>
                <a:spcPts val="0"/>
              </a:spcAft>
              <a:buSzPts val="1100"/>
              <a:buChar char="●"/>
            </a:pPr>
            <a:r>
              <a:rPr lang="en" sz="1100" b="1">
                <a:latin typeface="Nunito"/>
                <a:ea typeface="Nunito"/>
                <a:cs typeface="Nunito"/>
                <a:sym typeface="Nunito"/>
              </a:rPr>
              <a:t>ROA:</a:t>
            </a:r>
            <a:r>
              <a:rPr lang="en" sz="1100">
                <a:latin typeface="Nunito"/>
                <a:ea typeface="Nunito"/>
                <a:cs typeface="Nunito"/>
                <a:sym typeface="Nunito"/>
              </a:rPr>
              <a:t> </a:t>
            </a:r>
            <a:r>
              <a:rPr lang="en" sz="1100" b="1">
                <a:latin typeface="Nunito"/>
                <a:ea typeface="Nunito"/>
                <a:cs typeface="Nunito"/>
                <a:sym typeface="Nunito"/>
              </a:rPr>
              <a:t>N/A</a:t>
            </a:r>
            <a:endParaRPr sz="1100" b="1">
              <a:latin typeface="Nunito"/>
              <a:ea typeface="Nunito"/>
              <a:cs typeface="Nunito"/>
              <a:sym typeface="Nunito"/>
            </a:endParaRPr>
          </a:p>
          <a:p>
            <a:pPr marL="0" lvl="0" indent="0" algn="l" rtl="0">
              <a:lnSpc>
                <a:spcPct val="115000"/>
              </a:lnSpc>
              <a:spcBef>
                <a:spcPts val="1200"/>
              </a:spcBef>
              <a:spcAft>
                <a:spcPts val="0"/>
              </a:spcAft>
              <a:buNone/>
            </a:pPr>
            <a:r>
              <a:rPr lang="en" sz="1100">
                <a:latin typeface="Nunito"/>
                <a:ea typeface="Nunito"/>
                <a:cs typeface="Nunito"/>
                <a:sym typeface="Nunito"/>
              </a:rPr>
              <a:t>📌 </a:t>
            </a:r>
            <a:r>
              <a:rPr lang="en" sz="1100" b="1">
                <a:latin typeface="Nunito"/>
                <a:ea typeface="Nunito"/>
                <a:cs typeface="Nunito"/>
                <a:sym typeface="Nunito"/>
              </a:rPr>
              <a:t>Final Verdict:</a:t>
            </a:r>
            <a:r>
              <a:rPr lang="en" sz="1100">
                <a:latin typeface="Nunito"/>
                <a:ea typeface="Nunito"/>
                <a:cs typeface="Nunito"/>
                <a:sym typeface="Nunito"/>
              </a:rPr>
              <a:t> ❌ </a:t>
            </a:r>
            <a:r>
              <a:rPr lang="en" sz="1100" b="1">
                <a:latin typeface="Nunito"/>
                <a:ea typeface="Nunito"/>
                <a:cs typeface="Nunito"/>
                <a:sym typeface="Nunito"/>
              </a:rPr>
              <a:t>Declining earnings, weak financials, too much debt—avoid.</a:t>
            </a:r>
            <a:endParaRPr sz="1100" b="1">
              <a:latin typeface="Nunito"/>
              <a:ea typeface="Nunito"/>
              <a:cs typeface="Nunito"/>
              <a:sym typeface="Nunito"/>
            </a:endParaRPr>
          </a:p>
          <a:p>
            <a:pPr marL="0" lvl="0" indent="0" algn="l" rtl="0">
              <a:lnSpc>
                <a:spcPct val="115000"/>
              </a:lnSpc>
              <a:spcBef>
                <a:spcPts val="1200"/>
              </a:spcBef>
              <a:spcAft>
                <a:spcPts val="0"/>
              </a:spcAft>
              <a:buNone/>
            </a:pPr>
            <a:endParaRPr sz="1700" b="1"/>
          </a:p>
          <a:p>
            <a:pPr marL="0" lvl="0" indent="0" algn="l" rtl="0">
              <a:lnSpc>
                <a:spcPct val="115000"/>
              </a:lnSpc>
              <a:spcBef>
                <a:spcPts val="1200"/>
              </a:spcBef>
              <a:spcAft>
                <a:spcPts val="0"/>
              </a:spcAft>
              <a:buNone/>
            </a:pPr>
            <a:endParaRPr sz="1700" b="1"/>
          </a:p>
        </p:txBody>
      </p:sp>
      <p:sp>
        <p:nvSpPr>
          <p:cNvPr id="572" name="Google Shape;572;p47"/>
          <p:cNvSpPr/>
          <p:nvPr/>
        </p:nvSpPr>
        <p:spPr>
          <a:xfrm>
            <a:off x="1129650" y="327000"/>
            <a:ext cx="6884700" cy="5271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73" name="Google Shape;573;p47"/>
          <p:cNvSpPr txBox="1">
            <a:spLocks noGrp="1"/>
          </p:cNvSpPr>
          <p:nvPr>
            <p:ph type="title"/>
          </p:nvPr>
        </p:nvSpPr>
        <p:spPr>
          <a:xfrm>
            <a:off x="793500" y="293400"/>
            <a:ext cx="75570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Unutilized/Non-performing Stocks Analysis</a:t>
            </a:r>
            <a:endParaRPr>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8"/>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48"/>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580" name="Google Shape;580;p48"/>
          <p:cNvSpPr/>
          <p:nvPr/>
        </p:nvSpPr>
        <p:spPr>
          <a:xfrm>
            <a:off x="1388400" y="898100"/>
            <a:ext cx="4227000" cy="5154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81" name="Google Shape;581;p48"/>
          <p:cNvSpPr txBox="1"/>
          <p:nvPr/>
        </p:nvSpPr>
        <p:spPr>
          <a:xfrm>
            <a:off x="578500" y="775535"/>
            <a:ext cx="6720300" cy="5157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300" b="1"/>
              <a:t> </a:t>
            </a:r>
            <a:r>
              <a:rPr lang="en" sz="1700" b="1"/>
              <a:t>1️⃣9️⃣   </a:t>
            </a:r>
            <a:r>
              <a:rPr lang="en" sz="1700" b="1">
                <a:solidFill>
                  <a:schemeClr val="dk1"/>
                </a:solidFill>
              </a:rPr>
              <a:t>Stock H - Huge Debt, Low Profitability</a:t>
            </a:r>
            <a:endParaRPr sz="1700" b="1">
              <a:solidFill>
                <a:schemeClr val="dk1"/>
              </a:solidFill>
            </a:endParaRPr>
          </a:p>
          <a:p>
            <a:pPr marL="0" lvl="0" indent="0" algn="l" rtl="0">
              <a:lnSpc>
                <a:spcPct val="115000"/>
              </a:lnSpc>
              <a:spcBef>
                <a:spcPts val="1200"/>
              </a:spcBef>
              <a:spcAft>
                <a:spcPts val="0"/>
              </a:spcAft>
              <a:buNone/>
            </a:pPr>
            <a:r>
              <a:rPr lang="en" sz="1200" b="1">
                <a:solidFill>
                  <a:schemeClr val="accent1"/>
                </a:solidFill>
                <a:latin typeface="Nunito"/>
                <a:ea typeface="Nunito"/>
                <a:cs typeface="Nunito"/>
                <a:sym typeface="Nunito"/>
              </a:rPr>
              <a:t>Investment Score:</a:t>
            </a:r>
            <a:r>
              <a:rPr lang="en" sz="1200">
                <a:solidFill>
                  <a:schemeClr val="accent1"/>
                </a:solidFill>
                <a:latin typeface="Nunito"/>
                <a:ea typeface="Nunito"/>
                <a:cs typeface="Nunito"/>
                <a:sym typeface="Nunito"/>
              </a:rPr>
              <a:t> </a:t>
            </a:r>
            <a:r>
              <a:rPr lang="en" sz="1200" b="1">
                <a:solidFill>
                  <a:schemeClr val="accent1"/>
                </a:solidFill>
                <a:latin typeface="Nunito"/>
                <a:ea typeface="Nunito"/>
                <a:cs typeface="Nunito"/>
                <a:sym typeface="Nunito"/>
              </a:rPr>
              <a:t>0.7/10</a:t>
            </a:r>
            <a:br>
              <a:rPr lang="en" sz="1200" b="1">
                <a:latin typeface="Nunito"/>
                <a:ea typeface="Nunito"/>
                <a:cs typeface="Nunito"/>
                <a:sym typeface="Nunito"/>
              </a:rPr>
            </a:br>
            <a:r>
              <a:rPr lang="en" sz="1200">
                <a:latin typeface="Nunito"/>
                <a:ea typeface="Nunito"/>
                <a:cs typeface="Nunito"/>
                <a:sym typeface="Nunito"/>
              </a:rPr>
              <a:t> Stock H </a:t>
            </a:r>
            <a:r>
              <a:rPr lang="en" sz="1200" b="1">
                <a:solidFill>
                  <a:schemeClr val="accent1"/>
                </a:solidFill>
                <a:latin typeface="Nunito"/>
                <a:ea typeface="Nunito"/>
                <a:cs typeface="Nunito"/>
                <a:sym typeface="Nunito"/>
              </a:rPr>
              <a:t>has one of the worst financial situations</a:t>
            </a:r>
            <a:r>
              <a:rPr lang="en" sz="1200">
                <a:latin typeface="Nunito"/>
                <a:ea typeface="Nunito"/>
                <a:cs typeface="Nunito"/>
                <a:sym typeface="Nunito"/>
              </a:rPr>
              <a:t>, with high debt and weak profitability.</a:t>
            </a:r>
            <a:endParaRPr sz="1200">
              <a:latin typeface="Nunito"/>
              <a:ea typeface="Nunito"/>
              <a:cs typeface="Nunito"/>
              <a:sym typeface="Nunito"/>
            </a:endParaRPr>
          </a:p>
          <a:p>
            <a:pPr marL="457200" lvl="0" indent="-304800" algn="l" rtl="0">
              <a:lnSpc>
                <a:spcPct val="100000"/>
              </a:lnSpc>
              <a:spcBef>
                <a:spcPts val="1200"/>
              </a:spcBef>
              <a:spcAft>
                <a:spcPts val="0"/>
              </a:spcAft>
              <a:buSzPts val="1200"/>
              <a:buFont typeface="Nunito"/>
              <a:buChar char="●"/>
            </a:pPr>
            <a:r>
              <a:rPr lang="en" sz="1200" b="1">
                <a:latin typeface="Nunito"/>
                <a:ea typeface="Nunito"/>
                <a:cs typeface="Nunito"/>
                <a:sym typeface="Nunito"/>
              </a:rPr>
              <a:t>P/E Ratio:</a:t>
            </a:r>
            <a:r>
              <a:rPr lang="en" sz="1200">
                <a:latin typeface="Nunito"/>
                <a:ea typeface="Nunito"/>
                <a:cs typeface="Nunito"/>
                <a:sym typeface="Nunito"/>
              </a:rPr>
              <a:t> </a:t>
            </a:r>
            <a:r>
              <a:rPr lang="en" sz="1200" b="1">
                <a:latin typeface="Nunito"/>
                <a:ea typeface="Nunito"/>
                <a:cs typeface="Nunito"/>
                <a:sym typeface="Nunito"/>
              </a:rPr>
              <a:t>35.82</a:t>
            </a:r>
            <a:r>
              <a:rPr lang="en" sz="1200">
                <a:latin typeface="Nunito"/>
                <a:ea typeface="Nunito"/>
                <a:cs typeface="Nunito"/>
                <a:sym typeface="Nunito"/>
              </a:rPr>
              <a:t> (</a:t>
            </a:r>
            <a:r>
              <a:rPr lang="en" sz="1200" b="1">
                <a:latin typeface="Nunito"/>
                <a:ea typeface="Nunito"/>
                <a:cs typeface="Nunito"/>
                <a:sym typeface="Nunito"/>
              </a:rPr>
              <a:t>Overvalued</a:t>
            </a:r>
            <a:r>
              <a:rPr lang="en" sz="1200">
                <a:latin typeface="Nunito"/>
                <a:ea typeface="Nunito"/>
                <a:cs typeface="Nunito"/>
                <a:sym typeface="Nunito"/>
              </a:rPr>
              <a:t> ❌)</a:t>
            </a:r>
            <a:endParaRPr sz="1200">
              <a:latin typeface="Nunito"/>
              <a:ea typeface="Nunito"/>
              <a:cs typeface="Nunito"/>
              <a:sym typeface="Nunito"/>
            </a:endParaRPr>
          </a:p>
          <a:p>
            <a:pPr marL="457200" lvl="0" indent="-304800" algn="l" rtl="0">
              <a:lnSpc>
                <a:spcPct val="100000"/>
              </a:lnSpc>
              <a:spcBef>
                <a:spcPts val="0"/>
              </a:spcBef>
              <a:spcAft>
                <a:spcPts val="0"/>
              </a:spcAft>
              <a:buSzPts val="1200"/>
              <a:buFont typeface="Nunito"/>
              <a:buChar char="●"/>
            </a:pPr>
            <a:r>
              <a:rPr lang="en" sz="1200" b="1">
                <a:latin typeface="Nunito"/>
                <a:ea typeface="Nunito"/>
                <a:cs typeface="Nunito"/>
                <a:sym typeface="Nunito"/>
              </a:rPr>
              <a:t>Revenue Growth:</a:t>
            </a:r>
            <a:r>
              <a:rPr lang="en" sz="1200">
                <a:latin typeface="Nunito"/>
                <a:ea typeface="Nunito"/>
                <a:cs typeface="Nunito"/>
                <a:sym typeface="Nunito"/>
              </a:rPr>
              <a:t> </a:t>
            </a:r>
            <a:r>
              <a:rPr lang="en" sz="1200" b="1">
                <a:latin typeface="Nunito"/>
                <a:ea typeface="Nunito"/>
                <a:cs typeface="Nunito"/>
                <a:sym typeface="Nunito"/>
              </a:rPr>
              <a:t>-12.8%</a:t>
            </a:r>
            <a:r>
              <a:rPr lang="en" sz="1200">
                <a:latin typeface="Nunito"/>
                <a:ea typeface="Nunito"/>
                <a:cs typeface="Nunito"/>
                <a:sym typeface="Nunito"/>
              </a:rPr>
              <a:t> (</a:t>
            </a:r>
            <a:r>
              <a:rPr lang="en" sz="1200" b="1">
                <a:latin typeface="Nunito"/>
                <a:ea typeface="Nunito"/>
                <a:cs typeface="Nunito"/>
                <a:sym typeface="Nunito"/>
              </a:rPr>
              <a:t>Declining</a:t>
            </a:r>
            <a:r>
              <a:rPr lang="en" sz="1200">
                <a:latin typeface="Nunito"/>
                <a:ea typeface="Nunito"/>
                <a:cs typeface="Nunito"/>
                <a:sym typeface="Nunito"/>
              </a:rPr>
              <a:t> ❌)</a:t>
            </a:r>
            <a:endParaRPr sz="1200">
              <a:latin typeface="Nunito"/>
              <a:ea typeface="Nunito"/>
              <a:cs typeface="Nunito"/>
              <a:sym typeface="Nunito"/>
            </a:endParaRPr>
          </a:p>
          <a:p>
            <a:pPr marL="457200" lvl="0" indent="-304800" algn="l" rtl="0">
              <a:lnSpc>
                <a:spcPct val="100000"/>
              </a:lnSpc>
              <a:spcBef>
                <a:spcPts val="0"/>
              </a:spcBef>
              <a:spcAft>
                <a:spcPts val="0"/>
              </a:spcAft>
              <a:buSzPts val="1200"/>
              <a:buFont typeface="Nunito"/>
              <a:buChar char="●"/>
            </a:pPr>
            <a:r>
              <a:rPr lang="en" sz="1200" b="1">
                <a:latin typeface="Nunito"/>
                <a:ea typeface="Nunito"/>
                <a:cs typeface="Nunito"/>
                <a:sym typeface="Nunito"/>
              </a:rPr>
              <a:t>EBITDA Growth:</a:t>
            </a:r>
            <a:r>
              <a:rPr lang="en" sz="1200">
                <a:latin typeface="Nunito"/>
                <a:ea typeface="Nunito"/>
                <a:cs typeface="Nunito"/>
                <a:sym typeface="Nunito"/>
              </a:rPr>
              <a:t> </a:t>
            </a:r>
            <a:r>
              <a:rPr lang="en" sz="1200" b="1">
                <a:latin typeface="Nunito"/>
                <a:ea typeface="Nunito"/>
                <a:cs typeface="Nunito"/>
                <a:sym typeface="Nunito"/>
              </a:rPr>
              <a:t>-15.2%</a:t>
            </a:r>
            <a:r>
              <a:rPr lang="en" sz="1200">
                <a:latin typeface="Nunito"/>
                <a:ea typeface="Nunito"/>
                <a:cs typeface="Nunito"/>
                <a:sym typeface="Nunito"/>
              </a:rPr>
              <a:t> (</a:t>
            </a:r>
            <a:r>
              <a:rPr lang="en" sz="1200" b="1">
                <a:latin typeface="Nunito"/>
                <a:ea typeface="Nunito"/>
                <a:cs typeface="Nunito"/>
                <a:sym typeface="Nunito"/>
              </a:rPr>
              <a:t>Negative Growth</a:t>
            </a:r>
            <a:r>
              <a:rPr lang="en" sz="1200">
                <a:latin typeface="Nunito"/>
                <a:ea typeface="Nunito"/>
                <a:cs typeface="Nunito"/>
                <a:sym typeface="Nunito"/>
              </a:rPr>
              <a:t> ❌)</a:t>
            </a:r>
            <a:endParaRPr sz="1200">
              <a:latin typeface="Nunito"/>
              <a:ea typeface="Nunito"/>
              <a:cs typeface="Nunito"/>
              <a:sym typeface="Nunito"/>
            </a:endParaRPr>
          </a:p>
          <a:p>
            <a:pPr marL="457200" lvl="0" indent="-304800" algn="l" rtl="0">
              <a:lnSpc>
                <a:spcPct val="100000"/>
              </a:lnSpc>
              <a:spcBef>
                <a:spcPts val="0"/>
              </a:spcBef>
              <a:spcAft>
                <a:spcPts val="0"/>
              </a:spcAft>
              <a:buSzPts val="1200"/>
              <a:buFont typeface="Nunito"/>
              <a:buChar char="●"/>
            </a:pPr>
            <a:r>
              <a:rPr lang="en" sz="1200" b="1">
                <a:latin typeface="Nunito"/>
                <a:ea typeface="Nunito"/>
                <a:cs typeface="Nunito"/>
                <a:sym typeface="Nunito"/>
              </a:rPr>
              <a:t>Net Profit Margin:</a:t>
            </a:r>
            <a:r>
              <a:rPr lang="en" sz="1200">
                <a:latin typeface="Nunito"/>
                <a:ea typeface="Nunito"/>
                <a:cs typeface="Nunito"/>
                <a:sym typeface="Nunito"/>
              </a:rPr>
              <a:t> </a:t>
            </a:r>
            <a:r>
              <a:rPr lang="en" sz="1200" b="1">
                <a:latin typeface="Nunito"/>
                <a:ea typeface="Nunito"/>
                <a:cs typeface="Nunito"/>
                <a:sym typeface="Nunito"/>
              </a:rPr>
              <a:t>3.6%</a:t>
            </a:r>
            <a:r>
              <a:rPr lang="en" sz="1200">
                <a:latin typeface="Nunito"/>
                <a:ea typeface="Nunito"/>
                <a:cs typeface="Nunito"/>
                <a:sym typeface="Nunito"/>
              </a:rPr>
              <a:t> (</a:t>
            </a:r>
            <a:r>
              <a:rPr lang="en" sz="1200" b="1">
                <a:latin typeface="Nunito"/>
                <a:ea typeface="Nunito"/>
                <a:cs typeface="Nunito"/>
                <a:sym typeface="Nunito"/>
              </a:rPr>
              <a:t>Very Weak</a:t>
            </a:r>
            <a:r>
              <a:rPr lang="en" sz="1200">
                <a:latin typeface="Nunito"/>
                <a:ea typeface="Nunito"/>
                <a:cs typeface="Nunito"/>
                <a:sym typeface="Nunito"/>
              </a:rPr>
              <a:t> ❌)</a:t>
            </a:r>
            <a:endParaRPr sz="1200">
              <a:latin typeface="Nunito"/>
              <a:ea typeface="Nunito"/>
              <a:cs typeface="Nunito"/>
              <a:sym typeface="Nunito"/>
            </a:endParaRPr>
          </a:p>
          <a:p>
            <a:pPr marL="457200" lvl="0" indent="-304800" algn="l" rtl="0">
              <a:lnSpc>
                <a:spcPct val="100000"/>
              </a:lnSpc>
              <a:spcBef>
                <a:spcPts val="0"/>
              </a:spcBef>
              <a:spcAft>
                <a:spcPts val="0"/>
              </a:spcAft>
              <a:buSzPts val="1200"/>
              <a:buFont typeface="Nunito"/>
              <a:buChar char="●"/>
            </a:pPr>
            <a:r>
              <a:rPr lang="en" sz="1200" b="1">
                <a:latin typeface="Nunito"/>
                <a:ea typeface="Nunito"/>
                <a:cs typeface="Nunito"/>
                <a:sym typeface="Nunito"/>
              </a:rPr>
              <a:t>Debt-to-EBITDA:</a:t>
            </a:r>
            <a:r>
              <a:rPr lang="en" sz="1200">
                <a:latin typeface="Nunito"/>
                <a:ea typeface="Nunito"/>
                <a:cs typeface="Nunito"/>
                <a:sym typeface="Nunito"/>
              </a:rPr>
              <a:t> </a:t>
            </a:r>
            <a:r>
              <a:rPr lang="en" sz="1200" b="1">
                <a:latin typeface="Nunito"/>
                <a:ea typeface="Nunito"/>
                <a:cs typeface="Nunito"/>
                <a:sym typeface="Nunito"/>
              </a:rPr>
              <a:t>5.75</a:t>
            </a:r>
            <a:r>
              <a:rPr lang="en" sz="1200">
                <a:latin typeface="Nunito"/>
                <a:ea typeface="Nunito"/>
                <a:cs typeface="Nunito"/>
                <a:sym typeface="Nunito"/>
              </a:rPr>
              <a:t> (</a:t>
            </a:r>
            <a:r>
              <a:rPr lang="en" sz="1200" b="1">
                <a:latin typeface="Nunito"/>
                <a:ea typeface="Nunito"/>
                <a:cs typeface="Nunito"/>
                <a:sym typeface="Nunito"/>
              </a:rPr>
              <a:t>Extremely High Risk</a:t>
            </a:r>
            <a:r>
              <a:rPr lang="en" sz="1200">
                <a:latin typeface="Nunito"/>
                <a:ea typeface="Nunito"/>
                <a:cs typeface="Nunito"/>
                <a:sym typeface="Nunito"/>
              </a:rPr>
              <a:t> ❌)</a:t>
            </a:r>
            <a:endParaRPr sz="1200">
              <a:latin typeface="Nunito"/>
              <a:ea typeface="Nunito"/>
              <a:cs typeface="Nunito"/>
              <a:sym typeface="Nunito"/>
            </a:endParaRPr>
          </a:p>
          <a:p>
            <a:pPr marL="457200" lvl="0" indent="-304800" algn="l" rtl="0">
              <a:lnSpc>
                <a:spcPct val="100000"/>
              </a:lnSpc>
              <a:spcBef>
                <a:spcPts val="0"/>
              </a:spcBef>
              <a:spcAft>
                <a:spcPts val="0"/>
              </a:spcAft>
              <a:buSzPts val="1200"/>
              <a:buFont typeface="Nunito"/>
              <a:buChar char="●"/>
            </a:pPr>
            <a:r>
              <a:rPr lang="en" sz="1200" b="1">
                <a:latin typeface="Nunito"/>
                <a:ea typeface="Nunito"/>
                <a:cs typeface="Nunito"/>
                <a:sym typeface="Nunito"/>
              </a:rPr>
              <a:t>EBITDA Margin:</a:t>
            </a:r>
            <a:r>
              <a:rPr lang="en" sz="1200">
                <a:latin typeface="Nunito"/>
                <a:ea typeface="Nunito"/>
                <a:cs typeface="Nunito"/>
                <a:sym typeface="Nunito"/>
              </a:rPr>
              <a:t> </a:t>
            </a:r>
            <a:r>
              <a:rPr lang="en" sz="1200" b="1">
                <a:latin typeface="Nunito"/>
                <a:ea typeface="Nunito"/>
                <a:cs typeface="Nunito"/>
                <a:sym typeface="Nunito"/>
              </a:rPr>
              <a:t>9.3%</a:t>
            </a:r>
            <a:r>
              <a:rPr lang="en" sz="1200">
                <a:latin typeface="Nunito"/>
                <a:ea typeface="Nunito"/>
                <a:cs typeface="Nunito"/>
                <a:sym typeface="Nunito"/>
              </a:rPr>
              <a:t> (</a:t>
            </a:r>
            <a:r>
              <a:rPr lang="en" sz="1200" b="1">
                <a:latin typeface="Nunito"/>
                <a:ea typeface="Nunito"/>
                <a:cs typeface="Nunito"/>
                <a:sym typeface="Nunito"/>
              </a:rPr>
              <a:t>Poor</a:t>
            </a:r>
            <a:r>
              <a:rPr lang="en" sz="1200">
                <a:latin typeface="Nunito"/>
                <a:ea typeface="Nunito"/>
                <a:cs typeface="Nunito"/>
                <a:sym typeface="Nunito"/>
              </a:rPr>
              <a:t> ❌)</a:t>
            </a:r>
            <a:endParaRPr sz="1200">
              <a:latin typeface="Nunito"/>
              <a:ea typeface="Nunito"/>
              <a:cs typeface="Nunito"/>
              <a:sym typeface="Nunito"/>
            </a:endParaRPr>
          </a:p>
          <a:p>
            <a:pPr marL="457200" lvl="0" indent="-304800" algn="l" rtl="0">
              <a:lnSpc>
                <a:spcPct val="100000"/>
              </a:lnSpc>
              <a:spcBef>
                <a:spcPts val="0"/>
              </a:spcBef>
              <a:spcAft>
                <a:spcPts val="0"/>
              </a:spcAft>
              <a:buSzPts val="1200"/>
              <a:buFont typeface="Nunito"/>
              <a:buChar char="●"/>
            </a:pPr>
            <a:r>
              <a:rPr lang="en" sz="1200" b="1">
                <a:latin typeface="Nunito"/>
                <a:ea typeface="Nunito"/>
                <a:cs typeface="Nunito"/>
                <a:sym typeface="Nunito"/>
              </a:rPr>
              <a:t>EPS Growth:</a:t>
            </a:r>
            <a:r>
              <a:rPr lang="en" sz="1200">
                <a:latin typeface="Nunito"/>
                <a:ea typeface="Nunito"/>
                <a:cs typeface="Nunito"/>
                <a:sym typeface="Nunito"/>
              </a:rPr>
              <a:t> </a:t>
            </a:r>
            <a:r>
              <a:rPr lang="en" sz="1200" b="1">
                <a:latin typeface="Nunito"/>
                <a:ea typeface="Nunito"/>
                <a:cs typeface="Nunito"/>
                <a:sym typeface="Nunito"/>
              </a:rPr>
              <a:t>-4.2%</a:t>
            </a:r>
            <a:r>
              <a:rPr lang="en" sz="1200">
                <a:latin typeface="Nunito"/>
                <a:ea typeface="Nunito"/>
                <a:cs typeface="Nunito"/>
                <a:sym typeface="Nunito"/>
              </a:rPr>
              <a:t> (</a:t>
            </a:r>
            <a:r>
              <a:rPr lang="en" sz="1200" b="1">
                <a:latin typeface="Nunito"/>
                <a:ea typeface="Nunito"/>
                <a:cs typeface="Nunito"/>
                <a:sym typeface="Nunito"/>
              </a:rPr>
              <a:t>Negative EPS</a:t>
            </a:r>
            <a:r>
              <a:rPr lang="en" sz="1200">
                <a:latin typeface="Nunito"/>
                <a:ea typeface="Nunito"/>
                <a:cs typeface="Nunito"/>
                <a:sym typeface="Nunito"/>
              </a:rPr>
              <a:t> ❌)</a:t>
            </a:r>
            <a:endParaRPr sz="1200">
              <a:latin typeface="Nunito"/>
              <a:ea typeface="Nunito"/>
              <a:cs typeface="Nunito"/>
              <a:sym typeface="Nunito"/>
            </a:endParaRPr>
          </a:p>
          <a:p>
            <a:pPr marL="457200" lvl="0" indent="-304800" algn="l" rtl="0">
              <a:lnSpc>
                <a:spcPct val="100000"/>
              </a:lnSpc>
              <a:spcBef>
                <a:spcPts val="0"/>
              </a:spcBef>
              <a:spcAft>
                <a:spcPts val="0"/>
              </a:spcAft>
              <a:buSzPts val="1200"/>
              <a:buFont typeface="Nunito"/>
              <a:buChar char="●"/>
            </a:pPr>
            <a:r>
              <a:rPr lang="en" sz="1200" b="1">
                <a:latin typeface="Nunito"/>
                <a:ea typeface="Nunito"/>
                <a:cs typeface="Nunito"/>
                <a:sym typeface="Nunito"/>
              </a:rPr>
              <a:t>Interest Coverage Ratio:</a:t>
            </a:r>
            <a:r>
              <a:rPr lang="en" sz="1200">
                <a:latin typeface="Nunito"/>
                <a:ea typeface="Nunito"/>
                <a:cs typeface="Nunito"/>
                <a:sym typeface="Nunito"/>
              </a:rPr>
              <a:t> </a:t>
            </a:r>
            <a:r>
              <a:rPr lang="en" sz="1200" b="1">
                <a:latin typeface="Nunito"/>
                <a:ea typeface="Nunito"/>
                <a:cs typeface="Nunito"/>
                <a:sym typeface="Nunito"/>
              </a:rPr>
              <a:t>0.9</a:t>
            </a:r>
            <a:r>
              <a:rPr lang="en" sz="1200">
                <a:latin typeface="Nunito"/>
                <a:ea typeface="Nunito"/>
                <a:cs typeface="Nunito"/>
                <a:sym typeface="Nunito"/>
              </a:rPr>
              <a:t> (</a:t>
            </a:r>
            <a:r>
              <a:rPr lang="en" sz="1200" b="1">
                <a:latin typeface="Nunito"/>
                <a:ea typeface="Nunito"/>
                <a:cs typeface="Nunito"/>
                <a:sym typeface="Nunito"/>
              </a:rPr>
              <a:t>Critical Risk</a:t>
            </a:r>
            <a:r>
              <a:rPr lang="en" sz="1200">
                <a:latin typeface="Nunito"/>
                <a:ea typeface="Nunito"/>
                <a:cs typeface="Nunito"/>
                <a:sym typeface="Nunito"/>
              </a:rPr>
              <a:t> ❌)</a:t>
            </a:r>
            <a:endParaRPr sz="1200">
              <a:latin typeface="Nunito"/>
              <a:ea typeface="Nunito"/>
              <a:cs typeface="Nunito"/>
              <a:sym typeface="Nunito"/>
            </a:endParaRPr>
          </a:p>
          <a:p>
            <a:pPr marL="457200" lvl="0" indent="-304800" algn="l" rtl="0">
              <a:lnSpc>
                <a:spcPct val="100000"/>
              </a:lnSpc>
              <a:spcBef>
                <a:spcPts val="0"/>
              </a:spcBef>
              <a:spcAft>
                <a:spcPts val="0"/>
              </a:spcAft>
              <a:buSzPts val="1200"/>
              <a:buFont typeface="Nunito"/>
              <a:buChar char="●"/>
            </a:pPr>
            <a:r>
              <a:rPr lang="en" sz="1200" b="1">
                <a:latin typeface="Nunito"/>
                <a:ea typeface="Nunito"/>
                <a:cs typeface="Nunito"/>
                <a:sym typeface="Nunito"/>
              </a:rPr>
              <a:t>Dividend Yield:</a:t>
            </a:r>
            <a:r>
              <a:rPr lang="en" sz="1200">
                <a:latin typeface="Nunito"/>
                <a:ea typeface="Nunito"/>
                <a:cs typeface="Nunito"/>
                <a:sym typeface="Nunito"/>
              </a:rPr>
              <a:t> </a:t>
            </a:r>
            <a:r>
              <a:rPr lang="en" sz="1200" b="1">
                <a:latin typeface="Nunito"/>
                <a:ea typeface="Nunito"/>
                <a:cs typeface="Nunito"/>
                <a:sym typeface="Nunito"/>
              </a:rPr>
              <a:t>N/A</a:t>
            </a:r>
            <a:endParaRPr sz="1200" b="1">
              <a:latin typeface="Nunito"/>
              <a:ea typeface="Nunito"/>
              <a:cs typeface="Nunito"/>
              <a:sym typeface="Nunito"/>
            </a:endParaRPr>
          </a:p>
          <a:p>
            <a:pPr marL="457200" lvl="0" indent="-304800" algn="l" rtl="0">
              <a:lnSpc>
                <a:spcPct val="100000"/>
              </a:lnSpc>
              <a:spcBef>
                <a:spcPts val="0"/>
              </a:spcBef>
              <a:spcAft>
                <a:spcPts val="0"/>
              </a:spcAft>
              <a:buSzPts val="1200"/>
              <a:buFont typeface="Nunito"/>
              <a:buChar char="●"/>
            </a:pPr>
            <a:r>
              <a:rPr lang="en" sz="1200" b="1">
                <a:latin typeface="Nunito"/>
                <a:ea typeface="Nunito"/>
                <a:cs typeface="Nunito"/>
                <a:sym typeface="Nunito"/>
              </a:rPr>
              <a:t>ROE:</a:t>
            </a:r>
            <a:r>
              <a:rPr lang="en" sz="1200">
                <a:latin typeface="Nunito"/>
                <a:ea typeface="Nunito"/>
                <a:cs typeface="Nunito"/>
                <a:sym typeface="Nunito"/>
              </a:rPr>
              <a:t> </a:t>
            </a:r>
            <a:r>
              <a:rPr lang="en" sz="1200" b="1">
                <a:latin typeface="Nunito"/>
                <a:ea typeface="Nunito"/>
                <a:cs typeface="Nunito"/>
                <a:sym typeface="Nunito"/>
              </a:rPr>
              <a:t>-9.22%</a:t>
            </a:r>
            <a:r>
              <a:rPr lang="en" sz="1200">
                <a:latin typeface="Nunito"/>
                <a:ea typeface="Nunito"/>
                <a:cs typeface="Nunito"/>
                <a:sym typeface="Nunito"/>
              </a:rPr>
              <a:t> (</a:t>
            </a:r>
            <a:r>
              <a:rPr lang="en" sz="1200" b="1">
                <a:latin typeface="Nunito"/>
                <a:ea typeface="Nunito"/>
                <a:cs typeface="Nunito"/>
                <a:sym typeface="Nunito"/>
              </a:rPr>
              <a:t>Loss-Making</a:t>
            </a:r>
            <a:r>
              <a:rPr lang="en" sz="1200">
                <a:latin typeface="Nunito"/>
                <a:ea typeface="Nunito"/>
                <a:cs typeface="Nunito"/>
                <a:sym typeface="Nunito"/>
              </a:rPr>
              <a:t> ❌)</a:t>
            </a:r>
            <a:endParaRPr sz="1200">
              <a:latin typeface="Nunito"/>
              <a:ea typeface="Nunito"/>
              <a:cs typeface="Nunito"/>
              <a:sym typeface="Nunito"/>
            </a:endParaRPr>
          </a:p>
          <a:p>
            <a:pPr marL="457200" lvl="0" indent="-304800" algn="l" rtl="0">
              <a:lnSpc>
                <a:spcPct val="100000"/>
              </a:lnSpc>
              <a:spcBef>
                <a:spcPts val="0"/>
              </a:spcBef>
              <a:spcAft>
                <a:spcPts val="0"/>
              </a:spcAft>
              <a:buSzPts val="1200"/>
              <a:buFont typeface="Nunito"/>
              <a:buChar char="●"/>
            </a:pPr>
            <a:r>
              <a:rPr lang="en" sz="1200" b="1">
                <a:latin typeface="Nunito"/>
                <a:ea typeface="Nunito"/>
                <a:cs typeface="Nunito"/>
                <a:sym typeface="Nunito"/>
              </a:rPr>
              <a:t>ROIC:</a:t>
            </a:r>
            <a:r>
              <a:rPr lang="en" sz="1200">
                <a:latin typeface="Nunito"/>
                <a:ea typeface="Nunito"/>
                <a:cs typeface="Nunito"/>
                <a:sym typeface="Nunito"/>
              </a:rPr>
              <a:t> </a:t>
            </a:r>
            <a:r>
              <a:rPr lang="en" sz="1200" b="1">
                <a:latin typeface="Nunito"/>
                <a:ea typeface="Nunito"/>
                <a:cs typeface="Nunito"/>
                <a:sym typeface="Nunito"/>
              </a:rPr>
              <a:t>-12.10%</a:t>
            </a:r>
            <a:r>
              <a:rPr lang="en" sz="1200">
                <a:latin typeface="Nunito"/>
                <a:ea typeface="Nunito"/>
                <a:cs typeface="Nunito"/>
                <a:sym typeface="Nunito"/>
              </a:rPr>
              <a:t> (</a:t>
            </a:r>
            <a:r>
              <a:rPr lang="en" sz="1200" b="1">
                <a:latin typeface="Nunito"/>
                <a:ea typeface="Nunito"/>
                <a:cs typeface="Nunito"/>
                <a:sym typeface="Nunito"/>
              </a:rPr>
              <a:t>Very Poor</a:t>
            </a:r>
            <a:r>
              <a:rPr lang="en" sz="1200">
                <a:latin typeface="Nunito"/>
                <a:ea typeface="Nunito"/>
                <a:cs typeface="Nunito"/>
                <a:sym typeface="Nunito"/>
              </a:rPr>
              <a:t> ❌)</a:t>
            </a:r>
            <a:endParaRPr sz="1200">
              <a:latin typeface="Nunito"/>
              <a:ea typeface="Nunito"/>
              <a:cs typeface="Nunito"/>
              <a:sym typeface="Nunito"/>
            </a:endParaRPr>
          </a:p>
          <a:p>
            <a:pPr marL="457200" lvl="0" indent="-304800" algn="l" rtl="0">
              <a:lnSpc>
                <a:spcPct val="100000"/>
              </a:lnSpc>
              <a:spcBef>
                <a:spcPts val="0"/>
              </a:spcBef>
              <a:spcAft>
                <a:spcPts val="0"/>
              </a:spcAft>
              <a:buSzPts val="1200"/>
              <a:buFont typeface="Nunito"/>
              <a:buChar char="●"/>
            </a:pPr>
            <a:r>
              <a:rPr lang="en" sz="1200" b="1">
                <a:latin typeface="Nunito"/>
                <a:ea typeface="Nunito"/>
                <a:cs typeface="Nunito"/>
                <a:sym typeface="Nunito"/>
              </a:rPr>
              <a:t>ROA:</a:t>
            </a:r>
            <a:r>
              <a:rPr lang="en" sz="1200">
                <a:latin typeface="Nunito"/>
                <a:ea typeface="Nunito"/>
                <a:cs typeface="Nunito"/>
                <a:sym typeface="Nunito"/>
              </a:rPr>
              <a:t> </a:t>
            </a:r>
            <a:r>
              <a:rPr lang="en" sz="1200" b="1">
                <a:latin typeface="Nunito"/>
                <a:ea typeface="Nunito"/>
                <a:cs typeface="Nunito"/>
                <a:sym typeface="Nunito"/>
              </a:rPr>
              <a:t>N/A</a:t>
            </a:r>
            <a:endParaRPr sz="1200" b="1">
              <a:latin typeface="Nunito"/>
              <a:ea typeface="Nunito"/>
              <a:cs typeface="Nunito"/>
              <a:sym typeface="Nunito"/>
            </a:endParaRPr>
          </a:p>
          <a:p>
            <a:pPr marL="0" lvl="0" indent="0" algn="l" rtl="0">
              <a:lnSpc>
                <a:spcPct val="115000"/>
              </a:lnSpc>
              <a:spcBef>
                <a:spcPts val="1200"/>
              </a:spcBef>
              <a:spcAft>
                <a:spcPts val="0"/>
              </a:spcAft>
              <a:buNone/>
            </a:pPr>
            <a:r>
              <a:rPr lang="en" sz="1200">
                <a:latin typeface="Nunito"/>
                <a:ea typeface="Nunito"/>
                <a:cs typeface="Nunito"/>
                <a:sym typeface="Nunito"/>
              </a:rPr>
              <a:t>📌 </a:t>
            </a:r>
            <a:r>
              <a:rPr lang="en" sz="1200" b="1">
                <a:latin typeface="Nunito"/>
                <a:ea typeface="Nunito"/>
                <a:cs typeface="Nunito"/>
                <a:sym typeface="Nunito"/>
              </a:rPr>
              <a:t>Final Verdict:</a:t>
            </a:r>
            <a:r>
              <a:rPr lang="en" sz="1200">
                <a:latin typeface="Nunito"/>
                <a:ea typeface="Nunito"/>
                <a:cs typeface="Nunito"/>
                <a:sym typeface="Nunito"/>
              </a:rPr>
              <a:t> ❌ </a:t>
            </a:r>
            <a:r>
              <a:rPr lang="en" sz="1200" b="1">
                <a:latin typeface="Nunito"/>
                <a:ea typeface="Nunito"/>
                <a:cs typeface="Nunito"/>
                <a:sym typeface="Nunito"/>
              </a:rPr>
              <a:t>High debt, poor earnings, weak profitability—one of the worst stocks.</a:t>
            </a:r>
            <a:endParaRPr sz="1200" b="1">
              <a:latin typeface="Nunito"/>
              <a:ea typeface="Nunito"/>
              <a:cs typeface="Nunito"/>
              <a:sym typeface="Nunito"/>
            </a:endParaRPr>
          </a:p>
          <a:p>
            <a:pPr marL="0" lvl="0" indent="0" algn="l" rtl="0">
              <a:lnSpc>
                <a:spcPct val="115000"/>
              </a:lnSpc>
              <a:spcBef>
                <a:spcPts val="1200"/>
              </a:spcBef>
              <a:spcAft>
                <a:spcPts val="0"/>
              </a:spcAft>
              <a:buNone/>
            </a:pPr>
            <a:endParaRPr sz="1700" b="1"/>
          </a:p>
          <a:p>
            <a:pPr marL="0" lvl="0" indent="0" algn="l" rtl="0">
              <a:lnSpc>
                <a:spcPct val="115000"/>
              </a:lnSpc>
              <a:spcBef>
                <a:spcPts val="1200"/>
              </a:spcBef>
              <a:spcAft>
                <a:spcPts val="0"/>
              </a:spcAft>
              <a:buNone/>
            </a:pPr>
            <a:endParaRPr sz="1700" b="1"/>
          </a:p>
        </p:txBody>
      </p:sp>
      <p:sp>
        <p:nvSpPr>
          <p:cNvPr id="582" name="Google Shape;582;p48"/>
          <p:cNvSpPr/>
          <p:nvPr/>
        </p:nvSpPr>
        <p:spPr>
          <a:xfrm>
            <a:off x="1129650" y="327000"/>
            <a:ext cx="6884700" cy="5271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83" name="Google Shape;583;p48"/>
          <p:cNvSpPr txBox="1">
            <a:spLocks noGrp="1"/>
          </p:cNvSpPr>
          <p:nvPr>
            <p:ph type="title"/>
          </p:nvPr>
        </p:nvSpPr>
        <p:spPr>
          <a:xfrm>
            <a:off x="793500" y="293400"/>
            <a:ext cx="75570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Unutilized/Non-performing Stocks Analysis</a:t>
            </a:r>
            <a:endParaRPr>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49"/>
          <p:cNvSpPr/>
          <p:nvPr/>
        </p:nvSpPr>
        <p:spPr>
          <a:xfrm>
            <a:off x="4147075" y="1049112"/>
            <a:ext cx="1449300" cy="30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49"/>
          <p:cNvSpPr txBox="1">
            <a:spLocks noGrp="1"/>
          </p:cNvSpPr>
          <p:nvPr>
            <p:ph type="body" idx="4294967295"/>
          </p:nvPr>
        </p:nvSpPr>
        <p:spPr>
          <a:xfrm>
            <a:off x="4147075" y="1457100"/>
            <a:ext cx="1449000" cy="189900"/>
          </a:xfrm>
          <a:prstGeom prst="rect">
            <a:avLst/>
          </a:prstGeom>
        </p:spPr>
        <p:txBody>
          <a:bodyPr spcFirstLastPara="1" wrap="square" lIns="91425" tIns="91425" rIns="91425" bIns="91425" anchor="ctr" anchorCtr="0">
            <a:normAutofit fontScale="25000" lnSpcReduction="20000"/>
          </a:bodyPr>
          <a:lstStyle/>
          <a:p>
            <a:pPr marL="0" lvl="0" indent="0" algn="ctr" rtl="0">
              <a:lnSpc>
                <a:spcPct val="100000"/>
              </a:lnSpc>
              <a:spcBef>
                <a:spcPts val="0"/>
              </a:spcBef>
              <a:spcAft>
                <a:spcPts val="0"/>
              </a:spcAft>
              <a:buNone/>
            </a:pPr>
            <a:r>
              <a:rPr lang="en" sz="1300">
                <a:solidFill>
                  <a:schemeClr val="dk1"/>
                </a:solidFill>
              </a:rPr>
              <a:t>Wendy Writer</a:t>
            </a:r>
            <a:endParaRPr sz="1300">
              <a:solidFill>
                <a:schemeClr val="dk1"/>
              </a:solidFill>
            </a:endParaRPr>
          </a:p>
        </p:txBody>
      </p:sp>
      <p:sp>
        <p:nvSpPr>
          <p:cNvPr id="590" name="Google Shape;590;p49"/>
          <p:cNvSpPr/>
          <p:nvPr/>
        </p:nvSpPr>
        <p:spPr>
          <a:xfrm>
            <a:off x="1376950" y="934650"/>
            <a:ext cx="4845600" cy="4419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91" name="Google Shape;591;p49"/>
          <p:cNvSpPr txBox="1"/>
          <p:nvPr/>
        </p:nvSpPr>
        <p:spPr>
          <a:xfrm>
            <a:off x="578500" y="775535"/>
            <a:ext cx="6720300" cy="457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dirty="0"/>
              <a:t> </a:t>
            </a:r>
            <a:r>
              <a:rPr lang="en" sz="1700" b="1" dirty="0"/>
              <a:t>2️⃣0️⃣   </a:t>
            </a:r>
            <a:r>
              <a:rPr lang="en" sz="1700" b="1" dirty="0">
                <a:solidFill>
                  <a:schemeClr val="dk1"/>
                </a:solidFill>
              </a:rPr>
              <a:t>Stock L - Worst Stock - Negative Growth</a:t>
            </a:r>
            <a:endParaRPr sz="1700" b="1" dirty="0">
              <a:solidFill>
                <a:schemeClr val="dk1"/>
              </a:solidFill>
            </a:endParaRPr>
          </a:p>
          <a:p>
            <a:pPr marL="0" lvl="0" indent="0" algn="l" rtl="0">
              <a:lnSpc>
                <a:spcPct val="115000"/>
              </a:lnSpc>
              <a:spcBef>
                <a:spcPts val="1200"/>
              </a:spcBef>
              <a:spcAft>
                <a:spcPts val="0"/>
              </a:spcAft>
              <a:buNone/>
            </a:pPr>
            <a:r>
              <a:rPr lang="en" sz="1200" b="1" dirty="0">
                <a:solidFill>
                  <a:schemeClr val="accent1"/>
                </a:solidFill>
                <a:latin typeface="Nunito"/>
                <a:ea typeface="Nunito"/>
                <a:cs typeface="Nunito"/>
                <a:sym typeface="Nunito"/>
              </a:rPr>
              <a:t>Investment Score:</a:t>
            </a:r>
            <a:r>
              <a:rPr lang="en" sz="1200" dirty="0">
                <a:solidFill>
                  <a:schemeClr val="accent1"/>
                </a:solidFill>
                <a:latin typeface="Nunito"/>
                <a:ea typeface="Nunito"/>
                <a:cs typeface="Nunito"/>
                <a:sym typeface="Nunito"/>
              </a:rPr>
              <a:t> </a:t>
            </a:r>
            <a:r>
              <a:rPr lang="en" sz="1200" b="1" dirty="0">
                <a:solidFill>
                  <a:schemeClr val="accent1"/>
                </a:solidFill>
                <a:latin typeface="Nunito"/>
                <a:ea typeface="Nunito"/>
                <a:cs typeface="Nunito"/>
                <a:sym typeface="Nunito"/>
              </a:rPr>
              <a:t>0.1/10</a:t>
            </a:r>
            <a:br>
              <a:rPr lang="en" sz="1200" b="1" dirty="0">
                <a:latin typeface="Nunito"/>
                <a:ea typeface="Nunito"/>
                <a:cs typeface="Nunito"/>
                <a:sym typeface="Nunito"/>
              </a:rPr>
            </a:br>
            <a:r>
              <a:rPr lang="en" sz="1200" dirty="0">
                <a:latin typeface="Nunito"/>
                <a:ea typeface="Nunito"/>
                <a:cs typeface="Nunito"/>
                <a:sym typeface="Nunito"/>
              </a:rPr>
              <a:t> Stock L </a:t>
            </a:r>
            <a:r>
              <a:rPr lang="en" sz="1200" b="1" dirty="0">
                <a:solidFill>
                  <a:schemeClr val="accent1"/>
                </a:solidFill>
                <a:latin typeface="Nunito"/>
                <a:ea typeface="Nunito"/>
                <a:cs typeface="Nunito"/>
                <a:sym typeface="Nunito"/>
              </a:rPr>
              <a:t>is the worst-performing stock</a:t>
            </a:r>
            <a:r>
              <a:rPr lang="en" sz="1200" b="1" dirty="0">
                <a:latin typeface="Nunito"/>
                <a:ea typeface="Nunito"/>
                <a:cs typeface="Nunito"/>
                <a:sym typeface="Nunito"/>
              </a:rPr>
              <a:t> with </a:t>
            </a:r>
            <a:r>
              <a:rPr lang="en" sz="1200" b="1" dirty="0">
                <a:solidFill>
                  <a:schemeClr val="accent1"/>
                </a:solidFill>
                <a:latin typeface="Nunito"/>
                <a:ea typeface="Nunito"/>
                <a:cs typeface="Nunito"/>
                <a:sym typeface="Nunito"/>
              </a:rPr>
              <a:t>massive debt </a:t>
            </a:r>
            <a:r>
              <a:rPr lang="en" sz="1200" b="1" dirty="0">
                <a:latin typeface="Nunito"/>
                <a:ea typeface="Nunito"/>
                <a:cs typeface="Nunito"/>
                <a:sym typeface="Nunito"/>
              </a:rPr>
              <a:t>and negative earnings</a:t>
            </a:r>
            <a:r>
              <a:rPr lang="en" sz="1200" dirty="0">
                <a:latin typeface="Nunito"/>
                <a:ea typeface="Nunito"/>
                <a:cs typeface="Nunito"/>
                <a:sym typeface="Nunito"/>
              </a:rPr>
              <a:t>.</a:t>
            </a:r>
            <a:endParaRPr sz="1200" dirty="0">
              <a:latin typeface="Nunito"/>
              <a:ea typeface="Nunito"/>
              <a:cs typeface="Nunito"/>
              <a:sym typeface="Nunito"/>
            </a:endParaRPr>
          </a:p>
          <a:p>
            <a:pPr marL="457200" lvl="0" indent="-304800" algn="l" rtl="0">
              <a:lnSpc>
                <a:spcPct val="115000"/>
              </a:lnSpc>
              <a:spcBef>
                <a:spcPts val="1200"/>
              </a:spcBef>
              <a:spcAft>
                <a:spcPts val="0"/>
              </a:spcAft>
              <a:buSzPts val="1200"/>
              <a:buChar char="●"/>
            </a:pPr>
            <a:r>
              <a:rPr lang="en" sz="1200" b="1" dirty="0">
                <a:latin typeface="Nunito"/>
                <a:ea typeface="Nunito"/>
                <a:cs typeface="Nunito"/>
                <a:sym typeface="Nunito"/>
              </a:rPr>
              <a:t>P/E Ratio:</a:t>
            </a:r>
            <a:r>
              <a:rPr lang="en" sz="1200" dirty="0">
                <a:latin typeface="Nunito"/>
                <a:ea typeface="Nunito"/>
                <a:cs typeface="Nunito"/>
                <a:sym typeface="Nunito"/>
              </a:rPr>
              <a:t> </a:t>
            </a:r>
            <a:r>
              <a:rPr lang="en" sz="1200" b="1" dirty="0">
                <a:latin typeface="Nunito"/>
                <a:ea typeface="Nunito"/>
                <a:cs typeface="Nunito"/>
                <a:sym typeface="Nunito"/>
              </a:rPr>
              <a:t>39.40</a:t>
            </a:r>
            <a:r>
              <a:rPr lang="en" sz="1200" dirty="0">
                <a:latin typeface="Nunito"/>
                <a:ea typeface="Nunito"/>
                <a:cs typeface="Nunito"/>
                <a:sym typeface="Nunito"/>
              </a:rPr>
              <a:t> (</a:t>
            </a:r>
            <a:r>
              <a:rPr lang="en" sz="1200" b="1" dirty="0">
                <a:latin typeface="Nunito"/>
                <a:ea typeface="Nunito"/>
                <a:cs typeface="Nunito"/>
                <a:sym typeface="Nunito"/>
              </a:rPr>
              <a:t>Extremely Overvalued</a:t>
            </a:r>
            <a:r>
              <a:rPr lang="en" sz="1200" dirty="0">
                <a:latin typeface="Nunito"/>
                <a:ea typeface="Nunito"/>
                <a:cs typeface="Nunito"/>
                <a:sym typeface="Nunito"/>
              </a:rPr>
              <a:t> ❌)</a:t>
            </a:r>
            <a:endParaRPr sz="1200" dirty="0">
              <a:latin typeface="Nunito"/>
              <a:ea typeface="Nunito"/>
              <a:cs typeface="Nunito"/>
              <a:sym typeface="Nunito"/>
            </a:endParaRPr>
          </a:p>
          <a:p>
            <a:pPr marL="457200" lvl="0" indent="-304800" algn="l" rtl="0">
              <a:lnSpc>
                <a:spcPct val="115000"/>
              </a:lnSpc>
              <a:spcBef>
                <a:spcPts val="0"/>
              </a:spcBef>
              <a:spcAft>
                <a:spcPts val="0"/>
              </a:spcAft>
              <a:buSzPts val="1200"/>
              <a:buChar char="●"/>
            </a:pPr>
            <a:r>
              <a:rPr lang="en" sz="1200" b="1" dirty="0">
                <a:latin typeface="Nunito"/>
                <a:ea typeface="Nunito"/>
                <a:cs typeface="Nunito"/>
                <a:sym typeface="Nunito"/>
              </a:rPr>
              <a:t>Revenue Growth:</a:t>
            </a:r>
            <a:r>
              <a:rPr lang="en" sz="1200" dirty="0">
                <a:latin typeface="Nunito"/>
                <a:ea typeface="Nunito"/>
                <a:cs typeface="Nunito"/>
                <a:sym typeface="Nunito"/>
              </a:rPr>
              <a:t> </a:t>
            </a:r>
            <a:r>
              <a:rPr lang="en" sz="1200" b="1" dirty="0">
                <a:latin typeface="Nunito"/>
                <a:ea typeface="Nunito"/>
                <a:cs typeface="Nunito"/>
                <a:sym typeface="Nunito"/>
              </a:rPr>
              <a:t>-15.5%</a:t>
            </a:r>
            <a:r>
              <a:rPr lang="en" sz="1200" dirty="0">
                <a:latin typeface="Nunito"/>
                <a:ea typeface="Nunito"/>
                <a:cs typeface="Nunito"/>
                <a:sym typeface="Nunito"/>
              </a:rPr>
              <a:t> (</a:t>
            </a:r>
            <a:r>
              <a:rPr lang="en" sz="1200" b="1" dirty="0">
                <a:latin typeface="Nunito"/>
                <a:ea typeface="Nunito"/>
                <a:cs typeface="Nunito"/>
                <a:sym typeface="Nunito"/>
              </a:rPr>
              <a:t>Declining</a:t>
            </a:r>
            <a:r>
              <a:rPr lang="en" sz="1200" dirty="0">
                <a:latin typeface="Nunito"/>
                <a:ea typeface="Nunito"/>
                <a:cs typeface="Nunito"/>
                <a:sym typeface="Nunito"/>
              </a:rPr>
              <a:t> ❌)</a:t>
            </a:r>
            <a:endParaRPr sz="1200" dirty="0">
              <a:latin typeface="Nunito"/>
              <a:ea typeface="Nunito"/>
              <a:cs typeface="Nunito"/>
              <a:sym typeface="Nunito"/>
            </a:endParaRPr>
          </a:p>
          <a:p>
            <a:pPr marL="457200" lvl="0" indent="-304800" algn="l" rtl="0">
              <a:lnSpc>
                <a:spcPct val="115000"/>
              </a:lnSpc>
              <a:spcBef>
                <a:spcPts val="0"/>
              </a:spcBef>
              <a:spcAft>
                <a:spcPts val="0"/>
              </a:spcAft>
              <a:buSzPts val="1200"/>
              <a:buChar char="●"/>
            </a:pPr>
            <a:r>
              <a:rPr lang="en" sz="1200" b="1" dirty="0">
                <a:latin typeface="Nunito"/>
                <a:ea typeface="Nunito"/>
                <a:cs typeface="Nunito"/>
                <a:sym typeface="Nunito"/>
              </a:rPr>
              <a:t>EBITDA Growth:</a:t>
            </a:r>
            <a:r>
              <a:rPr lang="en" sz="1200" dirty="0">
                <a:latin typeface="Nunito"/>
                <a:ea typeface="Nunito"/>
                <a:cs typeface="Nunito"/>
                <a:sym typeface="Nunito"/>
              </a:rPr>
              <a:t> </a:t>
            </a:r>
            <a:r>
              <a:rPr lang="en" sz="1200" b="1" dirty="0">
                <a:latin typeface="Nunito"/>
                <a:ea typeface="Nunito"/>
                <a:cs typeface="Nunito"/>
                <a:sym typeface="Nunito"/>
              </a:rPr>
              <a:t>-17.8%</a:t>
            </a:r>
            <a:r>
              <a:rPr lang="en" sz="1200" dirty="0">
                <a:latin typeface="Nunito"/>
                <a:ea typeface="Nunito"/>
                <a:cs typeface="Nunito"/>
                <a:sym typeface="Nunito"/>
              </a:rPr>
              <a:t> (</a:t>
            </a:r>
            <a:r>
              <a:rPr lang="en" sz="1200" b="1" dirty="0">
                <a:latin typeface="Nunito"/>
                <a:ea typeface="Nunito"/>
                <a:cs typeface="Nunito"/>
                <a:sym typeface="Nunito"/>
              </a:rPr>
              <a:t>Negative Growth</a:t>
            </a:r>
            <a:r>
              <a:rPr lang="en" sz="1200" dirty="0">
                <a:latin typeface="Nunito"/>
                <a:ea typeface="Nunito"/>
                <a:cs typeface="Nunito"/>
                <a:sym typeface="Nunito"/>
              </a:rPr>
              <a:t> ❌)</a:t>
            </a:r>
            <a:endParaRPr sz="1200" dirty="0">
              <a:latin typeface="Nunito"/>
              <a:ea typeface="Nunito"/>
              <a:cs typeface="Nunito"/>
              <a:sym typeface="Nunito"/>
            </a:endParaRPr>
          </a:p>
          <a:p>
            <a:pPr marL="457200" lvl="0" indent="-304800" algn="l" rtl="0">
              <a:lnSpc>
                <a:spcPct val="115000"/>
              </a:lnSpc>
              <a:spcBef>
                <a:spcPts val="0"/>
              </a:spcBef>
              <a:spcAft>
                <a:spcPts val="0"/>
              </a:spcAft>
              <a:buSzPts val="1200"/>
              <a:buChar char="●"/>
            </a:pPr>
            <a:r>
              <a:rPr lang="en" sz="1200" b="1" dirty="0">
                <a:latin typeface="Nunito"/>
                <a:ea typeface="Nunito"/>
                <a:cs typeface="Nunito"/>
                <a:sym typeface="Nunito"/>
              </a:rPr>
              <a:t>Net Profit Margin:</a:t>
            </a:r>
            <a:r>
              <a:rPr lang="en" sz="1200" dirty="0">
                <a:latin typeface="Nunito"/>
                <a:ea typeface="Nunito"/>
                <a:cs typeface="Nunito"/>
                <a:sym typeface="Nunito"/>
              </a:rPr>
              <a:t> </a:t>
            </a:r>
            <a:r>
              <a:rPr lang="en" sz="1200" b="1" dirty="0">
                <a:latin typeface="Nunito"/>
                <a:ea typeface="Nunito"/>
                <a:cs typeface="Nunito"/>
                <a:sym typeface="Nunito"/>
              </a:rPr>
              <a:t>2.9%</a:t>
            </a:r>
            <a:r>
              <a:rPr lang="en" sz="1200" dirty="0">
                <a:latin typeface="Nunito"/>
                <a:ea typeface="Nunito"/>
                <a:cs typeface="Nunito"/>
                <a:sym typeface="Nunito"/>
              </a:rPr>
              <a:t> (</a:t>
            </a:r>
            <a:r>
              <a:rPr lang="en" sz="1200" b="1" dirty="0">
                <a:latin typeface="Nunito"/>
                <a:ea typeface="Nunito"/>
                <a:cs typeface="Nunito"/>
                <a:sym typeface="Nunito"/>
              </a:rPr>
              <a:t>Very Weak</a:t>
            </a:r>
            <a:r>
              <a:rPr lang="en" sz="1200" dirty="0">
                <a:latin typeface="Nunito"/>
                <a:ea typeface="Nunito"/>
                <a:cs typeface="Nunito"/>
                <a:sym typeface="Nunito"/>
              </a:rPr>
              <a:t> ❌)</a:t>
            </a:r>
            <a:endParaRPr sz="1200" dirty="0">
              <a:latin typeface="Nunito"/>
              <a:ea typeface="Nunito"/>
              <a:cs typeface="Nunito"/>
              <a:sym typeface="Nunito"/>
            </a:endParaRPr>
          </a:p>
          <a:p>
            <a:pPr marL="457200" lvl="0" indent="-304800" algn="l" rtl="0">
              <a:lnSpc>
                <a:spcPct val="115000"/>
              </a:lnSpc>
              <a:spcBef>
                <a:spcPts val="0"/>
              </a:spcBef>
              <a:spcAft>
                <a:spcPts val="0"/>
              </a:spcAft>
              <a:buSzPts val="1200"/>
              <a:buChar char="●"/>
            </a:pPr>
            <a:r>
              <a:rPr lang="en" sz="1200" b="1" dirty="0">
                <a:latin typeface="Nunito"/>
                <a:ea typeface="Nunito"/>
                <a:cs typeface="Nunito"/>
                <a:sym typeface="Nunito"/>
              </a:rPr>
              <a:t>Debt-to-EBITDA:</a:t>
            </a:r>
            <a:r>
              <a:rPr lang="en" sz="1200" dirty="0">
                <a:latin typeface="Nunito"/>
                <a:ea typeface="Nunito"/>
                <a:cs typeface="Nunito"/>
                <a:sym typeface="Nunito"/>
              </a:rPr>
              <a:t> </a:t>
            </a:r>
            <a:r>
              <a:rPr lang="en" sz="1200" b="1" dirty="0">
                <a:latin typeface="Nunito"/>
                <a:ea typeface="Nunito"/>
                <a:cs typeface="Nunito"/>
                <a:sym typeface="Nunito"/>
              </a:rPr>
              <a:t>6.20</a:t>
            </a:r>
            <a:r>
              <a:rPr lang="en" sz="1200" dirty="0">
                <a:latin typeface="Nunito"/>
                <a:ea typeface="Nunito"/>
                <a:cs typeface="Nunito"/>
                <a:sym typeface="Nunito"/>
              </a:rPr>
              <a:t> (</a:t>
            </a:r>
            <a:r>
              <a:rPr lang="en" sz="1200" b="1" dirty="0">
                <a:latin typeface="Nunito"/>
                <a:ea typeface="Nunito"/>
                <a:cs typeface="Nunito"/>
                <a:sym typeface="Nunito"/>
              </a:rPr>
              <a:t>Extremely High Risk</a:t>
            </a:r>
            <a:r>
              <a:rPr lang="en" sz="1200" dirty="0">
                <a:latin typeface="Nunito"/>
                <a:ea typeface="Nunito"/>
                <a:cs typeface="Nunito"/>
                <a:sym typeface="Nunito"/>
              </a:rPr>
              <a:t> ❌)</a:t>
            </a:r>
            <a:endParaRPr sz="1200" dirty="0">
              <a:latin typeface="Nunito"/>
              <a:ea typeface="Nunito"/>
              <a:cs typeface="Nunito"/>
              <a:sym typeface="Nunito"/>
            </a:endParaRPr>
          </a:p>
          <a:p>
            <a:pPr marL="457200" lvl="0" indent="-304800" algn="l" rtl="0">
              <a:lnSpc>
                <a:spcPct val="115000"/>
              </a:lnSpc>
              <a:spcBef>
                <a:spcPts val="0"/>
              </a:spcBef>
              <a:spcAft>
                <a:spcPts val="0"/>
              </a:spcAft>
              <a:buSzPts val="1200"/>
              <a:buChar char="●"/>
            </a:pPr>
            <a:r>
              <a:rPr lang="en" sz="1200" b="1" dirty="0">
                <a:latin typeface="Nunito"/>
                <a:ea typeface="Nunito"/>
                <a:cs typeface="Nunito"/>
                <a:sym typeface="Nunito"/>
              </a:rPr>
              <a:t>EBITDA Margin:</a:t>
            </a:r>
            <a:r>
              <a:rPr lang="en" sz="1200" dirty="0">
                <a:latin typeface="Nunito"/>
                <a:ea typeface="Nunito"/>
                <a:cs typeface="Nunito"/>
                <a:sym typeface="Nunito"/>
              </a:rPr>
              <a:t> </a:t>
            </a:r>
            <a:r>
              <a:rPr lang="en" sz="1200" b="1" dirty="0">
                <a:latin typeface="Nunito"/>
                <a:ea typeface="Nunito"/>
                <a:cs typeface="Nunito"/>
                <a:sym typeface="Nunito"/>
              </a:rPr>
              <a:t>8.5%</a:t>
            </a:r>
            <a:r>
              <a:rPr lang="en" sz="1200" dirty="0">
                <a:latin typeface="Nunito"/>
                <a:ea typeface="Nunito"/>
                <a:cs typeface="Nunito"/>
                <a:sym typeface="Nunito"/>
              </a:rPr>
              <a:t> (</a:t>
            </a:r>
            <a:r>
              <a:rPr lang="en" sz="1200" b="1" dirty="0">
                <a:latin typeface="Nunito"/>
                <a:ea typeface="Nunito"/>
                <a:cs typeface="Nunito"/>
                <a:sym typeface="Nunito"/>
              </a:rPr>
              <a:t>Very Poor</a:t>
            </a:r>
            <a:r>
              <a:rPr lang="en" sz="1200" dirty="0">
                <a:latin typeface="Nunito"/>
                <a:ea typeface="Nunito"/>
                <a:cs typeface="Nunito"/>
                <a:sym typeface="Nunito"/>
              </a:rPr>
              <a:t> ❌)</a:t>
            </a:r>
            <a:endParaRPr sz="1200" dirty="0">
              <a:latin typeface="Nunito"/>
              <a:ea typeface="Nunito"/>
              <a:cs typeface="Nunito"/>
              <a:sym typeface="Nunito"/>
            </a:endParaRPr>
          </a:p>
          <a:p>
            <a:pPr marL="457200" lvl="0" indent="-304800" algn="l" rtl="0">
              <a:lnSpc>
                <a:spcPct val="115000"/>
              </a:lnSpc>
              <a:spcBef>
                <a:spcPts val="0"/>
              </a:spcBef>
              <a:spcAft>
                <a:spcPts val="0"/>
              </a:spcAft>
              <a:buSzPts val="1200"/>
              <a:buChar char="●"/>
            </a:pPr>
            <a:r>
              <a:rPr lang="en" sz="1200" b="1" dirty="0">
                <a:latin typeface="Nunito"/>
                <a:ea typeface="Nunito"/>
                <a:cs typeface="Nunito"/>
                <a:sym typeface="Nunito"/>
              </a:rPr>
              <a:t>EPS Growth:</a:t>
            </a:r>
            <a:r>
              <a:rPr lang="en" sz="1200" dirty="0">
                <a:latin typeface="Nunito"/>
                <a:ea typeface="Nunito"/>
                <a:cs typeface="Nunito"/>
                <a:sym typeface="Nunito"/>
              </a:rPr>
              <a:t> </a:t>
            </a:r>
            <a:r>
              <a:rPr lang="en" sz="1200" b="1" dirty="0">
                <a:latin typeface="Nunito"/>
                <a:ea typeface="Nunito"/>
                <a:cs typeface="Nunito"/>
                <a:sym typeface="Nunito"/>
              </a:rPr>
              <a:t>-5.5%</a:t>
            </a:r>
            <a:r>
              <a:rPr lang="en" sz="1200" dirty="0">
                <a:latin typeface="Nunito"/>
                <a:ea typeface="Nunito"/>
                <a:cs typeface="Nunito"/>
                <a:sym typeface="Nunito"/>
              </a:rPr>
              <a:t> (</a:t>
            </a:r>
            <a:r>
              <a:rPr lang="en" sz="1200" b="1" dirty="0">
                <a:latin typeface="Nunito"/>
                <a:ea typeface="Nunito"/>
                <a:cs typeface="Nunito"/>
                <a:sym typeface="Nunito"/>
              </a:rPr>
              <a:t>Negative EPS</a:t>
            </a:r>
            <a:r>
              <a:rPr lang="en" sz="1200" dirty="0">
                <a:latin typeface="Nunito"/>
                <a:ea typeface="Nunito"/>
                <a:cs typeface="Nunito"/>
                <a:sym typeface="Nunito"/>
              </a:rPr>
              <a:t> ❌)</a:t>
            </a:r>
            <a:endParaRPr sz="1200" dirty="0">
              <a:latin typeface="Nunito"/>
              <a:ea typeface="Nunito"/>
              <a:cs typeface="Nunito"/>
              <a:sym typeface="Nunito"/>
            </a:endParaRPr>
          </a:p>
          <a:p>
            <a:pPr marL="457200" lvl="0" indent="-304800" algn="l" rtl="0">
              <a:lnSpc>
                <a:spcPct val="115000"/>
              </a:lnSpc>
              <a:spcBef>
                <a:spcPts val="0"/>
              </a:spcBef>
              <a:spcAft>
                <a:spcPts val="0"/>
              </a:spcAft>
              <a:buSzPts val="1200"/>
              <a:buChar char="●"/>
            </a:pPr>
            <a:r>
              <a:rPr lang="en" sz="1200" b="1" dirty="0">
                <a:latin typeface="Nunito"/>
                <a:ea typeface="Nunito"/>
                <a:cs typeface="Nunito"/>
                <a:sym typeface="Nunito"/>
              </a:rPr>
              <a:t>Interest Coverage Ratio:</a:t>
            </a:r>
            <a:r>
              <a:rPr lang="en" sz="1200" dirty="0">
                <a:latin typeface="Nunito"/>
                <a:ea typeface="Nunito"/>
                <a:cs typeface="Nunito"/>
                <a:sym typeface="Nunito"/>
              </a:rPr>
              <a:t> </a:t>
            </a:r>
            <a:r>
              <a:rPr lang="en" sz="1200" b="1" dirty="0">
                <a:latin typeface="Nunito"/>
                <a:ea typeface="Nunito"/>
                <a:cs typeface="Nunito"/>
                <a:sym typeface="Nunito"/>
              </a:rPr>
              <a:t>0.5</a:t>
            </a:r>
            <a:r>
              <a:rPr lang="en" sz="1200" dirty="0">
                <a:latin typeface="Nunito"/>
                <a:ea typeface="Nunito"/>
                <a:cs typeface="Nunito"/>
                <a:sym typeface="Nunito"/>
              </a:rPr>
              <a:t> (</a:t>
            </a:r>
            <a:r>
              <a:rPr lang="en" sz="1200" b="1" dirty="0">
                <a:latin typeface="Nunito"/>
                <a:ea typeface="Nunito"/>
                <a:cs typeface="Nunito"/>
                <a:sym typeface="Nunito"/>
              </a:rPr>
              <a:t>Critical Risk</a:t>
            </a:r>
            <a:r>
              <a:rPr lang="en" sz="1200" dirty="0">
                <a:latin typeface="Nunito"/>
                <a:ea typeface="Nunito"/>
                <a:cs typeface="Nunito"/>
                <a:sym typeface="Nunito"/>
              </a:rPr>
              <a:t> ❌)</a:t>
            </a:r>
            <a:endParaRPr sz="1200" dirty="0">
              <a:latin typeface="Nunito"/>
              <a:ea typeface="Nunito"/>
              <a:cs typeface="Nunito"/>
              <a:sym typeface="Nunito"/>
            </a:endParaRPr>
          </a:p>
          <a:p>
            <a:pPr marL="457200" lvl="0" indent="-304800" algn="l" rtl="0">
              <a:lnSpc>
                <a:spcPct val="115000"/>
              </a:lnSpc>
              <a:spcBef>
                <a:spcPts val="0"/>
              </a:spcBef>
              <a:spcAft>
                <a:spcPts val="0"/>
              </a:spcAft>
              <a:buSzPts val="1200"/>
              <a:buChar char="●"/>
            </a:pPr>
            <a:r>
              <a:rPr lang="en" sz="1200" b="1" dirty="0">
                <a:latin typeface="Nunito"/>
                <a:ea typeface="Nunito"/>
                <a:cs typeface="Nunito"/>
                <a:sym typeface="Nunito"/>
              </a:rPr>
              <a:t>Dividend Yield:</a:t>
            </a:r>
            <a:r>
              <a:rPr lang="en" sz="1200" dirty="0">
                <a:latin typeface="Nunito"/>
                <a:ea typeface="Nunito"/>
                <a:cs typeface="Nunito"/>
                <a:sym typeface="Nunito"/>
              </a:rPr>
              <a:t> </a:t>
            </a:r>
            <a:r>
              <a:rPr lang="en" sz="1200" b="1" dirty="0">
                <a:latin typeface="Nunito"/>
                <a:ea typeface="Nunito"/>
                <a:cs typeface="Nunito"/>
                <a:sym typeface="Nunito"/>
              </a:rPr>
              <a:t>3.08%</a:t>
            </a:r>
            <a:r>
              <a:rPr lang="en" sz="1200" dirty="0">
                <a:latin typeface="Nunito"/>
                <a:ea typeface="Nunito"/>
                <a:cs typeface="Nunito"/>
                <a:sym typeface="Nunito"/>
              </a:rPr>
              <a:t> (</a:t>
            </a:r>
            <a:r>
              <a:rPr lang="en" sz="1200" b="1" dirty="0">
                <a:latin typeface="Nunito"/>
                <a:ea typeface="Nunito"/>
                <a:cs typeface="Nunito"/>
                <a:sym typeface="Nunito"/>
              </a:rPr>
              <a:t>Not Enough to Justify</a:t>
            </a:r>
            <a:r>
              <a:rPr lang="en" sz="1200" dirty="0">
                <a:latin typeface="Nunito"/>
                <a:ea typeface="Nunito"/>
                <a:cs typeface="Nunito"/>
                <a:sym typeface="Nunito"/>
              </a:rPr>
              <a:t> ❌)</a:t>
            </a:r>
            <a:endParaRPr sz="1200" dirty="0">
              <a:latin typeface="Nunito"/>
              <a:ea typeface="Nunito"/>
              <a:cs typeface="Nunito"/>
              <a:sym typeface="Nunito"/>
            </a:endParaRPr>
          </a:p>
          <a:p>
            <a:pPr marL="0" lvl="0" indent="0" algn="l" rtl="0">
              <a:lnSpc>
                <a:spcPct val="115000"/>
              </a:lnSpc>
              <a:spcBef>
                <a:spcPts val="1200"/>
              </a:spcBef>
              <a:spcAft>
                <a:spcPts val="0"/>
              </a:spcAft>
              <a:buNone/>
            </a:pPr>
            <a:br>
              <a:rPr lang="en" sz="1200" dirty="0">
                <a:latin typeface="Nunito"/>
                <a:ea typeface="Nunito"/>
                <a:cs typeface="Nunito"/>
                <a:sym typeface="Nunito"/>
              </a:rPr>
            </a:br>
            <a:r>
              <a:rPr lang="en" sz="1200" dirty="0">
                <a:latin typeface="Nunito"/>
                <a:ea typeface="Nunito"/>
                <a:cs typeface="Nunito"/>
                <a:sym typeface="Nunito"/>
              </a:rPr>
              <a:t>📌 </a:t>
            </a:r>
            <a:r>
              <a:rPr lang="en" sz="1200" b="1" dirty="0">
                <a:latin typeface="Nunito"/>
                <a:ea typeface="Nunito"/>
                <a:cs typeface="Nunito"/>
                <a:sym typeface="Nunito"/>
              </a:rPr>
              <a:t>Final Verdict:</a:t>
            </a:r>
            <a:r>
              <a:rPr lang="en" sz="1200" dirty="0">
                <a:latin typeface="Nunito"/>
                <a:ea typeface="Nunito"/>
                <a:cs typeface="Nunito"/>
                <a:sym typeface="Nunito"/>
              </a:rPr>
              <a:t> ❌ </a:t>
            </a:r>
            <a:r>
              <a:rPr lang="en" sz="1200" b="1" dirty="0">
                <a:latin typeface="Nunito"/>
                <a:ea typeface="Nunito"/>
                <a:cs typeface="Nunito"/>
                <a:sym typeface="Nunito"/>
              </a:rPr>
              <a:t>This is the worst stock in the portfolio—completely avoid.</a:t>
            </a:r>
            <a:endParaRPr sz="1200" b="1" dirty="0">
              <a:latin typeface="Nunito"/>
              <a:ea typeface="Nunito"/>
              <a:cs typeface="Nunito"/>
              <a:sym typeface="Nunito"/>
            </a:endParaRPr>
          </a:p>
          <a:p>
            <a:pPr marL="0" lvl="0" indent="0" algn="l" rtl="0">
              <a:lnSpc>
                <a:spcPct val="115000"/>
              </a:lnSpc>
              <a:spcBef>
                <a:spcPts val="1200"/>
              </a:spcBef>
              <a:spcAft>
                <a:spcPts val="0"/>
              </a:spcAft>
              <a:buNone/>
            </a:pPr>
            <a:endParaRPr sz="1700" b="1" dirty="0"/>
          </a:p>
          <a:p>
            <a:pPr marL="0" lvl="0" indent="0" algn="l" rtl="0">
              <a:lnSpc>
                <a:spcPct val="115000"/>
              </a:lnSpc>
              <a:spcBef>
                <a:spcPts val="1200"/>
              </a:spcBef>
              <a:spcAft>
                <a:spcPts val="0"/>
              </a:spcAft>
              <a:buNone/>
            </a:pPr>
            <a:endParaRPr sz="1700" b="1" dirty="0"/>
          </a:p>
        </p:txBody>
      </p:sp>
      <p:sp>
        <p:nvSpPr>
          <p:cNvPr id="592" name="Google Shape;592;p49"/>
          <p:cNvSpPr/>
          <p:nvPr/>
        </p:nvSpPr>
        <p:spPr>
          <a:xfrm>
            <a:off x="1129650" y="327000"/>
            <a:ext cx="6884700" cy="5271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93" name="Google Shape;593;p49"/>
          <p:cNvSpPr txBox="1">
            <a:spLocks noGrp="1"/>
          </p:cNvSpPr>
          <p:nvPr>
            <p:ph type="title"/>
          </p:nvPr>
        </p:nvSpPr>
        <p:spPr>
          <a:xfrm>
            <a:off x="793500" y="293400"/>
            <a:ext cx="7557000" cy="44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dk1"/>
                </a:solidFill>
              </a:rPr>
              <a:t>Unutilized/Non-performing Stocks Analysis</a:t>
            </a:r>
            <a:endParaRPr>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50"/>
          <p:cNvSpPr txBox="1">
            <a:spLocks noGrp="1"/>
          </p:cNvSpPr>
          <p:nvPr>
            <p:ph type="title"/>
          </p:nvPr>
        </p:nvSpPr>
        <p:spPr>
          <a:xfrm>
            <a:off x="1385850" y="1881900"/>
            <a:ext cx="6372300" cy="13797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dirty="0"/>
              <a:t>Thanks</a:t>
            </a:r>
            <a:endParaRPr dirty="0"/>
          </a:p>
        </p:txBody>
      </p:sp>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4926</Words>
  <Application>Microsoft Office PowerPoint</Application>
  <PresentationFormat>On-screen Show (16:9)</PresentationFormat>
  <Paragraphs>488</Paragraphs>
  <Slides>38</Slides>
  <Notes>38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Times New Roman</vt:lpstr>
      <vt:lpstr>Arial</vt:lpstr>
      <vt:lpstr>Verdana</vt:lpstr>
      <vt:lpstr>Average</vt:lpstr>
      <vt:lpstr>Calibri</vt:lpstr>
      <vt:lpstr>Nunito</vt:lpstr>
      <vt:lpstr>Roboto</vt:lpstr>
      <vt:lpstr>Shift</vt:lpstr>
      <vt:lpstr>Beat the Market</vt:lpstr>
      <vt:lpstr>The Abstract </vt:lpstr>
      <vt:lpstr>Analysis Criteria</vt:lpstr>
      <vt:lpstr>Comprehensive Ranking Criteria</vt:lpstr>
      <vt:lpstr>Valuation Metrics</vt:lpstr>
      <vt:lpstr>Return on Investment Metric </vt:lpstr>
      <vt:lpstr>Dividend Analysis</vt:lpstr>
      <vt:lpstr>Breakdown of Portfolio Stocks using Investment Score</vt:lpstr>
      <vt:lpstr>PowerPoint Presentation</vt:lpstr>
      <vt:lpstr>Breakdown of Portfolio Stocks using Investment Score</vt:lpstr>
      <vt:lpstr>Example Calculation for Stock O:</vt:lpstr>
      <vt:lpstr>Stock Portfolio</vt:lpstr>
      <vt:lpstr>Stock Portfolio Analysis</vt:lpstr>
      <vt:lpstr>Stock Portfolio Analysis</vt:lpstr>
      <vt:lpstr>Stock Portfolio Analysis</vt:lpstr>
      <vt:lpstr>Stock Portfolio Analysis</vt:lpstr>
      <vt:lpstr>Stock Portfolio Analysis</vt:lpstr>
      <vt:lpstr>Stock Portfolio Analysis</vt:lpstr>
      <vt:lpstr>Stock Portfolio Analysis</vt:lpstr>
      <vt:lpstr>Stock Portfolio Analysis</vt:lpstr>
      <vt:lpstr>Stock Portfolio Allocation</vt:lpstr>
      <vt:lpstr>Stock Portfolio Analysis</vt:lpstr>
      <vt:lpstr>Impact of ESG factors on stock prices</vt:lpstr>
      <vt:lpstr>Impact of ESG factors on stock prices</vt:lpstr>
      <vt:lpstr>Impact of ESG factors on stock prices</vt:lpstr>
      <vt:lpstr>Unutilized/Non-performing Stocks Analysis</vt:lpstr>
      <vt:lpstr>Unutilized/Non-performing Stocks Analysis</vt:lpstr>
      <vt:lpstr>Unutilized/Non-performing Stocks Analysis</vt:lpstr>
      <vt:lpstr>Unutilized/Non-performing Stocks Analysis</vt:lpstr>
      <vt:lpstr>Unutilized/Non-performing Stocks Analysis</vt:lpstr>
      <vt:lpstr>Unutilized/Non-performing Stocks Analysis</vt:lpstr>
      <vt:lpstr>Unutilized/Non-performing Stocks Analysis</vt:lpstr>
      <vt:lpstr>Unutilized/Non-performing Stocks Analysis</vt:lpstr>
      <vt:lpstr>Unutilized/Non-performing Stocks Analysis</vt:lpstr>
      <vt:lpstr>Unutilized/Non-performing Stocks Analysis</vt:lpstr>
      <vt:lpstr>Unutilized/Non-performing Stocks Analysis</vt:lpstr>
      <vt:lpstr>Unutilized/Non-performing Stocks Analysis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ABHINAV ANAND</cp:lastModifiedBy>
  <cp:revision>1</cp:revision>
  <dcterms:modified xsi:type="dcterms:W3CDTF">2025-03-27T07:13:52Z</dcterms:modified>
</cp:coreProperties>
</file>